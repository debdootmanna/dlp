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ags/tag1.xml" ContentType="application/vnd.openxmlformats-officedocument.presentationml.tags+xml"/>
  <Override PartName="/ppt/theme/themeOverride3.xml" ContentType="application/vnd.openxmlformats-officedocument.themeOverride+xml"/>
  <Override PartName="/ppt/tags/tag2.xml" ContentType="application/vnd.openxmlformats-officedocument.presentationml.tags+xml"/>
  <Override PartName="/ppt/theme/themeOverride4.xml" ContentType="application/vnd.openxmlformats-officedocument.themeOverride+xml"/>
  <Override PartName="/ppt/tags/tag3.xml" ContentType="application/vnd.openxmlformats-officedocument.presentationml.tags+xml"/>
  <Override PartName="/ppt/theme/themeOverride5.xml" ContentType="application/vnd.openxmlformats-officedocument.themeOverride+xml"/>
  <Override PartName="/ppt/tags/tag4.xml" ContentType="application/vnd.openxmlformats-officedocument.presentationml.tags+xml"/>
  <Override PartName="/ppt/theme/themeOverride6.xml" ContentType="application/vnd.openxmlformats-officedocument.themeOverride+xml"/>
  <Override PartName="/ppt/tags/tag5.xml" ContentType="application/vnd.openxmlformats-officedocument.presentationml.tags+xml"/>
  <Override PartName="/ppt/theme/themeOverride7.xml" ContentType="application/vnd.openxmlformats-officedocument.themeOverride+xml"/>
  <Override PartName="/ppt/tags/tag6.xml" ContentType="application/vnd.openxmlformats-officedocument.presentationml.tags+xml"/>
  <Override PartName="/ppt/theme/themeOverride8.xml" ContentType="application/vnd.openxmlformats-officedocument.themeOverride+xml"/>
  <Override PartName="/ppt/tags/tag7.xml" ContentType="application/vnd.openxmlformats-officedocument.presentationml.tags+xml"/>
  <Override PartName="/ppt/theme/themeOverride9.xml" ContentType="application/vnd.openxmlformats-officedocument.themeOverride+xml"/>
  <Override PartName="/ppt/tags/tag8.xml" ContentType="application/vnd.openxmlformats-officedocument.presentationml.tags+xml"/>
  <Override PartName="/ppt/theme/themeOverride10.xml" ContentType="application/vnd.openxmlformats-officedocument.themeOverride+xml"/>
  <Override PartName="/ppt/tags/tag9.xml" ContentType="application/vnd.openxmlformats-officedocument.presentationml.tags+xml"/>
  <Override PartName="/ppt/theme/themeOverride11.xml" ContentType="application/vnd.openxmlformats-officedocument.themeOverride+xml"/>
  <Override PartName="/ppt/theme/themeOverride12.xml" ContentType="application/vnd.openxmlformats-officedocument.themeOverride+xml"/>
  <Override PartName="/ppt/tags/tag10.xml" ContentType="application/vnd.openxmlformats-officedocument.presentationml.tags+xml"/>
  <Override PartName="/ppt/theme/themeOverride13.xml" ContentType="application/vnd.openxmlformats-officedocument.themeOverride+xml"/>
  <Override PartName="/ppt/tags/tag11.xml" ContentType="application/vnd.openxmlformats-officedocument.presentationml.tags+xml"/>
  <Override PartName="/ppt/theme/themeOverride14.xml" ContentType="application/vnd.openxmlformats-officedocument.themeOverride+xml"/>
  <Override PartName="/ppt/tags/tag12.xml" ContentType="application/vnd.openxmlformats-officedocument.presentationml.tags+xml"/>
  <Override PartName="/ppt/theme/themeOverride15.xml" ContentType="application/vnd.openxmlformats-officedocument.themeOverride+xml"/>
  <Override PartName="/ppt/tags/tag13.xml" ContentType="application/vnd.openxmlformats-officedocument.presentationml.tags+xml"/>
  <Override PartName="/ppt/theme/themeOverride16.xml" ContentType="application/vnd.openxmlformats-officedocument.themeOverride+xml"/>
  <Override PartName="/ppt/tags/tag14.xml" ContentType="application/vnd.openxmlformats-officedocument.presentationml.tags+xml"/>
  <Override PartName="/ppt/theme/themeOverride17.xml" ContentType="application/vnd.openxmlformats-officedocument.themeOverride+xml"/>
  <Override PartName="/ppt/tags/tag15.xml" ContentType="application/vnd.openxmlformats-officedocument.presentationml.tags+xml"/>
  <Override PartName="/ppt/theme/themeOverride18.xml" ContentType="application/vnd.openxmlformats-officedocument.themeOverride+xml"/>
  <Override PartName="/ppt/tags/tag16.xml" ContentType="application/vnd.openxmlformats-officedocument.presentationml.tags+xml"/>
  <Override PartName="/ppt/theme/themeOverride19.xml" ContentType="application/vnd.openxmlformats-officedocument.themeOverride+xml"/>
  <Override PartName="/ppt/tags/tag17.xml" ContentType="application/vnd.openxmlformats-officedocument.presentationml.tags+xml"/>
  <Override PartName="/ppt/theme/themeOverride20.xml" ContentType="application/vnd.openxmlformats-officedocument.themeOverride+xml"/>
  <Override PartName="/ppt/tags/tag18.xml" ContentType="application/vnd.openxmlformats-officedocument.presentationml.tags+xml"/>
  <Override PartName="/ppt/theme/themeOverride21.xml" ContentType="application/vnd.openxmlformats-officedocument.themeOverride+xml"/>
  <Override PartName="/ppt/tags/tag19.xml" ContentType="application/vnd.openxmlformats-officedocument.presentationml.tags+xml"/>
  <Override PartName="/ppt/theme/themeOverride22.xml" ContentType="application/vnd.openxmlformats-officedocument.themeOverride+xml"/>
  <Override PartName="/ppt/tags/tag20.xml" ContentType="application/vnd.openxmlformats-officedocument.presentationml.tags+xml"/>
  <Override PartName="/ppt/theme/themeOverride23.xml" ContentType="application/vnd.openxmlformats-officedocument.themeOverride+xml"/>
  <Override PartName="/ppt/tags/tag21.xml" ContentType="application/vnd.openxmlformats-officedocument.presentationml.tags+xml"/>
  <Override PartName="/ppt/theme/themeOverride24.xml" ContentType="application/vnd.openxmlformats-officedocument.themeOverride+xml"/>
  <Override PartName="/ppt/tags/tag22.xml" ContentType="application/vnd.openxmlformats-officedocument.presentationml.tags+xml"/>
  <Override PartName="/ppt/theme/themeOverride25.xml" ContentType="application/vnd.openxmlformats-officedocument.themeOverride+xml"/>
  <Override PartName="/ppt/tags/tag23.xml" ContentType="application/vnd.openxmlformats-officedocument.presentationml.tags+xml"/>
  <Override PartName="/ppt/theme/themeOverride26.xml" ContentType="application/vnd.openxmlformats-officedocument.themeOverride+xml"/>
  <Override PartName="/ppt/tags/tag24.xml" ContentType="application/vnd.openxmlformats-officedocument.presentationml.tags+xml"/>
  <Override PartName="/ppt/theme/themeOverride27.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342" r:id="rId2"/>
    <p:sldId id="345" r:id="rId3"/>
    <p:sldId id="377" r:id="rId4"/>
    <p:sldId id="379" r:id="rId5"/>
    <p:sldId id="378" r:id="rId6"/>
    <p:sldId id="380" r:id="rId7"/>
    <p:sldId id="381" r:id="rId8"/>
    <p:sldId id="382" r:id="rId9"/>
    <p:sldId id="383" r:id="rId10"/>
    <p:sldId id="384" r:id="rId11"/>
    <p:sldId id="385" r:id="rId12"/>
    <p:sldId id="386" r:id="rId13"/>
    <p:sldId id="366" r:id="rId14"/>
    <p:sldId id="367" r:id="rId15"/>
    <p:sldId id="368" r:id="rId16"/>
    <p:sldId id="356" r:id="rId17"/>
    <p:sldId id="357" r:id="rId18"/>
    <p:sldId id="369" r:id="rId19"/>
    <p:sldId id="370" r:id="rId20"/>
    <p:sldId id="371" r:id="rId21"/>
    <p:sldId id="372" r:id="rId22"/>
    <p:sldId id="373" r:id="rId23"/>
    <p:sldId id="374" r:id="rId24"/>
    <p:sldId id="387" r:id="rId25"/>
    <p:sldId id="375" r:id="rId26"/>
    <p:sldId id="376" r:id="rId27"/>
    <p:sldId id="35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8EA"/>
    <a:srgbClr val="CCCD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18" autoAdjust="0"/>
    <p:restoredTop sz="94660"/>
  </p:normalViewPr>
  <p:slideViewPr>
    <p:cSldViewPr snapToGrid="0">
      <p:cViewPr varScale="1">
        <p:scale>
          <a:sx n="82" d="100"/>
          <a:sy n="82" d="100"/>
        </p:scale>
        <p:origin x="96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1ED4B2-A15B-4AEE-BE40-BE5200A2FAF8}" type="datetimeFigureOut">
              <a:rPr lang="en-US" smtClean="0"/>
              <a:pPr/>
              <a:t>3/23/2026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3EBF76-482D-4012-88DD-1C618B24C71E}" type="slidenum">
              <a:rPr lang="en-US" smtClean="0"/>
              <a:pPr/>
              <a:t>‹#›</a:t>
            </a:fld>
            <a:endParaRPr lang="en-US"/>
          </a:p>
        </p:txBody>
      </p:sp>
    </p:spTree>
    <p:extLst>
      <p:ext uri="{BB962C8B-B14F-4D97-AF65-F5344CB8AC3E}">
        <p14:creationId xmlns:p14="http://schemas.microsoft.com/office/powerpoint/2010/main" val="1442526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3/23/2026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ransition/>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xml"/><Relationship Id="rId1" Type="http://schemas.openxmlformats.org/officeDocument/2006/relationships/themeOverride" Target="../theme/themeOverr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hemeOverride" Target="../theme/themeOverr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hemeOverride" Target="../theme/themeOverr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themeOverride" Target="../theme/themeOverr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xml"/><Relationship Id="rId1" Type="http://schemas.openxmlformats.org/officeDocument/2006/relationships/themeOverride" Target="../theme/themeOverr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themeOverride" Target="../theme/themeOverr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xml"/><Relationship Id="rId1" Type="http://schemas.openxmlformats.org/officeDocument/2006/relationships/themeOverride" Target="../theme/themeOverr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xml"/><Relationship Id="rId1" Type="http://schemas.openxmlformats.org/officeDocument/2006/relationships/themeOverride" Target="../theme/themeOverr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xml"/><Relationship Id="rId1" Type="http://schemas.openxmlformats.org/officeDocument/2006/relationships/themeOverride" Target="../theme/themeOverr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themeOverride" Target="../theme/themeOverr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themeOverride" Target="../theme/themeOverr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themeOverride" Target="../theme/themeOverr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xml"/><Relationship Id="rId1" Type="http://schemas.openxmlformats.org/officeDocument/2006/relationships/themeOverride" Target="../theme/themeOverride25.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xml"/><Relationship Id="rId1" Type="http://schemas.openxmlformats.org/officeDocument/2006/relationships/themeOverride" Target="../theme/themeOverride2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288192" y="234670"/>
            <a:ext cx="10260623" cy="90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indent="-571500" algn="l">
              <a:buFont typeface="Wingdings" panose="05000000000000000000" pitchFamily="2" charset="2"/>
              <a:buChar char="q"/>
            </a:pPr>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Topics to be covered</a:t>
            </a:r>
          </a:p>
        </p:txBody>
      </p:sp>
      <p:sp>
        <p:nvSpPr>
          <p:cNvPr id="3" name="TextBox 2"/>
          <p:cNvSpPr txBox="1"/>
          <p:nvPr/>
        </p:nvSpPr>
        <p:spPr>
          <a:xfrm>
            <a:off x="300292" y="1162664"/>
            <a:ext cx="11658601" cy="4088620"/>
          </a:xfrm>
          <a:prstGeom prst="rect">
            <a:avLst/>
          </a:prstGeom>
          <a:noFill/>
        </p:spPr>
        <p:txBody>
          <a:bodyPr wrap="square" rtlCol="0">
            <a:spAutoFit/>
          </a:bodyPr>
          <a:lstStyle/>
          <a:p>
            <a:pPr marL="457200" indent="-457200" algn="just">
              <a:lnSpc>
                <a:spcPct val="150000"/>
              </a:lnSpc>
              <a:buFont typeface="Wingdings" panose="05000000000000000000" pitchFamily="2" charset="2"/>
              <a:buChar char="ü"/>
            </a:pPr>
            <a:r>
              <a:rPr lang="en-US" sz="3200" b="1" dirty="0">
                <a:solidFill>
                  <a:schemeClr val="accent1">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Optimization technique</a:t>
            </a:r>
          </a:p>
          <a:p>
            <a:pPr marL="1258888" indent="-457200" algn="just" defTabSz="584200">
              <a:lnSpc>
                <a:spcPct val="150000"/>
              </a:lnSpc>
              <a:buFont typeface="Wingdings" panose="05000000000000000000" pitchFamily="2" charset="2"/>
              <a:buChar char="§"/>
            </a:pPr>
            <a:r>
              <a:rPr lang="en-US" sz="24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Compile time evaluation</a:t>
            </a:r>
          </a:p>
          <a:p>
            <a:pPr marL="1258888" indent="-457200" algn="just" defTabSz="584200">
              <a:lnSpc>
                <a:spcPct val="150000"/>
              </a:lnSpc>
              <a:buFont typeface="Wingdings" panose="05000000000000000000" pitchFamily="2" charset="2"/>
              <a:buChar char="§"/>
            </a:pPr>
            <a:r>
              <a:rPr lang="en-US" sz="24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Common sub expressions elimination</a:t>
            </a:r>
          </a:p>
          <a:p>
            <a:pPr marL="1258888" indent="-457200" algn="just" defTabSz="584200">
              <a:lnSpc>
                <a:spcPct val="150000"/>
              </a:lnSpc>
              <a:buFont typeface="Wingdings" panose="05000000000000000000" pitchFamily="2" charset="2"/>
              <a:buChar char="§"/>
            </a:pPr>
            <a:r>
              <a:rPr lang="en-US" sz="24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Copy Propagation / Variable Propagation</a:t>
            </a:r>
          </a:p>
          <a:p>
            <a:pPr marL="1258888" indent="-457200" algn="just" defTabSz="584200">
              <a:lnSpc>
                <a:spcPct val="150000"/>
              </a:lnSpc>
              <a:buFont typeface="Wingdings" panose="05000000000000000000" pitchFamily="2" charset="2"/>
              <a:buChar char="§"/>
            </a:pPr>
            <a:r>
              <a:rPr lang="en-US" sz="24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Code movement / Loop invariant (Frequency reduction)</a:t>
            </a:r>
          </a:p>
          <a:p>
            <a:pPr marL="1258888" indent="-457200" algn="just" defTabSz="584200">
              <a:lnSpc>
                <a:spcPct val="150000"/>
              </a:lnSpc>
              <a:buFont typeface="Wingdings" panose="05000000000000000000" pitchFamily="2" charset="2"/>
              <a:buChar char="§"/>
            </a:pPr>
            <a:r>
              <a:rPr lang="en-US" sz="24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Strength Reduction</a:t>
            </a:r>
          </a:p>
          <a:p>
            <a:pPr marL="1258888" indent="-457200" algn="just" defTabSz="584200">
              <a:lnSpc>
                <a:spcPct val="150000"/>
              </a:lnSpc>
              <a:buFont typeface="Wingdings" panose="05000000000000000000" pitchFamily="2" charset="2"/>
              <a:buChar char="§"/>
            </a:pPr>
            <a:r>
              <a:rPr lang="en-US" sz="24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Dead code elimination</a:t>
            </a:r>
            <a:endParaRPr lang="en-US" sz="2400" b="1" dirty="0">
              <a:solidFill>
                <a:schemeClr val="accent1">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881377392"/>
      </p:ext>
    </p:extLst>
  </p:cSld>
  <p:clrMapOvr>
    <a:overrideClrMapping bg1="dk1" tx1="lt1" bg2="dk2" tx2="lt2" accent1="accent1" accent2="accent2" accent3="accent3" accent4="accent4" accent5="accent5" accent6="accent6" hlink="hlink" folHlink="folHlink"/>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6939"/>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42913" indent="-442913" algn="l">
              <a:buFont typeface="Wingdings" panose="05000000000000000000" pitchFamily="2" charset="2"/>
              <a:buChar char="v"/>
            </a:pPr>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 Code Optimization</a:t>
            </a:r>
          </a:p>
        </p:txBody>
      </p:sp>
      <p:sp>
        <p:nvSpPr>
          <p:cNvPr id="22" name="Rectangle 21">
            <a:extLst>
              <a:ext uri="{FF2B5EF4-FFF2-40B4-BE49-F238E27FC236}">
                <a16:creationId xmlns:a16="http://schemas.microsoft.com/office/drawing/2014/main" id="{3D2699BE-7C1D-4A02-93C9-C4027FBFE8E6}"/>
              </a:ext>
            </a:extLst>
          </p:cNvPr>
          <p:cNvSpPr>
            <a:spLocks noChangeArrowheads="1"/>
          </p:cNvSpPr>
          <p:nvPr/>
        </p:nvSpPr>
        <p:spPr bwMode="auto">
          <a:xfrm>
            <a:off x="3175116" y="2372673"/>
            <a:ext cx="1167990" cy="686117"/>
          </a:xfrm>
          <a:prstGeom prst="rect">
            <a:avLst/>
          </a:prstGeom>
          <a:noFill/>
          <a:ln w="25400">
            <a:solidFill>
              <a:srgbClr val="4F81BD">
                <a:lumMod val="75000"/>
              </a:srgbClr>
            </a:solidFill>
            <a:miter lim="800000"/>
            <a:headEnd/>
            <a:tailEnd/>
          </a:ln>
        </p:spPr>
        <p:txBody>
          <a:bodyPr rot="0" vert="horz" wrap="square" lIns="91440" tIns="45720" rIns="91440" bIns="45720" anchor="ctr" anchorCtr="0" upright="1">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1800" b="1" i="0" u="none" strike="noStrike" kern="0" cap="none" spc="0" normalizeH="0" baseline="0" noProof="0" dirty="0">
                <a:ln>
                  <a:noFill/>
                </a:ln>
                <a:solidFill>
                  <a:srgbClr val="4F81BD">
                    <a:lumMod val="75000"/>
                  </a:srgbClr>
                </a:solidFill>
                <a:effectLst/>
                <a:uLnTx/>
                <a:uFillTx/>
                <a:latin typeface="Times New Roman" panose="02020603050405020304" pitchFamily="18" charset="0"/>
                <a:ea typeface="Calibri" panose="020F0502020204030204" pitchFamily="34" charset="0"/>
                <a:cs typeface="Times New Roman" panose="02020603050405020304" pitchFamily="18" charset="0"/>
              </a:rPr>
              <a:t>Front End</a:t>
            </a:r>
          </a:p>
        </p:txBody>
      </p:sp>
      <p:sp>
        <p:nvSpPr>
          <p:cNvPr id="23" name="Rectangle 22">
            <a:extLst>
              <a:ext uri="{FF2B5EF4-FFF2-40B4-BE49-F238E27FC236}">
                <a16:creationId xmlns:a16="http://schemas.microsoft.com/office/drawing/2014/main" id="{F68CA7D3-1869-44AA-A365-A9B93AD96A43}"/>
              </a:ext>
            </a:extLst>
          </p:cNvPr>
          <p:cNvSpPr>
            <a:spLocks noChangeArrowheads="1"/>
          </p:cNvSpPr>
          <p:nvPr/>
        </p:nvSpPr>
        <p:spPr bwMode="auto">
          <a:xfrm>
            <a:off x="2787001" y="3898726"/>
            <a:ext cx="2163922" cy="387350"/>
          </a:xfrm>
          <a:prstGeom prst="rect">
            <a:avLst/>
          </a:prstGeom>
          <a:noFill/>
          <a:ln w="9525">
            <a:noFill/>
            <a:miter lim="800000"/>
            <a:headEnd/>
            <a:tailEnd/>
          </a:ln>
        </p:spPr>
        <p:txBody>
          <a:bodyPr rot="0" vert="horz" wrap="square" lIns="91440" tIns="45720" rIns="91440" bIns="45720" anchor="t" anchorCtr="0" upright="1">
            <a:noAutofit/>
          </a:bodyPr>
          <a:lstStyle/>
          <a:p>
            <a:pPr algn="ctr" defTabSz="914400">
              <a:lnSpc>
                <a:spcPct val="115000"/>
              </a:lnSpc>
              <a:spcAft>
                <a:spcPts val="1000"/>
              </a:spcAft>
            </a:pPr>
            <a:r>
              <a:rPr lang="en-US"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User can optimize</a:t>
            </a:r>
          </a:p>
        </p:txBody>
      </p:sp>
      <p:sp>
        <p:nvSpPr>
          <p:cNvPr id="24" name="Rectangle 23">
            <a:extLst>
              <a:ext uri="{FF2B5EF4-FFF2-40B4-BE49-F238E27FC236}">
                <a16:creationId xmlns:a16="http://schemas.microsoft.com/office/drawing/2014/main" id="{E1537316-554D-47ED-9810-6E5469B854DE}"/>
              </a:ext>
            </a:extLst>
          </p:cNvPr>
          <p:cNvSpPr>
            <a:spLocks noChangeArrowheads="1"/>
          </p:cNvSpPr>
          <p:nvPr/>
        </p:nvSpPr>
        <p:spPr bwMode="auto">
          <a:xfrm>
            <a:off x="5318900" y="2380978"/>
            <a:ext cx="1468397" cy="686116"/>
          </a:xfrm>
          <a:prstGeom prst="rect">
            <a:avLst/>
          </a:prstGeom>
          <a:noFill/>
          <a:ln w="25400">
            <a:solidFill>
              <a:srgbClr val="4F81BD">
                <a:lumMod val="75000"/>
              </a:srgbClr>
            </a:solidFill>
            <a:miter lim="800000"/>
            <a:headEnd/>
            <a:tailEnd/>
          </a:ln>
        </p:spPr>
        <p:txBody>
          <a:bodyPr rot="0" vert="horz" wrap="square" lIns="91440" tIns="45720" rIns="91440" bIns="45720" anchor="ctr" anchorCtr="0" upright="1">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1800" b="1" i="0" u="none" strike="noStrike" kern="0" cap="none" spc="0" normalizeH="0" baseline="0" noProof="0" dirty="0">
                <a:ln>
                  <a:noFill/>
                </a:ln>
                <a:solidFill>
                  <a:srgbClr val="4F81BD">
                    <a:lumMod val="75000"/>
                  </a:srgbClr>
                </a:solidFill>
                <a:effectLst/>
                <a:uLnTx/>
                <a:uFillTx/>
                <a:latin typeface="Times New Roman" panose="02020603050405020304" pitchFamily="18" charset="0"/>
                <a:ea typeface="Calibri" panose="020F0502020204030204" pitchFamily="34" charset="0"/>
                <a:cs typeface="Times New Roman" panose="02020603050405020304" pitchFamily="18" charset="0"/>
              </a:rPr>
              <a:t>Intermediate Code</a:t>
            </a:r>
          </a:p>
        </p:txBody>
      </p:sp>
      <p:sp>
        <p:nvSpPr>
          <p:cNvPr id="25" name="Rectangle 24">
            <a:extLst>
              <a:ext uri="{FF2B5EF4-FFF2-40B4-BE49-F238E27FC236}">
                <a16:creationId xmlns:a16="http://schemas.microsoft.com/office/drawing/2014/main" id="{2BDF2B12-575F-43B3-BE23-0C70E06CD25C}"/>
              </a:ext>
            </a:extLst>
          </p:cNvPr>
          <p:cNvSpPr>
            <a:spLocks noChangeArrowheads="1"/>
          </p:cNvSpPr>
          <p:nvPr/>
        </p:nvSpPr>
        <p:spPr bwMode="auto">
          <a:xfrm>
            <a:off x="1539952" y="2384603"/>
            <a:ext cx="1127439" cy="775824"/>
          </a:xfrm>
          <a:prstGeom prst="rect">
            <a:avLst/>
          </a:prstGeom>
          <a:solidFill>
            <a:srgbClr val="FFFFFF"/>
          </a:solidFill>
          <a:ln w="9525">
            <a:solidFill>
              <a:sysClr val="window" lastClr="FFFFFF">
                <a:lumMod val="100000"/>
                <a:lumOff val="0"/>
              </a:sysClr>
            </a:solidFill>
            <a:miter lim="800000"/>
            <a:headEnd/>
            <a:tailEnd/>
          </a:ln>
        </p:spPr>
        <p:txBody>
          <a:bodyPr rot="0" vert="horz" wrap="square" lIns="91440" tIns="45720" rIns="91440" bIns="45720" anchor="t" anchorCtr="0" upright="1">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Source Program</a:t>
            </a:r>
          </a:p>
        </p:txBody>
      </p:sp>
      <p:cxnSp>
        <p:nvCxnSpPr>
          <p:cNvPr id="26" name="Straight Arrow Connector 25">
            <a:extLst>
              <a:ext uri="{FF2B5EF4-FFF2-40B4-BE49-F238E27FC236}">
                <a16:creationId xmlns:a16="http://schemas.microsoft.com/office/drawing/2014/main" id="{22094B74-9934-4D6E-8137-066A6435EDFC}"/>
              </a:ext>
            </a:extLst>
          </p:cNvPr>
          <p:cNvCxnSpPr/>
          <p:nvPr/>
        </p:nvCxnSpPr>
        <p:spPr>
          <a:xfrm>
            <a:off x="2556573" y="2746183"/>
            <a:ext cx="633521" cy="0"/>
          </a:xfrm>
          <a:prstGeom prst="straightConnector1">
            <a:avLst/>
          </a:prstGeom>
          <a:noFill/>
          <a:ln w="25400" cap="flat" cmpd="sng" algn="ctr">
            <a:solidFill>
              <a:srgbClr val="4F81BD">
                <a:lumMod val="75000"/>
              </a:srgbClr>
            </a:solidFill>
            <a:prstDash val="solid"/>
            <a:tailEnd type="arrow"/>
          </a:ln>
          <a:effectLst/>
        </p:spPr>
      </p:cxnSp>
      <p:cxnSp>
        <p:nvCxnSpPr>
          <p:cNvPr id="27" name="AutoShape 7">
            <a:extLst>
              <a:ext uri="{FF2B5EF4-FFF2-40B4-BE49-F238E27FC236}">
                <a16:creationId xmlns:a16="http://schemas.microsoft.com/office/drawing/2014/main" id="{31AD101E-6BBA-4F0D-8547-DB2DF4A6E3BC}"/>
              </a:ext>
            </a:extLst>
          </p:cNvPr>
          <p:cNvCxnSpPr>
            <a:cxnSpLocks noChangeShapeType="1"/>
          </p:cNvCxnSpPr>
          <p:nvPr/>
        </p:nvCxnSpPr>
        <p:spPr bwMode="auto">
          <a:xfrm rot="10800000">
            <a:off x="4343106" y="2746183"/>
            <a:ext cx="976415" cy="0"/>
          </a:xfrm>
          <a:prstGeom prst="straightConnector1">
            <a:avLst/>
          </a:prstGeom>
          <a:noFill/>
          <a:ln w="25400">
            <a:solidFill>
              <a:srgbClr val="4F81BD">
                <a:lumMod val="75000"/>
              </a:srgbClr>
            </a:solidFill>
            <a:round/>
            <a:headEnd type="arrow"/>
            <a:tailEnd type="none" w="med" len="med"/>
          </a:ln>
          <a:extLst>
            <a:ext uri="{909E8E84-426E-40DD-AFC4-6F175D3DCCD1}">
              <a14:hiddenFill xmlns:a14="http://schemas.microsoft.com/office/drawing/2010/main">
                <a:noFill/>
              </a14:hiddenFill>
            </a:ext>
          </a:extLst>
        </p:spPr>
      </p:cxnSp>
      <p:cxnSp>
        <p:nvCxnSpPr>
          <p:cNvPr id="28" name="Straight Arrow Connector 27">
            <a:extLst>
              <a:ext uri="{FF2B5EF4-FFF2-40B4-BE49-F238E27FC236}">
                <a16:creationId xmlns:a16="http://schemas.microsoft.com/office/drawing/2014/main" id="{41495D06-A5C8-49F5-9B96-F375B2D7DA74}"/>
              </a:ext>
            </a:extLst>
          </p:cNvPr>
          <p:cNvCxnSpPr>
            <a:stCxn id="24" idx="3"/>
          </p:cNvCxnSpPr>
          <p:nvPr/>
        </p:nvCxnSpPr>
        <p:spPr>
          <a:xfrm>
            <a:off x="6787297" y="2724036"/>
            <a:ext cx="850256" cy="0"/>
          </a:xfrm>
          <a:prstGeom prst="straightConnector1">
            <a:avLst/>
          </a:prstGeom>
          <a:noFill/>
          <a:ln w="25400" cap="flat" cmpd="sng" algn="ctr">
            <a:solidFill>
              <a:srgbClr val="4F81BD">
                <a:lumMod val="75000"/>
              </a:srgbClr>
            </a:solidFill>
            <a:prstDash val="solid"/>
            <a:tailEnd type="arrow"/>
          </a:ln>
          <a:effectLst/>
        </p:spPr>
      </p:cxnSp>
      <p:sp>
        <p:nvSpPr>
          <p:cNvPr id="29" name="Rectangle 28">
            <a:extLst>
              <a:ext uri="{FF2B5EF4-FFF2-40B4-BE49-F238E27FC236}">
                <a16:creationId xmlns:a16="http://schemas.microsoft.com/office/drawing/2014/main" id="{0264E67A-40ED-4FD4-870E-1C75BB8ECB0B}"/>
              </a:ext>
            </a:extLst>
          </p:cNvPr>
          <p:cNvSpPr>
            <a:spLocks noChangeArrowheads="1"/>
          </p:cNvSpPr>
          <p:nvPr/>
        </p:nvSpPr>
        <p:spPr bwMode="auto">
          <a:xfrm flipV="1">
            <a:off x="7637553" y="2342843"/>
            <a:ext cx="1468397" cy="715947"/>
          </a:xfrm>
          <a:prstGeom prst="rect">
            <a:avLst/>
          </a:prstGeom>
          <a:noFill/>
          <a:ln w="25400">
            <a:solidFill>
              <a:srgbClr val="4F81BD">
                <a:lumMod val="75000"/>
              </a:srgbClr>
            </a:solidFill>
            <a:miter lim="800000"/>
            <a:headEnd/>
            <a:tailEnd/>
          </a:ln>
        </p:spPr>
        <p:txBody>
          <a:bodyPr rot="0" vert="horz" wrap="square" lIns="91440" tIns="45720" rIns="91440" bIns="45720" anchor="ctr" anchorCtr="0" upright="1">
            <a:noAutofit/>
          </a:bodyPr>
          <a:lstStyle/>
          <a:p>
            <a:pPr marL="0" marR="0" lvl="0" indent="0" algn="ctr" defTabSz="914400" eaLnBrk="1" fontAlgn="auto" latinLnBrk="0" hangingPunct="1">
              <a:lnSpc>
                <a:spcPct val="107000"/>
              </a:lnSpc>
              <a:spcBef>
                <a:spcPts val="0"/>
              </a:spcBef>
              <a:spcAft>
                <a:spcPts val="800"/>
              </a:spcAft>
              <a:buClrTx/>
              <a:buSzTx/>
              <a:buFontTx/>
              <a:buNone/>
              <a:tabLst/>
              <a:defRPr/>
            </a:pPr>
            <a:r>
              <a:rPr kumimoji="0" lang="en-US" sz="1800" b="1" i="0" u="none" strike="noStrike" kern="0" cap="none" spc="0" normalizeH="0" baseline="0" noProof="0" dirty="0">
                <a:ln>
                  <a:noFill/>
                </a:ln>
                <a:solidFill>
                  <a:srgbClr val="4F81BD">
                    <a:lumMod val="75000"/>
                  </a:srgbClr>
                </a:solidFill>
                <a:effectLst/>
                <a:uLnTx/>
                <a:uFillTx/>
                <a:latin typeface="Times New Roman" panose="02020603050405020304" pitchFamily="18" charset="0"/>
                <a:ea typeface="Calibri" panose="020F0502020204030204" pitchFamily="34" charset="0"/>
                <a:cs typeface="Times New Roman" panose="02020603050405020304" pitchFamily="18" charset="0"/>
              </a:rPr>
              <a:t>Code Generator</a:t>
            </a:r>
          </a:p>
        </p:txBody>
      </p:sp>
      <p:cxnSp>
        <p:nvCxnSpPr>
          <p:cNvPr id="30" name="Straight Arrow Connector 29">
            <a:extLst>
              <a:ext uri="{FF2B5EF4-FFF2-40B4-BE49-F238E27FC236}">
                <a16:creationId xmlns:a16="http://schemas.microsoft.com/office/drawing/2014/main" id="{7EEC272E-CCCD-4714-A32B-5F789ABAAFAC}"/>
              </a:ext>
            </a:extLst>
          </p:cNvPr>
          <p:cNvCxnSpPr/>
          <p:nvPr/>
        </p:nvCxnSpPr>
        <p:spPr>
          <a:xfrm>
            <a:off x="9105950" y="2746182"/>
            <a:ext cx="539496" cy="0"/>
          </a:xfrm>
          <a:prstGeom prst="straightConnector1">
            <a:avLst/>
          </a:prstGeom>
          <a:noFill/>
          <a:ln w="25400" cap="flat" cmpd="sng" algn="ctr">
            <a:solidFill>
              <a:srgbClr val="4F81BD">
                <a:lumMod val="75000"/>
              </a:srgbClr>
            </a:solidFill>
            <a:prstDash val="solid"/>
            <a:tailEnd type="arrow"/>
          </a:ln>
          <a:effectLst/>
        </p:spPr>
      </p:cxnSp>
      <p:sp>
        <p:nvSpPr>
          <p:cNvPr id="31" name="Rectangle 30">
            <a:extLst>
              <a:ext uri="{FF2B5EF4-FFF2-40B4-BE49-F238E27FC236}">
                <a16:creationId xmlns:a16="http://schemas.microsoft.com/office/drawing/2014/main" id="{6F418CC4-6835-4ABA-BEDD-13DC5D867719}"/>
              </a:ext>
            </a:extLst>
          </p:cNvPr>
          <p:cNvSpPr>
            <a:spLocks noChangeArrowheads="1"/>
          </p:cNvSpPr>
          <p:nvPr/>
        </p:nvSpPr>
        <p:spPr bwMode="auto">
          <a:xfrm>
            <a:off x="9659125" y="2380978"/>
            <a:ext cx="1018111" cy="775824"/>
          </a:xfrm>
          <a:prstGeom prst="rect">
            <a:avLst/>
          </a:prstGeom>
          <a:solidFill>
            <a:srgbClr val="FFFFFF"/>
          </a:solidFill>
          <a:ln w="9525">
            <a:solidFill>
              <a:sysClr val="window" lastClr="FFFFFF">
                <a:lumMod val="100000"/>
                <a:lumOff val="0"/>
              </a:sysClr>
            </a:solidFill>
            <a:miter lim="800000"/>
            <a:headEnd/>
            <a:tailEnd/>
          </a:ln>
        </p:spPr>
        <p:txBody>
          <a:bodyPr rot="0" vert="horz" wrap="square" lIns="91440" tIns="45720" rIns="91440" bIns="45720" anchor="t" anchorCtr="0" upright="1">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Target Program</a:t>
            </a:r>
          </a:p>
        </p:txBody>
      </p:sp>
      <p:sp>
        <p:nvSpPr>
          <p:cNvPr id="32" name="Rectangle 31">
            <a:extLst>
              <a:ext uri="{FF2B5EF4-FFF2-40B4-BE49-F238E27FC236}">
                <a16:creationId xmlns:a16="http://schemas.microsoft.com/office/drawing/2014/main" id="{C4A24A21-92D6-41EB-9F99-8BAFAF02C498}"/>
              </a:ext>
            </a:extLst>
          </p:cNvPr>
          <p:cNvSpPr>
            <a:spLocks noChangeArrowheads="1"/>
          </p:cNvSpPr>
          <p:nvPr/>
        </p:nvSpPr>
        <p:spPr bwMode="auto">
          <a:xfrm>
            <a:off x="6870116" y="3898726"/>
            <a:ext cx="2457201" cy="387350"/>
          </a:xfrm>
          <a:prstGeom prst="rect">
            <a:avLst/>
          </a:prstGeom>
          <a:noFill/>
          <a:ln w="9525">
            <a:noFill/>
            <a:miter lim="800000"/>
            <a:headEnd/>
            <a:tailEnd/>
          </a:ln>
        </p:spPr>
        <p:txBody>
          <a:bodyPr rot="0" vert="horz" wrap="square" lIns="91440" tIns="45720" rIns="91440" bIns="45720" anchor="t" anchorCtr="0" upright="1">
            <a:noAutofit/>
          </a:bodyPr>
          <a:lstStyle/>
          <a:p>
            <a:pPr algn="ctr" defTabSz="914400">
              <a:lnSpc>
                <a:spcPct val="115000"/>
              </a:lnSpc>
              <a:spcAft>
                <a:spcPts val="1000"/>
              </a:spcAft>
            </a:pPr>
            <a:r>
              <a:rPr lang="en-US"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Compiler can optimize</a:t>
            </a:r>
          </a:p>
        </p:txBody>
      </p:sp>
      <p:cxnSp>
        <p:nvCxnSpPr>
          <p:cNvPr id="33" name="Straight Arrow Connector 32">
            <a:extLst>
              <a:ext uri="{FF2B5EF4-FFF2-40B4-BE49-F238E27FC236}">
                <a16:creationId xmlns:a16="http://schemas.microsoft.com/office/drawing/2014/main" id="{11DBFD8B-8013-4F9D-BB8F-547268874AA5}"/>
              </a:ext>
            </a:extLst>
          </p:cNvPr>
          <p:cNvCxnSpPr>
            <a:endCxn id="22" idx="2"/>
          </p:cNvCxnSpPr>
          <p:nvPr/>
        </p:nvCxnSpPr>
        <p:spPr>
          <a:xfrm flipV="1">
            <a:off x="3759111" y="3058790"/>
            <a:ext cx="0" cy="839936"/>
          </a:xfrm>
          <a:prstGeom prst="straightConnector1">
            <a:avLst/>
          </a:prstGeom>
          <a:noFill/>
          <a:ln w="25400" cap="flat" cmpd="sng" algn="ctr">
            <a:solidFill>
              <a:srgbClr val="4F81BD">
                <a:lumMod val="75000"/>
              </a:srgbClr>
            </a:solidFill>
            <a:prstDash val="solid"/>
            <a:tailEnd type="arrow"/>
          </a:ln>
          <a:effectLst/>
        </p:spPr>
      </p:cxnSp>
      <p:cxnSp>
        <p:nvCxnSpPr>
          <p:cNvPr id="34" name="Straight Arrow Connector 33">
            <a:extLst>
              <a:ext uri="{FF2B5EF4-FFF2-40B4-BE49-F238E27FC236}">
                <a16:creationId xmlns:a16="http://schemas.microsoft.com/office/drawing/2014/main" id="{F268ACE1-9B97-4AA5-A66C-E26D244A6493}"/>
              </a:ext>
            </a:extLst>
          </p:cNvPr>
          <p:cNvCxnSpPr>
            <a:endCxn id="24" idx="2"/>
          </p:cNvCxnSpPr>
          <p:nvPr/>
        </p:nvCxnSpPr>
        <p:spPr>
          <a:xfrm flipH="1" flipV="1">
            <a:off x="6053099" y="3067094"/>
            <a:ext cx="1962418" cy="845920"/>
          </a:xfrm>
          <a:prstGeom prst="straightConnector1">
            <a:avLst/>
          </a:prstGeom>
          <a:noFill/>
          <a:ln w="25400" cap="flat" cmpd="sng" algn="ctr">
            <a:solidFill>
              <a:srgbClr val="4F81BD">
                <a:lumMod val="75000"/>
              </a:srgbClr>
            </a:solidFill>
            <a:prstDash val="solid"/>
            <a:tailEnd type="arrow"/>
          </a:ln>
          <a:effectLst/>
        </p:spPr>
      </p:cxnSp>
      <p:cxnSp>
        <p:nvCxnSpPr>
          <p:cNvPr id="35" name="Straight Arrow Connector 34">
            <a:extLst>
              <a:ext uri="{FF2B5EF4-FFF2-40B4-BE49-F238E27FC236}">
                <a16:creationId xmlns:a16="http://schemas.microsoft.com/office/drawing/2014/main" id="{CC35DEAA-F2AB-4E88-899B-44029E1B6074}"/>
              </a:ext>
            </a:extLst>
          </p:cNvPr>
          <p:cNvCxnSpPr/>
          <p:nvPr/>
        </p:nvCxnSpPr>
        <p:spPr>
          <a:xfrm flipV="1">
            <a:off x="7986304" y="3158044"/>
            <a:ext cx="2069463" cy="754970"/>
          </a:xfrm>
          <a:prstGeom prst="straightConnector1">
            <a:avLst/>
          </a:prstGeom>
          <a:noFill/>
          <a:ln w="25400" cap="flat" cmpd="sng" algn="ctr">
            <a:solidFill>
              <a:srgbClr val="4F81BD">
                <a:lumMod val="75000"/>
              </a:srgbClr>
            </a:solidFill>
            <a:prstDash val="solid"/>
            <a:tailEnd type="arrow"/>
          </a:ln>
          <a:effectLst/>
        </p:spPr>
      </p:cxnSp>
    </p:spTree>
    <p:custDataLst>
      <p:tags r:id="rId2"/>
    </p:custDataLst>
    <p:extLst>
      <p:ext uri="{BB962C8B-B14F-4D97-AF65-F5344CB8AC3E}">
        <p14:creationId xmlns:p14="http://schemas.microsoft.com/office/powerpoint/2010/main" val="2740804338"/>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par>
                                <p:cTn id="11" presetID="22" presetClass="entr" presetSubtype="8"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left)">
                                      <p:cBhvr>
                                        <p:cTn id="13" dur="500"/>
                                        <p:tgtEl>
                                          <p:spTgt spid="26"/>
                                        </p:tgtEl>
                                      </p:cBhvr>
                                    </p:animEffect>
                                  </p:childTnLst>
                                </p:cTn>
                              </p:par>
                              <p:par>
                                <p:cTn id="14" presetID="22" presetClass="entr" presetSubtype="8"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par>
                                <p:cTn id="20" presetID="22" presetClass="entr" presetSubtype="8"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wipe(left)">
                                      <p:cBhvr>
                                        <p:cTn id="25" dur="500"/>
                                        <p:tgtEl>
                                          <p:spTgt spid="29"/>
                                        </p:tgtEl>
                                      </p:cBhvr>
                                    </p:animEffect>
                                  </p:childTnLst>
                                </p:cTn>
                              </p:par>
                              <p:par>
                                <p:cTn id="26" presetID="22" presetClass="entr" presetSubtype="8"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left)">
                                      <p:cBhvr>
                                        <p:cTn id="28" dur="500"/>
                                        <p:tgtEl>
                                          <p:spTgt spid="3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left)">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down)">
                                      <p:cBhvr>
                                        <p:cTn id="36" dur="500"/>
                                        <p:tgtEl>
                                          <p:spTgt spid="33"/>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down)">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down)">
                                      <p:cBhvr>
                                        <p:cTn id="44" dur="500"/>
                                        <p:tgtEl>
                                          <p:spTgt spid="34"/>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down)">
                                      <p:cBhvr>
                                        <p:cTn id="47" dur="500"/>
                                        <p:tgtEl>
                                          <p:spTgt spid="32"/>
                                        </p:tgtEl>
                                      </p:cBhvr>
                                    </p:animEffect>
                                  </p:childTnLst>
                                </p:cTn>
                              </p:par>
                              <p:par>
                                <p:cTn id="48" presetID="22" presetClass="entr" presetSubtype="4"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ipe(down)">
                                      <p:cBhvr>
                                        <p:cTn id="5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animBg="1"/>
      <p:bldP spid="25" grpId="0" animBg="1"/>
      <p:bldP spid="29" grpId="0" animBg="1"/>
      <p:bldP spid="31" grpId="0" animBg="1"/>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909537" y="2685485"/>
            <a:ext cx="8451272"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60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Optimization Techniques</a:t>
            </a:r>
          </a:p>
        </p:txBody>
      </p:sp>
    </p:spTree>
    <p:custDataLst>
      <p:tags r:id="rId2"/>
    </p:custDataLst>
    <p:extLst>
      <p:ext uri="{BB962C8B-B14F-4D97-AF65-F5344CB8AC3E}">
        <p14:creationId xmlns:p14="http://schemas.microsoft.com/office/powerpoint/2010/main" val="674311003"/>
      </p:ext>
    </p:extLst>
  </p:cSld>
  <p:clrMapOvr>
    <a:overrideClrMapping bg1="dk1" tx1="lt1" bg2="dk2" tx2="lt2" accent1="accent1" accent2="accent2" accent3="accent3" accent4="accent4" accent5="accent5" accent6="accent6" hlink="hlink" folHlink="folHlink"/>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20770"/>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1. Compile time evaluation</a:t>
            </a:r>
          </a:p>
        </p:txBody>
      </p:sp>
      <p:sp>
        <p:nvSpPr>
          <p:cNvPr id="21" name="TextBox 20">
            <a:extLst>
              <a:ext uri="{FF2B5EF4-FFF2-40B4-BE49-F238E27FC236}">
                <a16:creationId xmlns:a16="http://schemas.microsoft.com/office/drawing/2014/main" id="{8EB76D95-206D-41CB-905E-8E3FD53E4AC6}"/>
              </a:ext>
            </a:extLst>
          </p:cNvPr>
          <p:cNvSpPr txBox="1"/>
          <p:nvPr/>
        </p:nvSpPr>
        <p:spPr>
          <a:xfrm>
            <a:off x="261091" y="729607"/>
            <a:ext cx="11746181" cy="6208366"/>
          </a:xfrm>
          <a:prstGeom prst="rect">
            <a:avLst/>
          </a:prstGeom>
          <a:noFill/>
        </p:spPr>
        <p:txBody>
          <a:bodyPr wrap="square">
            <a:spAutoFit/>
          </a:body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Compile time evaluation means shifting of computations from run time to compile time.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There are two methods used to obtain the compile time evaluation.</a:t>
            </a:r>
          </a:p>
          <a:p>
            <a:pPr marR="0" lvl="0" algn="just" defTabSz="914400" rtl="0" eaLnBrk="1" fontAlgn="auto" latinLnBrk="0" hangingPunct="1">
              <a:lnSpc>
                <a:spcPct val="114000"/>
              </a:lnSpc>
              <a:spcBef>
                <a:spcPct val="20000"/>
              </a:spcBef>
              <a:spcAft>
                <a:spcPts val="0"/>
              </a:spcAft>
              <a:buClrTx/>
              <a:buSzTx/>
              <a:tabLst/>
              <a:defRPr/>
            </a:pPr>
            <a:r>
              <a:rPr kumimoji="0" lang="en-US" sz="2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rPr>
              <a:t>1. Folding</a:t>
            </a:r>
            <a:endParaRPr kumimoji="0" lang="en-US" sz="2400" b="0"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 the folding technique the computation of constant is done at compile time instead of run time.</a:t>
            </a:r>
          </a:p>
          <a:p>
            <a:pPr marL="0" marR="0" lvl="0" indent="0" algn="just" defTabSz="914400" rtl="0" eaLnBrk="1" fontAlgn="auto" latinLnBrk="0" hangingPunct="1">
              <a:spcBef>
                <a:spcPct val="200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rgbClr val="4F81BD">
                    <a:lumMod val="75000"/>
                  </a:srgbClr>
                </a:solidFill>
                <a:effectLst/>
                <a:uLnTx/>
                <a:uFillTx/>
                <a:latin typeface="Times New Roman" panose="02020603050405020304" pitchFamily="18" charset="0"/>
                <a:cs typeface="Times New Roman" panose="02020603050405020304" pitchFamily="18" charset="0"/>
              </a:rPr>
              <a:t>Example : length = (22/7)*d</a:t>
            </a:r>
          </a:p>
          <a:p>
            <a:pPr marL="342900" marR="0" lvl="0" indent="-342900" algn="just" defTabSz="914400" rtl="0" eaLnBrk="1" fontAlgn="auto" latinLnBrk="0" hangingPunct="1">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Here folding is implied by performing the computation of </a:t>
            </a:r>
            <a:r>
              <a:rPr kumimoji="0" lang="en-US" sz="2400" b="0" i="0" u="none" strike="noStrike" kern="1200" cap="none" spc="0" normalizeH="0" baseline="0" noProof="0" dirty="0">
                <a:ln>
                  <a:noFill/>
                </a:ln>
                <a:solidFill>
                  <a:srgbClr val="4F81BD">
                    <a:lumMod val="75000"/>
                  </a:srgbClr>
                </a:solidFill>
                <a:effectLst/>
                <a:uLnTx/>
                <a:uFillTx/>
                <a:latin typeface="Times New Roman" panose="02020603050405020304" pitchFamily="18" charset="0"/>
                <a:cs typeface="Times New Roman" panose="02020603050405020304" pitchFamily="18" charset="0"/>
              </a:rPr>
              <a:t>22/7 at compile time</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R="0" lvl="0" algn="just" defTabSz="914400" rtl="0" eaLnBrk="1" fontAlgn="auto" latinLnBrk="0" hangingPunct="1">
              <a:lnSpc>
                <a:spcPct val="114000"/>
              </a:lnSpc>
              <a:spcBef>
                <a:spcPct val="20000"/>
              </a:spcBef>
              <a:spcAft>
                <a:spcPts val="0"/>
              </a:spcAft>
              <a:buClrTx/>
              <a:buSzTx/>
              <a:tabLst/>
              <a:defRPr/>
            </a:pPr>
            <a:r>
              <a:rPr kumimoji="0" lang="en-US" sz="2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rPr>
              <a:t>2. Constant propagation</a:t>
            </a:r>
            <a:endParaRPr kumimoji="0" lang="en-US" sz="2400" b="0"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 this technique the value of variable is replaced and computation of an expression is done at compilation time.</a:t>
            </a:r>
          </a:p>
          <a:p>
            <a:pPr marL="0" marR="0" lvl="0" indent="0" algn="just" defTabSz="914400" rtl="0" eaLnBrk="1" fontAlgn="auto" latinLnBrk="0" hangingPunct="1">
              <a:spcBef>
                <a:spcPct val="200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srgbClr val="4F81BD">
                    <a:lumMod val="75000"/>
                  </a:srgbClr>
                </a:solidFill>
                <a:effectLst/>
                <a:uLnTx/>
                <a:uFillTx/>
                <a:latin typeface="Times New Roman" panose="02020603050405020304" pitchFamily="18" charset="0"/>
                <a:cs typeface="Times New Roman" panose="02020603050405020304" pitchFamily="18" charset="0"/>
              </a:rPr>
              <a:t>Example : pi = 3.14; r = 5;</a:t>
            </a:r>
          </a:p>
          <a:p>
            <a:pPr marL="0" marR="0" lvl="0" indent="0" algn="just" defTabSz="914400" rtl="0" eaLnBrk="1" fontAlgn="auto" latinLnBrk="0" hangingPunct="1">
              <a:spcBef>
                <a:spcPct val="200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4F81BD">
                    <a:lumMod val="75000"/>
                  </a:srgbClr>
                </a:solidFill>
                <a:effectLst/>
                <a:uLnTx/>
                <a:uFillTx/>
                <a:latin typeface="Times New Roman" panose="02020603050405020304" pitchFamily="18" charset="0"/>
                <a:cs typeface="Times New Roman" panose="02020603050405020304" pitchFamily="18" charset="0"/>
              </a:rPr>
              <a:t>	                                      Area = pi * r * r;</a:t>
            </a:r>
          </a:p>
          <a:p>
            <a:pPr marL="342900" marR="0" lvl="0" indent="-342900" algn="just" defTabSz="914400" rtl="0" eaLnBrk="1" fontAlgn="auto" latinLnBrk="0" hangingPunct="1">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Here at the compilation time the value of pi is replaced by 3.14 and r by 5 then </a:t>
            </a:r>
            <a:r>
              <a:rPr kumimoji="0" lang="en-US" sz="2400" b="0" i="0" u="none" strike="noStrike" kern="1200" cap="none" spc="0" normalizeH="0" baseline="0" noProof="0" dirty="0">
                <a:ln>
                  <a:noFill/>
                </a:ln>
                <a:solidFill>
                  <a:srgbClr val="4F81BD">
                    <a:lumMod val="75000"/>
                  </a:srgbClr>
                </a:solidFill>
                <a:effectLst/>
                <a:uLnTx/>
                <a:uFillTx/>
                <a:latin typeface="Times New Roman" panose="02020603050405020304" pitchFamily="18" charset="0"/>
                <a:cs typeface="Times New Roman" panose="02020603050405020304" pitchFamily="18" charset="0"/>
              </a:rPr>
              <a:t>computation of 3.14 * 5 * 5 is done during compilation.</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3970642447"/>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500"/>
                                        <p:tgtEl>
                                          <p:spTgt spid="21">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1">
                                            <p:txEl>
                                              <p:pRg st="1" end="1"/>
                                            </p:txEl>
                                          </p:spTgt>
                                        </p:tgtEl>
                                        <p:attrNameLst>
                                          <p:attrName>style.visibility</p:attrName>
                                        </p:attrNameLst>
                                      </p:cBhvr>
                                      <p:to>
                                        <p:strVal val="visible"/>
                                      </p:to>
                                    </p:set>
                                    <p:animEffect transition="in" filter="wipe(down)">
                                      <p:cBhvr>
                                        <p:cTn id="10" dur="500"/>
                                        <p:tgtEl>
                                          <p:spTgt spid="2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animEffect transition="in" filter="wipe(down)">
                                      <p:cBhvr>
                                        <p:cTn id="15" dur="500"/>
                                        <p:tgtEl>
                                          <p:spTgt spid="21">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1">
                                            <p:txEl>
                                              <p:pRg st="3" end="3"/>
                                            </p:txEl>
                                          </p:spTgt>
                                        </p:tgtEl>
                                        <p:attrNameLst>
                                          <p:attrName>style.visibility</p:attrName>
                                        </p:attrNameLst>
                                      </p:cBhvr>
                                      <p:to>
                                        <p:strVal val="visible"/>
                                      </p:to>
                                    </p:set>
                                    <p:animEffect transition="in" filter="wipe(down)">
                                      <p:cBhvr>
                                        <p:cTn id="18" dur="500"/>
                                        <p:tgtEl>
                                          <p:spTgt spid="21">
                                            <p:txEl>
                                              <p:pRg st="3" end="3"/>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21">
                                            <p:txEl>
                                              <p:pRg st="4" end="4"/>
                                            </p:txEl>
                                          </p:spTgt>
                                        </p:tgtEl>
                                        <p:attrNameLst>
                                          <p:attrName>style.visibility</p:attrName>
                                        </p:attrNameLst>
                                      </p:cBhvr>
                                      <p:to>
                                        <p:strVal val="visible"/>
                                      </p:to>
                                    </p:set>
                                    <p:animEffect transition="in" filter="wipe(down)">
                                      <p:cBhvr>
                                        <p:cTn id="21" dur="500"/>
                                        <p:tgtEl>
                                          <p:spTgt spid="21">
                                            <p:txEl>
                                              <p:pRg st="4" end="4"/>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21">
                                            <p:txEl>
                                              <p:pRg st="5" end="5"/>
                                            </p:txEl>
                                          </p:spTgt>
                                        </p:tgtEl>
                                        <p:attrNameLst>
                                          <p:attrName>style.visibility</p:attrName>
                                        </p:attrNameLst>
                                      </p:cBhvr>
                                      <p:to>
                                        <p:strVal val="visible"/>
                                      </p:to>
                                    </p:set>
                                    <p:animEffect transition="in" filter="wipe(down)">
                                      <p:cBhvr>
                                        <p:cTn id="24" dur="500"/>
                                        <p:tgtEl>
                                          <p:spTgt spid="21">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1">
                                            <p:txEl>
                                              <p:pRg st="6" end="6"/>
                                            </p:txEl>
                                          </p:spTgt>
                                        </p:tgtEl>
                                        <p:attrNameLst>
                                          <p:attrName>style.visibility</p:attrName>
                                        </p:attrNameLst>
                                      </p:cBhvr>
                                      <p:to>
                                        <p:strVal val="visible"/>
                                      </p:to>
                                    </p:set>
                                    <p:animEffect transition="in" filter="wipe(down)">
                                      <p:cBhvr>
                                        <p:cTn id="29" dur="500"/>
                                        <p:tgtEl>
                                          <p:spTgt spid="21">
                                            <p:txEl>
                                              <p:pRg st="6" end="6"/>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21">
                                            <p:txEl>
                                              <p:pRg st="7" end="7"/>
                                            </p:txEl>
                                          </p:spTgt>
                                        </p:tgtEl>
                                        <p:attrNameLst>
                                          <p:attrName>style.visibility</p:attrName>
                                        </p:attrNameLst>
                                      </p:cBhvr>
                                      <p:to>
                                        <p:strVal val="visible"/>
                                      </p:to>
                                    </p:set>
                                    <p:animEffect transition="in" filter="wipe(down)">
                                      <p:cBhvr>
                                        <p:cTn id="32" dur="500"/>
                                        <p:tgtEl>
                                          <p:spTgt spid="21">
                                            <p:txEl>
                                              <p:pRg st="7" end="7"/>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21">
                                            <p:txEl>
                                              <p:pRg st="8" end="8"/>
                                            </p:txEl>
                                          </p:spTgt>
                                        </p:tgtEl>
                                        <p:attrNameLst>
                                          <p:attrName>style.visibility</p:attrName>
                                        </p:attrNameLst>
                                      </p:cBhvr>
                                      <p:to>
                                        <p:strVal val="visible"/>
                                      </p:to>
                                    </p:set>
                                    <p:animEffect transition="in" filter="wipe(down)">
                                      <p:cBhvr>
                                        <p:cTn id="35" dur="500"/>
                                        <p:tgtEl>
                                          <p:spTgt spid="21">
                                            <p:txEl>
                                              <p:pRg st="8" end="8"/>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21">
                                            <p:txEl>
                                              <p:pRg st="9" end="9"/>
                                            </p:txEl>
                                          </p:spTgt>
                                        </p:tgtEl>
                                        <p:attrNameLst>
                                          <p:attrName>style.visibility</p:attrName>
                                        </p:attrNameLst>
                                      </p:cBhvr>
                                      <p:to>
                                        <p:strVal val="visible"/>
                                      </p:to>
                                    </p:set>
                                    <p:animEffect transition="in" filter="wipe(down)">
                                      <p:cBhvr>
                                        <p:cTn id="38" dur="500"/>
                                        <p:tgtEl>
                                          <p:spTgt spid="21">
                                            <p:txEl>
                                              <p:pRg st="9" end="9"/>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21">
                                            <p:txEl>
                                              <p:pRg st="10" end="10"/>
                                            </p:txEl>
                                          </p:spTgt>
                                        </p:tgtEl>
                                        <p:attrNameLst>
                                          <p:attrName>style.visibility</p:attrName>
                                        </p:attrNameLst>
                                      </p:cBhvr>
                                      <p:to>
                                        <p:strVal val="visible"/>
                                      </p:to>
                                    </p:set>
                                    <p:animEffect transition="in" filter="wipe(down)">
                                      <p:cBhvr>
                                        <p:cTn id="41" dur="500"/>
                                        <p:tgtEl>
                                          <p:spTgt spid="2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20770"/>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2. Common sub expressions elimination</a:t>
            </a:r>
          </a:p>
        </p:txBody>
      </p:sp>
      <p:sp>
        <p:nvSpPr>
          <p:cNvPr id="21" name="TextBox 20">
            <a:extLst>
              <a:ext uri="{FF2B5EF4-FFF2-40B4-BE49-F238E27FC236}">
                <a16:creationId xmlns:a16="http://schemas.microsoft.com/office/drawing/2014/main" id="{8EB76D95-206D-41CB-905E-8E3FD53E4AC6}"/>
              </a:ext>
            </a:extLst>
          </p:cNvPr>
          <p:cNvSpPr txBox="1"/>
          <p:nvPr/>
        </p:nvSpPr>
        <p:spPr>
          <a:xfrm>
            <a:off x="261091" y="895855"/>
            <a:ext cx="11746181" cy="3796680"/>
          </a:xfrm>
          <a:prstGeom prst="rect">
            <a:avLst/>
          </a:prstGeom>
          <a:noFill/>
        </p:spPr>
        <p:txBody>
          <a:bodyPr wrap="square">
            <a:spAutoFit/>
          </a:bodyPr>
          <a:lstStyle/>
          <a:p>
            <a:pPr marL="342900" lvl="0" indent="-342900" algn="just" defTabSz="914400">
              <a:lnSpc>
                <a:spcPct val="114000"/>
              </a:lnSpc>
              <a:spcBef>
                <a:spcPct val="20000"/>
              </a:spcBef>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The common sub expression is an expression appearing repeatedly in the program which is computed previously.</a:t>
            </a:r>
          </a:p>
          <a:p>
            <a:pPr marL="342900" lvl="0" indent="-342900" algn="just" defTabSz="914400">
              <a:lnSpc>
                <a:spcPct val="114000"/>
              </a:lnSpc>
              <a:spcBef>
                <a:spcPct val="20000"/>
              </a:spcBef>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If the operands of this sub expression do not get changed at all then result of such sub expression is used instead of re-computing it each time.</a:t>
            </a:r>
          </a:p>
          <a:p>
            <a:pPr marL="342900" lvl="0" indent="-342900" algn="just" defTabSz="914400">
              <a:lnSpc>
                <a:spcPct val="114000"/>
              </a:lnSpc>
              <a:spcBef>
                <a:spcPct val="20000"/>
              </a:spcBef>
              <a:buFont typeface="Wingdings" panose="05000000000000000000" pitchFamily="2" charset="2"/>
              <a:buChar char="ü"/>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defTabSz="914400">
              <a:lnSpc>
                <a:spcPct val="114000"/>
              </a:lnSpc>
              <a:spcBef>
                <a:spcPct val="20000"/>
              </a:spcBef>
              <a:buFont typeface="Wingdings" panose="05000000000000000000" pitchFamily="2" charset="2"/>
              <a:buChar char="§"/>
              <a:defRPr/>
            </a:pPr>
            <a:r>
              <a:rPr lang="en-US" sz="2400" dirty="0">
                <a:solidFill>
                  <a:schemeClr val="tx2">
                    <a:lumMod val="50000"/>
                  </a:schemeClr>
                </a:solidFill>
                <a:latin typeface="Times New Roman" panose="02020603050405020304" pitchFamily="18" charset="0"/>
                <a:cs typeface="Times New Roman" panose="02020603050405020304" pitchFamily="18" charset="0"/>
              </a:rPr>
              <a:t>Example:</a:t>
            </a:r>
          </a:p>
          <a:p>
            <a:pPr marL="342900" lvl="0" indent="-342900" algn="just" defTabSz="914400">
              <a:lnSpc>
                <a:spcPct val="114000"/>
              </a:lnSpc>
              <a:spcBef>
                <a:spcPct val="20000"/>
              </a:spcBef>
              <a:buFont typeface="Wingdings" panose="05000000000000000000" pitchFamily="2" charset="2"/>
              <a:buChar char="ü"/>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4B31F305-675E-4886-A5C1-A2001E9CF14B}"/>
              </a:ext>
            </a:extLst>
          </p:cNvPr>
          <p:cNvGraphicFramePr>
            <a:graphicFrameLocks noGrp="1"/>
          </p:cNvGraphicFramePr>
          <p:nvPr>
            <p:extLst>
              <p:ext uri="{D42A27DB-BD31-4B8C-83A1-F6EECF244321}">
                <p14:modId xmlns:p14="http://schemas.microsoft.com/office/powerpoint/2010/main" val="778997205"/>
              </p:ext>
            </p:extLst>
          </p:nvPr>
        </p:nvGraphicFramePr>
        <p:xfrm>
          <a:off x="2424545" y="3874652"/>
          <a:ext cx="1752600" cy="2279015"/>
        </p:xfrm>
        <a:graphic>
          <a:graphicData uri="http://schemas.openxmlformats.org/drawingml/2006/table">
            <a:tbl>
              <a:tblPr firstRow="1" bandRow="1"/>
              <a:tblGrid>
                <a:gridCol w="1752600">
                  <a:extLst>
                    <a:ext uri="{9D8B030D-6E8A-4147-A177-3AD203B41FA5}">
                      <a16:colId xmlns:a16="http://schemas.microsoft.com/office/drawing/2014/main" val="20000"/>
                    </a:ext>
                  </a:extLst>
                </a:gridCol>
              </a:tblGrid>
              <a:tr h="370840">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marL="0" marR="0" algn="just">
                        <a:lnSpc>
                          <a:spcPct val="115000"/>
                        </a:lnSpc>
                        <a:spcBef>
                          <a:spcPts val="0"/>
                        </a:spcBef>
                        <a:spcAft>
                          <a:spcPts val="1000"/>
                        </a:spcAft>
                      </a:pPr>
                      <a:r>
                        <a:rPr lang="en-US" sz="1800" b="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t1 := 4 * </a:t>
                      </a:r>
                      <a:r>
                        <a:rPr lang="en-US" sz="1800" b="0" dirty="0" err="1">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i</a:t>
                      </a:r>
                      <a:endParaRPr lang="en-US" sz="1800" b="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0" marR="0" algn="just">
                        <a:lnSpc>
                          <a:spcPct val="115000"/>
                        </a:lnSpc>
                        <a:spcBef>
                          <a:spcPts val="0"/>
                        </a:spcBef>
                        <a:spcAft>
                          <a:spcPts val="1000"/>
                        </a:spcAft>
                      </a:pPr>
                      <a:r>
                        <a:rPr lang="en-US" sz="1800" b="0" dirty="0">
                          <a:effectLst/>
                          <a:latin typeface="Times New Roman" panose="02020603050405020304" pitchFamily="18" charset="0"/>
                          <a:ea typeface="Palatino Linotype" panose="02040502050505030304" pitchFamily="18" charset="0"/>
                          <a:cs typeface="Times New Roman" panose="02020603050405020304" pitchFamily="18" charset="0"/>
                        </a:rPr>
                        <a:t>t2 := a[t1]</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0" marR="0" algn="just">
                        <a:lnSpc>
                          <a:spcPct val="115000"/>
                        </a:lnSpc>
                        <a:spcBef>
                          <a:spcPts val="0"/>
                        </a:spcBef>
                        <a:spcAft>
                          <a:spcPts val="1000"/>
                        </a:spcAft>
                      </a:pPr>
                      <a:r>
                        <a:rPr lang="en-US" sz="1800" b="0" dirty="0">
                          <a:effectLst/>
                          <a:latin typeface="Times New Roman" panose="02020603050405020304" pitchFamily="18" charset="0"/>
                          <a:ea typeface="Palatino Linotype" panose="02040502050505030304" pitchFamily="18" charset="0"/>
                          <a:cs typeface="Times New Roman" panose="02020603050405020304" pitchFamily="18" charset="0"/>
                        </a:rPr>
                        <a:t>t3 := </a:t>
                      </a:r>
                      <a:r>
                        <a:rPr lang="en-US" sz="1800" b="0" spc="300" dirty="0">
                          <a:effectLst/>
                          <a:latin typeface="Times New Roman" panose="02020603050405020304" pitchFamily="18" charset="0"/>
                          <a:ea typeface="Palatino Linotype" panose="02040502050505030304" pitchFamily="18" charset="0"/>
                          <a:cs typeface="Times New Roman" panose="02020603050405020304" pitchFamily="18" charset="0"/>
                        </a:rPr>
                        <a:t>4*j </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0" marR="0" algn="just">
                        <a:lnSpc>
                          <a:spcPct val="115000"/>
                        </a:lnSpc>
                        <a:spcBef>
                          <a:spcPts val="0"/>
                        </a:spcBef>
                        <a:spcAft>
                          <a:spcPts val="1000"/>
                        </a:spcAft>
                      </a:pPr>
                      <a:r>
                        <a:rPr lang="en-US" sz="1800" b="0" dirty="0">
                          <a:solidFill>
                            <a:srgbClr val="C00000"/>
                          </a:solidFill>
                          <a:effectLst/>
                          <a:latin typeface="Times New Roman" panose="02020603050405020304" pitchFamily="18" charset="0"/>
                          <a:ea typeface="Palatino Linotype" panose="02040502050505030304" pitchFamily="18" charset="0"/>
                          <a:cs typeface="Times New Roman" panose="02020603050405020304" pitchFamily="18" charset="0"/>
                        </a:rPr>
                        <a:t>t4 : = 4 * </a:t>
                      </a:r>
                      <a:r>
                        <a:rPr lang="en-US" sz="1800" b="0" dirty="0" err="1">
                          <a:solidFill>
                            <a:srgbClr val="C00000"/>
                          </a:solidFill>
                          <a:effectLst/>
                          <a:latin typeface="Times New Roman" panose="02020603050405020304" pitchFamily="18" charset="0"/>
                          <a:ea typeface="Palatino Linotype" panose="02040502050505030304" pitchFamily="18" charset="0"/>
                          <a:cs typeface="Times New Roman" panose="02020603050405020304" pitchFamily="18" charset="0"/>
                        </a:rPr>
                        <a:t>i</a:t>
                      </a:r>
                      <a:endParaRPr lang="en-US" sz="1800" b="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0" marR="0" algn="just">
                        <a:lnSpc>
                          <a:spcPct val="115000"/>
                        </a:lnSpc>
                        <a:spcBef>
                          <a:spcPts val="0"/>
                        </a:spcBef>
                        <a:spcAft>
                          <a:spcPts val="1000"/>
                        </a:spcAft>
                      </a:pPr>
                      <a:r>
                        <a:rPr lang="en-US" sz="1800" b="0" dirty="0">
                          <a:effectLst/>
                          <a:latin typeface="Times New Roman" panose="02020603050405020304" pitchFamily="18" charset="0"/>
                          <a:ea typeface="Palatino Linotype" panose="02040502050505030304" pitchFamily="18" charset="0"/>
                          <a:cs typeface="Times New Roman" panose="02020603050405020304" pitchFamily="18" charset="0"/>
                        </a:rPr>
                        <a:t>t5:= n</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r>
                        <a:rPr lang="en-US" sz="1800" b="0" dirty="0">
                          <a:effectLst/>
                          <a:latin typeface="Times New Roman" panose="02020603050405020304" pitchFamily="18" charset="0"/>
                          <a:ea typeface="Palatino Linotype" panose="02040502050505030304" pitchFamily="18" charset="0"/>
                          <a:cs typeface="Times New Roman" panose="02020603050405020304" pitchFamily="18" charset="0"/>
                        </a:rPr>
                        <a:t>t6 := b[t4]+t5</a:t>
                      </a:r>
                      <a:endParaRPr lang="en-US" sz="1800" b="0"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cxnSp>
        <p:nvCxnSpPr>
          <p:cNvPr id="10" name="Straight Connector 9">
            <a:extLst>
              <a:ext uri="{FF2B5EF4-FFF2-40B4-BE49-F238E27FC236}">
                <a16:creationId xmlns:a16="http://schemas.microsoft.com/office/drawing/2014/main" id="{5A79943B-5987-46D2-9000-B59FE8A71326}"/>
              </a:ext>
            </a:extLst>
          </p:cNvPr>
          <p:cNvCxnSpPr>
            <a:cxnSpLocks/>
          </p:cNvCxnSpPr>
          <p:nvPr/>
        </p:nvCxnSpPr>
        <p:spPr>
          <a:xfrm>
            <a:off x="2168799" y="5246252"/>
            <a:ext cx="2160746" cy="0"/>
          </a:xfrm>
          <a:prstGeom prst="line">
            <a:avLst/>
          </a:prstGeom>
          <a:noFill/>
          <a:ln w="25400" cap="flat" cmpd="sng" algn="ctr">
            <a:solidFill>
              <a:srgbClr val="C00000"/>
            </a:solidFill>
            <a:prstDash val="solid"/>
          </a:ln>
          <a:effectLst/>
        </p:spPr>
      </p:cxnSp>
      <p:graphicFrame>
        <p:nvGraphicFramePr>
          <p:cNvPr id="11" name="Table 10">
            <a:extLst>
              <a:ext uri="{FF2B5EF4-FFF2-40B4-BE49-F238E27FC236}">
                <a16:creationId xmlns:a16="http://schemas.microsoft.com/office/drawing/2014/main" id="{00F8145B-FF31-42A8-B970-EA62B6013728}"/>
              </a:ext>
            </a:extLst>
          </p:cNvPr>
          <p:cNvGraphicFramePr>
            <a:graphicFrameLocks noGrp="1"/>
          </p:cNvGraphicFramePr>
          <p:nvPr>
            <p:extLst>
              <p:ext uri="{D42A27DB-BD31-4B8C-83A1-F6EECF244321}">
                <p14:modId xmlns:p14="http://schemas.microsoft.com/office/powerpoint/2010/main" val="464279964"/>
              </p:ext>
            </p:extLst>
          </p:nvPr>
        </p:nvGraphicFramePr>
        <p:xfrm>
          <a:off x="7758545" y="4103252"/>
          <a:ext cx="1752600" cy="1897380"/>
        </p:xfrm>
        <a:graphic>
          <a:graphicData uri="http://schemas.openxmlformats.org/drawingml/2006/table">
            <a:tbl>
              <a:tblPr firstRow="1" bandRow="1"/>
              <a:tblGrid>
                <a:gridCol w="1752600">
                  <a:extLst>
                    <a:ext uri="{9D8B030D-6E8A-4147-A177-3AD203B41FA5}">
                      <a16:colId xmlns:a16="http://schemas.microsoft.com/office/drawing/2014/main" val="20000"/>
                    </a:ext>
                  </a:extLst>
                </a:gridCol>
              </a:tblGrid>
              <a:tr h="370840">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marL="0" marR="0" algn="just">
                        <a:lnSpc>
                          <a:spcPct val="115000"/>
                        </a:lnSpc>
                        <a:spcBef>
                          <a:spcPts val="0"/>
                        </a:spcBef>
                        <a:spcAft>
                          <a:spcPts val="1000"/>
                        </a:spcAft>
                      </a:pPr>
                      <a:r>
                        <a:rPr lang="en-US" sz="1800" b="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t1 := 4 * </a:t>
                      </a:r>
                      <a:r>
                        <a:rPr lang="en-US" sz="1800" b="0" dirty="0" err="1">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i</a:t>
                      </a:r>
                      <a:endParaRPr lang="en-US" sz="1800" b="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0" marR="0" algn="just">
                        <a:lnSpc>
                          <a:spcPct val="115000"/>
                        </a:lnSpc>
                        <a:spcBef>
                          <a:spcPts val="0"/>
                        </a:spcBef>
                        <a:spcAft>
                          <a:spcPts val="1000"/>
                        </a:spcAft>
                      </a:pPr>
                      <a:r>
                        <a:rPr lang="en-US" sz="1800" b="0" dirty="0">
                          <a:effectLst/>
                          <a:latin typeface="Times New Roman" panose="02020603050405020304" pitchFamily="18" charset="0"/>
                          <a:ea typeface="Palatino Linotype" panose="02040502050505030304" pitchFamily="18" charset="0"/>
                          <a:cs typeface="Times New Roman" panose="02020603050405020304" pitchFamily="18" charset="0"/>
                        </a:rPr>
                        <a:t>t2 := a[t1]</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0" marR="0" algn="just">
                        <a:lnSpc>
                          <a:spcPct val="115000"/>
                        </a:lnSpc>
                        <a:spcBef>
                          <a:spcPts val="0"/>
                        </a:spcBef>
                        <a:spcAft>
                          <a:spcPts val="1000"/>
                        </a:spcAft>
                      </a:pPr>
                      <a:r>
                        <a:rPr lang="en-US" sz="1800" b="0" dirty="0">
                          <a:effectLst/>
                          <a:latin typeface="Times New Roman" panose="02020603050405020304" pitchFamily="18" charset="0"/>
                          <a:ea typeface="Palatino Linotype" panose="02040502050505030304" pitchFamily="18" charset="0"/>
                          <a:cs typeface="Times New Roman" panose="02020603050405020304" pitchFamily="18" charset="0"/>
                        </a:rPr>
                        <a:t>t3 := </a:t>
                      </a:r>
                      <a:r>
                        <a:rPr lang="en-US" sz="1800" b="0" spc="300" dirty="0">
                          <a:effectLst/>
                          <a:latin typeface="Times New Roman" panose="02020603050405020304" pitchFamily="18" charset="0"/>
                          <a:ea typeface="Palatino Linotype" panose="02040502050505030304" pitchFamily="18" charset="0"/>
                          <a:cs typeface="Times New Roman" panose="02020603050405020304" pitchFamily="18" charset="0"/>
                        </a:rPr>
                        <a:t>4*j </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0" marR="0" algn="just">
                        <a:lnSpc>
                          <a:spcPct val="115000"/>
                        </a:lnSpc>
                        <a:spcBef>
                          <a:spcPts val="0"/>
                        </a:spcBef>
                        <a:spcAft>
                          <a:spcPts val="1000"/>
                        </a:spcAft>
                      </a:pPr>
                      <a:r>
                        <a:rPr lang="en-US" sz="1800" b="0" dirty="0">
                          <a:effectLst/>
                          <a:latin typeface="Times New Roman" panose="02020603050405020304" pitchFamily="18" charset="0"/>
                          <a:ea typeface="Palatino Linotype" panose="02040502050505030304" pitchFamily="18" charset="0"/>
                          <a:cs typeface="Times New Roman" panose="02020603050405020304" pitchFamily="18" charset="0"/>
                        </a:rPr>
                        <a:t>t4:= n</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r>
                        <a:rPr lang="en-US" sz="1800" b="0" dirty="0">
                          <a:effectLst/>
                          <a:latin typeface="Times New Roman" panose="02020603050405020304" pitchFamily="18" charset="0"/>
                          <a:ea typeface="Palatino Linotype" panose="02040502050505030304" pitchFamily="18" charset="0"/>
                          <a:cs typeface="Times New Roman" panose="02020603050405020304" pitchFamily="18" charset="0"/>
                        </a:rPr>
                        <a:t>t5 := b[</a:t>
                      </a:r>
                      <a:r>
                        <a:rPr lang="en-US" sz="1800" b="0" dirty="0">
                          <a:solidFill>
                            <a:srgbClr val="FF0000"/>
                          </a:solidFill>
                          <a:effectLst/>
                          <a:latin typeface="Times New Roman" panose="02020603050405020304" pitchFamily="18" charset="0"/>
                          <a:ea typeface="Palatino Linotype" panose="02040502050505030304" pitchFamily="18" charset="0"/>
                          <a:cs typeface="Times New Roman" panose="02020603050405020304" pitchFamily="18" charset="0"/>
                        </a:rPr>
                        <a:t>t1</a:t>
                      </a:r>
                      <a:r>
                        <a:rPr lang="en-US" sz="1800" b="0" dirty="0">
                          <a:effectLst/>
                          <a:latin typeface="Times New Roman" panose="02020603050405020304" pitchFamily="18" charset="0"/>
                          <a:ea typeface="Palatino Linotype" panose="02040502050505030304" pitchFamily="18" charset="0"/>
                          <a:cs typeface="Times New Roman" panose="02020603050405020304" pitchFamily="18" charset="0"/>
                        </a:rPr>
                        <a:t>]+t4</a:t>
                      </a:r>
                      <a:endParaRPr lang="en-US" sz="1800" b="0"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cxnSp>
        <p:nvCxnSpPr>
          <p:cNvPr id="3" name="Straight Arrow Connector 2">
            <a:extLst>
              <a:ext uri="{FF2B5EF4-FFF2-40B4-BE49-F238E27FC236}">
                <a16:creationId xmlns:a16="http://schemas.microsoft.com/office/drawing/2014/main" id="{BB0452F1-1DA2-41CF-902B-34724B603143}"/>
              </a:ext>
            </a:extLst>
          </p:cNvPr>
          <p:cNvCxnSpPr>
            <a:cxnSpLocks/>
          </p:cNvCxnSpPr>
          <p:nvPr/>
        </p:nvCxnSpPr>
        <p:spPr>
          <a:xfrm>
            <a:off x="4257964" y="4886036"/>
            <a:ext cx="3315854"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3" name="TextBox 12">
            <a:extLst>
              <a:ext uri="{FF2B5EF4-FFF2-40B4-BE49-F238E27FC236}">
                <a16:creationId xmlns:a16="http://schemas.microsoft.com/office/drawing/2014/main" id="{D3261993-BE65-48F7-85A6-EADABD584350}"/>
              </a:ext>
            </a:extLst>
          </p:cNvPr>
          <p:cNvSpPr txBox="1"/>
          <p:nvPr/>
        </p:nvSpPr>
        <p:spPr>
          <a:xfrm>
            <a:off x="4184896" y="4516690"/>
            <a:ext cx="3315854" cy="707886"/>
          </a:xfrm>
          <a:prstGeom prst="rect">
            <a:avLst/>
          </a:prstGeom>
          <a:noFill/>
        </p:spPr>
        <p:txBody>
          <a:bodyPr wrap="square" rtlCol="0">
            <a:spAutoFit/>
          </a:bodyPr>
          <a:lstStyle/>
          <a:p>
            <a:pPr algn="ctr"/>
            <a:r>
              <a:rPr lang="en-US" sz="20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After Common</a:t>
            </a:r>
          </a:p>
          <a:p>
            <a:pPr algn="ctr"/>
            <a:r>
              <a:rPr lang="en-US" sz="20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 sub expressions elimination</a:t>
            </a:r>
            <a:endParaRPr lang="en-IN" sz="2000" dirty="0"/>
          </a:p>
        </p:txBody>
      </p:sp>
    </p:spTree>
    <p:custDataLst>
      <p:tags r:id="rId2"/>
    </p:custDataLst>
    <p:extLst>
      <p:ext uri="{BB962C8B-B14F-4D97-AF65-F5344CB8AC3E}">
        <p14:creationId xmlns:p14="http://schemas.microsoft.com/office/powerpoint/2010/main" val="1694314230"/>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500"/>
                                        <p:tgtEl>
                                          <p:spTgt spid="21">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1">
                                            <p:txEl>
                                              <p:pRg st="1" end="1"/>
                                            </p:txEl>
                                          </p:spTgt>
                                        </p:tgtEl>
                                        <p:attrNameLst>
                                          <p:attrName>style.visibility</p:attrName>
                                        </p:attrNameLst>
                                      </p:cBhvr>
                                      <p:to>
                                        <p:strVal val="visible"/>
                                      </p:to>
                                    </p:set>
                                    <p:animEffect transition="in" filter="wipe(down)">
                                      <p:cBhvr>
                                        <p:cTn id="10" dur="500"/>
                                        <p:tgtEl>
                                          <p:spTgt spid="2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1">
                                            <p:txEl>
                                              <p:pRg st="3" end="3"/>
                                            </p:txEl>
                                          </p:spTgt>
                                        </p:tgtEl>
                                        <p:attrNameLst>
                                          <p:attrName>style.visibility</p:attrName>
                                        </p:attrNameLst>
                                      </p:cBhvr>
                                      <p:to>
                                        <p:strVal val="visible"/>
                                      </p:to>
                                    </p:set>
                                    <p:animEffect transition="in" filter="wipe(down)">
                                      <p:cBhvr>
                                        <p:cTn id="15" dur="500"/>
                                        <p:tgtEl>
                                          <p:spTgt spid="21">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00"/>
                                        <p:tgtEl>
                                          <p:spTgt spid="3"/>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down)">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20770"/>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3. Copy Propagation / Variable Propagation</a:t>
            </a:r>
          </a:p>
        </p:txBody>
      </p:sp>
      <p:sp>
        <p:nvSpPr>
          <p:cNvPr id="21" name="TextBox 20">
            <a:extLst>
              <a:ext uri="{FF2B5EF4-FFF2-40B4-BE49-F238E27FC236}">
                <a16:creationId xmlns:a16="http://schemas.microsoft.com/office/drawing/2014/main" id="{8EB76D95-206D-41CB-905E-8E3FD53E4AC6}"/>
              </a:ext>
            </a:extLst>
          </p:cNvPr>
          <p:cNvSpPr txBox="1"/>
          <p:nvPr/>
        </p:nvSpPr>
        <p:spPr>
          <a:xfrm>
            <a:off x="261091" y="895855"/>
            <a:ext cx="11746181" cy="5850063"/>
          </a:xfrm>
          <a:prstGeom prst="rect">
            <a:avLst/>
          </a:prstGeom>
          <a:noFill/>
        </p:spPr>
        <p:txBody>
          <a:bodyPr wrap="square">
            <a:spAutoFit/>
          </a:bodyPr>
          <a:lstStyle/>
          <a:p>
            <a:pPr marL="342900" lvl="0" indent="-342900" algn="just" defTabSz="914400">
              <a:lnSpc>
                <a:spcPct val="114000"/>
              </a:lnSpc>
              <a:spcBef>
                <a:spcPct val="20000"/>
              </a:spcBef>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Copy propagation means use of one variable instead of another.</a:t>
            </a:r>
          </a:p>
          <a:p>
            <a:pPr marL="342900" lvl="0" indent="-342900" algn="just" defTabSz="914400">
              <a:lnSpc>
                <a:spcPct val="114000"/>
              </a:lnSpc>
              <a:spcBef>
                <a:spcPct val="20000"/>
              </a:spcBef>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Example:</a:t>
            </a: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y = x;</a:t>
            </a: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z = 3 + y;</a:t>
            </a: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a:t>
            </a:r>
          </a:p>
          <a:p>
            <a:pPr lvl="0" algn="just" defTabSz="914400">
              <a:lnSpc>
                <a:spcPct val="114000"/>
              </a:lnSpc>
              <a:spcBef>
                <a:spcPct val="20000"/>
              </a:spcBef>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defTabSz="914400">
              <a:lnSpc>
                <a:spcPct val="114000"/>
              </a:lnSpc>
              <a:spcBef>
                <a:spcPct val="20000"/>
              </a:spcBef>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z = 3 + x;</a:t>
            </a:r>
          </a:p>
          <a:p>
            <a:pPr lvl="0" algn="just" defTabSz="914400">
              <a:lnSpc>
                <a:spcPct val="114000"/>
              </a:lnSpc>
              <a:spcBef>
                <a:spcPct val="20000"/>
              </a:spcBef>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defTabSz="914400">
              <a:lnSpc>
                <a:spcPct val="114000"/>
              </a:lnSpc>
              <a:spcBef>
                <a:spcPct val="20000"/>
              </a:spcBef>
              <a:buFont typeface="Wingdings" panose="05000000000000000000" pitchFamily="2" charset="2"/>
              <a:buChar char="ü"/>
              <a:defRPr/>
            </a:pPr>
            <a:r>
              <a:rPr lang="en-US" sz="2400" dirty="0">
                <a:solidFill>
                  <a:schemeClr val="tx2">
                    <a:lumMod val="50000"/>
                  </a:schemeClr>
                </a:solidFill>
                <a:latin typeface="Times New Roman" panose="02020603050405020304" pitchFamily="18" charset="0"/>
                <a:cs typeface="Times New Roman" panose="02020603050405020304" pitchFamily="18" charset="0"/>
              </a:rPr>
              <a:t>Here the variable y is eliminated. Here the necessary condition is that a variable must be assigned to another variable or some constant.</a:t>
            </a:r>
            <a:endParaRPr lang="en-US" sz="2400" dirty="0">
              <a:solidFill>
                <a:prstClr val="black"/>
              </a:solidFill>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5" name="Down Arrow 3">
            <a:extLst>
              <a:ext uri="{FF2B5EF4-FFF2-40B4-BE49-F238E27FC236}">
                <a16:creationId xmlns:a16="http://schemas.microsoft.com/office/drawing/2014/main" id="{22D7ED35-45F3-4451-A1AB-5D4172222FB3}"/>
              </a:ext>
            </a:extLst>
          </p:cNvPr>
          <p:cNvSpPr/>
          <p:nvPr/>
        </p:nvSpPr>
        <p:spPr>
          <a:xfrm>
            <a:off x="2146872" y="2800476"/>
            <a:ext cx="45719" cy="1600200"/>
          </a:xfrm>
          <a:prstGeom prst="downArrow">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16" name="Straight Connector 15">
            <a:extLst>
              <a:ext uri="{FF2B5EF4-FFF2-40B4-BE49-F238E27FC236}">
                <a16:creationId xmlns:a16="http://schemas.microsoft.com/office/drawing/2014/main" id="{AC8913FB-9ECC-4680-850E-D7D5F6041789}"/>
              </a:ext>
            </a:extLst>
          </p:cNvPr>
          <p:cNvCxnSpPr/>
          <p:nvPr/>
        </p:nvCxnSpPr>
        <p:spPr>
          <a:xfrm>
            <a:off x="1393720" y="2160640"/>
            <a:ext cx="99060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85DCDA8-48A5-4FD9-AA4A-B4605315BAB9}"/>
              </a:ext>
            </a:extLst>
          </p:cNvPr>
          <p:cNvSpPr txBox="1"/>
          <p:nvPr/>
        </p:nvSpPr>
        <p:spPr>
          <a:xfrm>
            <a:off x="2197213" y="3138911"/>
            <a:ext cx="2429553" cy="923330"/>
          </a:xfrm>
          <a:prstGeom prst="rect">
            <a:avLst/>
          </a:prstGeom>
          <a:noFill/>
        </p:spPr>
        <p:txBody>
          <a:bodyPr wrap="square">
            <a:spAutoFit/>
          </a:bodyPr>
          <a:lstStyle/>
          <a:p>
            <a:r>
              <a:rPr lang="en-US" sz="1800" dirty="0">
                <a:solidFill>
                  <a:schemeClr val="accent5">
                    <a:lumMod val="75000"/>
                  </a:schemeClr>
                </a:solidFill>
                <a:effectLst/>
                <a:latin typeface="Times New Roman" panose="02020603050405020304" pitchFamily="18" charset="0"/>
                <a:ea typeface="Arimo"/>
                <a:cs typeface="Times New Roman" panose="02020603050405020304" pitchFamily="18" charset="0"/>
              </a:rPr>
              <a:t>The</a:t>
            </a:r>
            <a:r>
              <a:rPr lang="en-US" sz="1800" spc="-150" dirty="0">
                <a:solidFill>
                  <a:schemeClr val="accent5">
                    <a:lumMod val="75000"/>
                  </a:schemeClr>
                </a:solidFill>
                <a:effectLst/>
                <a:latin typeface="Times New Roman" panose="02020603050405020304" pitchFamily="18" charset="0"/>
                <a:ea typeface="Arimo"/>
                <a:cs typeface="Times New Roman" panose="02020603050405020304" pitchFamily="18" charset="0"/>
              </a:rPr>
              <a:t> </a:t>
            </a:r>
            <a:r>
              <a:rPr lang="en-US" sz="1800" dirty="0">
                <a:solidFill>
                  <a:schemeClr val="accent5">
                    <a:lumMod val="75000"/>
                  </a:schemeClr>
                </a:solidFill>
                <a:effectLst/>
                <a:latin typeface="Times New Roman" panose="02020603050405020304" pitchFamily="18" charset="0"/>
                <a:ea typeface="Arimo"/>
                <a:cs typeface="Times New Roman" panose="02020603050405020304" pitchFamily="18" charset="0"/>
              </a:rPr>
              <a:t>optimization</a:t>
            </a:r>
            <a:r>
              <a:rPr lang="en-US" sz="1800" spc="-145" dirty="0">
                <a:solidFill>
                  <a:schemeClr val="accent5">
                    <a:lumMod val="75000"/>
                  </a:schemeClr>
                </a:solidFill>
                <a:effectLst/>
                <a:latin typeface="Times New Roman" panose="02020603050405020304" pitchFamily="18" charset="0"/>
                <a:ea typeface="Arimo"/>
                <a:cs typeface="Times New Roman" panose="02020603050405020304" pitchFamily="18" charset="0"/>
              </a:rPr>
              <a:t> </a:t>
            </a:r>
            <a:r>
              <a:rPr lang="en-US" sz="1800" dirty="0">
                <a:solidFill>
                  <a:schemeClr val="accent5">
                    <a:lumMod val="75000"/>
                  </a:schemeClr>
                </a:solidFill>
                <a:effectLst/>
                <a:latin typeface="Times New Roman" panose="02020603050405020304" pitchFamily="18" charset="0"/>
                <a:ea typeface="Arimo"/>
                <a:cs typeface="Times New Roman" panose="02020603050405020304" pitchFamily="18" charset="0"/>
              </a:rPr>
              <a:t>using</a:t>
            </a:r>
          </a:p>
          <a:p>
            <a:r>
              <a:rPr lang="en-US" spc="-150" dirty="0">
                <a:solidFill>
                  <a:schemeClr val="accent5">
                    <a:lumMod val="75000"/>
                  </a:schemeClr>
                </a:solidFill>
                <a:latin typeface="Times New Roman" panose="02020603050405020304" pitchFamily="18" charset="0"/>
                <a:ea typeface="Arimo"/>
                <a:cs typeface="Times New Roman" panose="02020603050405020304" pitchFamily="18" charset="0"/>
              </a:rPr>
              <a:t>copy</a:t>
            </a:r>
            <a:r>
              <a:rPr lang="en-US" sz="1800" spc="-150" dirty="0">
                <a:solidFill>
                  <a:schemeClr val="accent5">
                    <a:lumMod val="75000"/>
                  </a:schemeClr>
                </a:solidFill>
                <a:effectLst/>
                <a:latin typeface="Times New Roman" panose="02020603050405020304" pitchFamily="18" charset="0"/>
                <a:ea typeface="Arimo"/>
                <a:cs typeface="Times New Roman" panose="02020603050405020304" pitchFamily="18" charset="0"/>
              </a:rPr>
              <a:t> </a:t>
            </a:r>
            <a:r>
              <a:rPr lang="en-US" sz="1800" dirty="0">
                <a:solidFill>
                  <a:schemeClr val="accent5">
                    <a:lumMod val="75000"/>
                  </a:schemeClr>
                </a:solidFill>
                <a:effectLst/>
                <a:latin typeface="Times New Roman" panose="02020603050405020304" pitchFamily="18" charset="0"/>
                <a:ea typeface="Arimo"/>
                <a:cs typeface="Times New Roman" panose="02020603050405020304" pitchFamily="18" charset="0"/>
              </a:rPr>
              <a:t>propagation</a:t>
            </a:r>
            <a:r>
              <a:rPr lang="en-US" sz="1800" spc="-150" dirty="0">
                <a:solidFill>
                  <a:schemeClr val="accent5">
                    <a:lumMod val="75000"/>
                  </a:schemeClr>
                </a:solidFill>
                <a:effectLst/>
                <a:latin typeface="Times New Roman" panose="02020603050405020304" pitchFamily="18" charset="0"/>
                <a:ea typeface="Arimo"/>
                <a:cs typeface="Times New Roman" panose="02020603050405020304" pitchFamily="18" charset="0"/>
              </a:rPr>
              <a:t> </a:t>
            </a:r>
            <a:r>
              <a:rPr lang="en-US" sz="1800" dirty="0">
                <a:solidFill>
                  <a:schemeClr val="accent5">
                    <a:lumMod val="75000"/>
                  </a:schemeClr>
                </a:solidFill>
                <a:effectLst/>
                <a:latin typeface="Times New Roman" panose="02020603050405020304" pitchFamily="18" charset="0"/>
                <a:ea typeface="Arimo"/>
                <a:cs typeface="Times New Roman" panose="02020603050405020304" pitchFamily="18" charset="0"/>
              </a:rPr>
              <a:t>can</a:t>
            </a:r>
            <a:r>
              <a:rPr lang="en-US" sz="1800" spc="-150" dirty="0">
                <a:solidFill>
                  <a:schemeClr val="accent5">
                    <a:lumMod val="75000"/>
                  </a:schemeClr>
                </a:solidFill>
                <a:effectLst/>
                <a:latin typeface="Times New Roman" panose="02020603050405020304" pitchFamily="18" charset="0"/>
                <a:ea typeface="Arimo"/>
                <a:cs typeface="Times New Roman" panose="02020603050405020304" pitchFamily="18" charset="0"/>
              </a:rPr>
              <a:t> </a:t>
            </a:r>
            <a:r>
              <a:rPr lang="en-US" sz="1800" dirty="0">
                <a:solidFill>
                  <a:schemeClr val="accent5">
                    <a:lumMod val="75000"/>
                  </a:schemeClr>
                </a:solidFill>
                <a:effectLst/>
                <a:latin typeface="Times New Roman" panose="02020603050405020304" pitchFamily="18" charset="0"/>
                <a:ea typeface="Arimo"/>
                <a:cs typeface="Times New Roman" panose="02020603050405020304" pitchFamily="18" charset="0"/>
              </a:rPr>
              <a:t>be</a:t>
            </a:r>
          </a:p>
          <a:p>
            <a:r>
              <a:rPr lang="en-US" sz="1800" dirty="0">
                <a:solidFill>
                  <a:schemeClr val="accent5">
                    <a:lumMod val="75000"/>
                  </a:schemeClr>
                </a:solidFill>
                <a:effectLst/>
                <a:latin typeface="Times New Roman" panose="02020603050405020304" pitchFamily="18" charset="0"/>
                <a:ea typeface="Arimo"/>
                <a:cs typeface="Times New Roman" panose="02020603050405020304" pitchFamily="18" charset="0"/>
              </a:rPr>
              <a:t>done</a:t>
            </a:r>
            <a:r>
              <a:rPr lang="en-US" sz="1800" spc="-145" dirty="0">
                <a:solidFill>
                  <a:schemeClr val="accent5">
                    <a:lumMod val="75000"/>
                  </a:schemeClr>
                </a:solidFill>
                <a:effectLst/>
                <a:latin typeface="Times New Roman" panose="02020603050405020304" pitchFamily="18" charset="0"/>
                <a:ea typeface="Arimo"/>
                <a:cs typeface="Times New Roman" panose="02020603050405020304" pitchFamily="18" charset="0"/>
              </a:rPr>
              <a:t> </a:t>
            </a:r>
            <a:r>
              <a:rPr lang="en-US" sz="1800" dirty="0">
                <a:solidFill>
                  <a:schemeClr val="accent5">
                    <a:lumMod val="75000"/>
                  </a:schemeClr>
                </a:solidFill>
                <a:effectLst/>
                <a:latin typeface="Times New Roman" panose="02020603050405020304" pitchFamily="18" charset="0"/>
                <a:ea typeface="Arimo"/>
                <a:cs typeface="Times New Roman" panose="02020603050405020304" pitchFamily="18" charset="0"/>
              </a:rPr>
              <a:t>as</a:t>
            </a:r>
            <a:r>
              <a:rPr lang="en-US" sz="1800" spc="-150" dirty="0">
                <a:solidFill>
                  <a:schemeClr val="accent5">
                    <a:lumMod val="75000"/>
                  </a:schemeClr>
                </a:solidFill>
                <a:effectLst/>
                <a:latin typeface="Times New Roman" panose="02020603050405020304" pitchFamily="18" charset="0"/>
                <a:ea typeface="Arimo"/>
                <a:cs typeface="Times New Roman" panose="02020603050405020304" pitchFamily="18" charset="0"/>
              </a:rPr>
              <a:t> </a:t>
            </a:r>
            <a:endParaRPr lang="en-IN" dirty="0">
              <a:solidFill>
                <a:schemeClr val="accent5">
                  <a:lumMod val="75000"/>
                </a:schemeClr>
              </a:solidFill>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2019371394"/>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wipe(down)">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wipe(down)">
                                      <p:cBhvr>
                                        <p:cTn id="17" dur="500"/>
                                        <p:tgtEl>
                                          <p:spTgt spid="21">
                                            <p:txEl>
                                              <p:pRg st="2" end="2"/>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21">
                                            <p:txEl>
                                              <p:pRg st="3" end="3"/>
                                            </p:txEl>
                                          </p:spTgt>
                                        </p:tgtEl>
                                        <p:attrNameLst>
                                          <p:attrName>style.visibility</p:attrName>
                                        </p:attrNameLst>
                                      </p:cBhvr>
                                      <p:to>
                                        <p:strVal val="visible"/>
                                      </p:to>
                                    </p:set>
                                    <p:animEffect transition="in" filter="wipe(down)">
                                      <p:cBhvr>
                                        <p:cTn id="20" dur="500"/>
                                        <p:tgtEl>
                                          <p:spTgt spid="2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up)">
                                      <p:cBhvr>
                                        <p:cTn id="25" dur="500"/>
                                        <p:tgtEl>
                                          <p:spTgt spid="1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par>
                                <p:cTn id="34" presetID="22" presetClass="entr" presetSubtype="4" fill="hold" nodeType="withEffect">
                                  <p:stCondLst>
                                    <p:cond delay="0"/>
                                  </p:stCondLst>
                                  <p:childTnLst>
                                    <p:set>
                                      <p:cBhvr>
                                        <p:cTn id="35" dur="1" fill="hold">
                                          <p:stCondLst>
                                            <p:cond delay="0"/>
                                          </p:stCondLst>
                                        </p:cTn>
                                        <p:tgtEl>
                                          <p:spTgt spid="21">
                                            <p:txEl>
                                              <p:pRg st="7" end="7"/>
                                            </p:txEl>
                                          </p:spTgt>
                                        </p:tgtEl>
                                        <p:attrNameLst>
                                          <p:attrName>style.visibility</p:attrName>
                                        </p:attrNameLst>
                                      </p:cBhvr>
                                      <p:to>
                                        <p:strVal val="visible"/>
                                      </p:to>
                                    </p:set>
                                    <p:animEffect transition="in" filter="wipe(down)">
                                      <p:cBhvr>
                                        <p:cTn id="36" dur="500"/>
                                        <p:tgtEl>
                                          <p:spTgt spid="21">
                                            <p:txEl>
                                              <p:pRg st="7" end="7"/>
                                            </p:txEl>
                                          </p:spTgt>
                                        </p:tgtEl>
                                      </p:cBhvr>
                                    </p:animEffect>
                                  </p:childTnLst>
                                </p:cTn>
                              </p:par>
                              <p:par>
                                <p:cTn id="37" presetID="22" presetClass="entr" presetSubtype="4" fill="hold" nodeType="withEffect">
                                  <p:stCondLst>
                                    <p:cond delay="0"/>
                                  </p:stCondLst>
                                  <p:childTnLst>
                                    <p:set>
                                      <p:cBhvr>
                                        <p:cTn id="38" dur="1" fill="hold">
                                          <p:stCondLst>
                                            <p:cond delay="0"/>
                                          </p:stCondLst>
                                        </p:cTn>
                                        <p:tgtEl>
                                          <p:spTgt spid="21">
                                            <p:txEl>
                                              <p:pRg st="9" end="9"/>
                                            </p:txEl>
                                          </p:spTgt>
                                        </p:tgtEl>
                                        <p:attrNameLst>
                                          <p:attrName>style.visibility</p:attrName>
                                        </p:attrNameLst>
                                      </p:cBhvr>
                                      <p:to>
                                        <p:strVal val="visible"/>
                                      </p:to>
                                    </p:set>
                                    <p:animEffect transition="in" filter="wipe(down)">
                                      <p:cBhvr>
                                        <p:cTn id="39" dur="500"/>
                                        <p:tgtEl>
                                          <p:spTgt spid="2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20770"/>
            <a:ext cx="11813146"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4. Code movement / Loop invariant (Frequency reduction)</a:t>
            </a:r>
          </a:p>
        </p:txBody>
      </p:sp>
      <p:sp>
        <p:nvSpPr>
          <p:cNvPr id="21" name="TextBox 20">
            <a:extLst>
              <a:ext uri="{FF2B5EF4-FFF2-40B4-BE49-F238E27FC236}">
                <a16:creationId xmlns:a16="http://schemas.microsoft.com/office/drawing/2014/main" id="{8EB76D95-206D-41CB-905E-8E3FD53E4AC6}"/>
              </a:ext>
            </a:extLst>
          </p:cNvPr>
          <p:cNvSpPr txBox="1"/>
          <p:nvPr/>
        </p:nvSpPr>
        <p:spPr>
          <a:xfrm>
            <a:off x="261091" y="895855"/>
            <a:ext cx="11746181" cy="5482976"/>
          </a:xfrm>
          <a:prstGeom prst="rect">
            <a:avLst/>
          </a:prstGeom>
          <a:noFill/>
        </p:spPr>
        <p:txBody>
          <a:bodyPr wrap="square">
            <a:spAutoFit/>
          </a:bodyPr>
          <a:lstStyle/>
          <a:p>
            <a:pPr marL="342900" lvl="0" indent="-342900" algn="just" defTabSz="914400">
              <a:lnSpc>
                <a:spcPct val="114000"/>
              </a:lnSpc>
              <a:spcBef>
                <a:spcPct val="20000"/>
              </a:spcBef>
              <a:buFont typeface="Wingdings" panose="05000000000000000000" pitchFamily="2" charset="2"/>
              <a:buChar char="ü"/>
              <a:defRPr/>
            </a:pPr>
            <a:r>
              <a:rPr lang="en-US" sz="2800" dirty="0">
                <a:solidFill>
                  <a:prstClr val="black"/>
                </a:solidFill>
                <a:latin typeface="Times New Roman" panose="02020603050405020304" pitchFamily="18" charset="0"/>
                <a:cs typeface="Times New Roman" panose="02020603050405020304" pitchFamily="18" charset="0"/>
              </a:rPr>
              <a:t>There are two basic goals of code movement:</a:t>
            </a:r>
          </a:p>
          <a:p>
            <a:pPr lvl="0" algn="just" defTabSz="914400">
              <a:lnSpc>
                <a:spcPct val="114000"/>
              </a:lnSpc>
              <a:spcBef>
                <a:spcPct val="20000"/>
              </a:spcBef>
              <a:defRPr/>
            </a:pPr>
            <a:r>
              <a:rPr lang="en-US" sz="2800" dirty="0">
                <a:solidFill>
                  <a:prstClr val="black"/>
                </a:solidFill>
                <a:latin typeface="Times New Roman" panose="02020603050405020304" pitchFamily="18" charset="0"/>
                <a:cs typeface="Times New Roman" panose="02020603050405020304" pitchFamily="18" charset="0"/>
              </a:rPr>
              <a:t>        I.	To reduce the size of the code.</a:t>
            </a:r>
          </a:p>
          <a:p>
            <a:pPr lvl="0" algn="just" defTabSz="914400">
              <a:lnSpc>
                <a:spcPct val="114000"/>
              </a:lnSpc>
              <a:spcBef>
                <a:spcPct val="20000"/>
              </a:spcBef>
              <a:defRPr/>
            </a:pPr>
            <a:r>
              <a:rPr lang="en-US" sz="2800" dirty="0">
                <a:solidFill>
                  <a:prstClr val="black"/>
                </a:solidFill>
                <a:latin typeface="Times New Roman" panose="02020603050405020304" pitchFamily="18" charset="0"/>
                <a:cs typeface="Times New Roman" panose="02020603050405020304" pitchFamily="18" charset="0"/>
              </a:rPr>
              <a:t>       II.	To reduce the frequency of execution of code.</a:t>
            </a:r>
          </a:p>
          <a:p>
            <a:pPr lvl="0" algn="just" defTabSz="914400">
              <a:lnSpc>
                <a:spcPct val="114000"/>
              </a:lnSpc>
              <a:spcBef>
                <a:spcPct val="20000"/>
              </a:spcBef>
              <a:defRPr/>
            </a:pPr>
            <a:endParaRPr lang="en-US" sz="2800" dirty="0">
              <a:solidFill>
                <a:prstClr val="black"/>
              </a:solidFill>
              <a:latin typeface="Times New Roman" panose="02020603050405020304" pitchFamily="18" charset="0"/>
              <a:cs typeface="Times New Roman" panose="02020603050405020304" pitchFamily="18" charset="0"/>
            </a:endParaRPr>
          </a:p>
          <a:p>
            <a:pPr marL="342900" lvl="0" indent="-342900" algn="just" defTabSz="914400">
              <a:lnSpc>
                <a:spcPct val="114000"/>
              </a:lnSpc>
              <a:spcBef>
                <a:spcPct val="20000"/>
              </a:spcBef>
              <a:buFont typeface="Wingdings" panose="05000000000000000000" pitchFamily="2" charset="2"/>
              <a:buChar char="ü"/>
              <a:defRPr/>
            </a:pPr>
            <a:r>
              <a:rPr lang="en-US" sz="2800" dirty="0">
                <a:solidFill>
                  <a:prstClr val="black"/>
                </a:solidFill>
                <a:latin typeface="Times New Roman" panose="02020603050405020304" pitchFamily="18" charset="0"/>
                <a:cs typeface="Times New Roman" panose="02020603050405020304" pitchFamily="18" charset="0"/>
              </a:rPr>
              <a:t>Loop invariant optimization can be obtained by moving some amount of code outside the loop and placing it just before entering in the loop.</a:t>
            </a:r>
          </a:p>
          <a:p>
            <a:pPr marL="342900" lvl="0" indent="-342900" algn="just" defTabSz="914400">
              <a:lnSpc>
                <a:spcPct val="114000"/>
              </a:lnSpc>
              <a:spcBef>
                <a:spcPct val="20000"/>
              </a:spcBef>
              <a:buFont typeface="Wingdings" panose="05000000000000000000" pitchFamily="2" charset="2"/>
              <a:buChar char="ü"/>
              <a:defRPr/>
            </a:pPr>
            <a:r>
              <a:rPr lang="en-US" sz="2800" dirty="0">
                <a:solidFill>
                  <a:prstClr val="black"/>
                </a:solidFill>
                <a:latin typeface="Times New Roman" panose="02020603050405020304" pitchFamily="18" charset="0"/>
                <a:cs typeface="Times New Roman" panose="02020603050405020304" pitchFamily="18" charset="0"/>
              </a:rPr>
              <a:t>Execution time of a program can be reduced by moving code from a part of a program which is executed very frequently to another part of the program which is executed fewer times.</a:t>
            </a:r>
          </a:p>
          <a:p>
            <a:pPr marL="342900" lvl="0" indent="-342900" algn="just" defTabSz="914400">
              <a:lnSpc>
                <a:spcPct val="114000"/>
              </a:lnSpc>
              <a:spcBef>
                <a:spcPct val="20000"/>
              </a:spcBef>
              <a:buFont typeface="Wingdings" panose="05000000000000000000" pitchFamily="2" charset="2"/>
              <a:buChar char="ü"/>
              <a:defRPr/>
            </a:pPr>
            <a:r>
              <a:rPr lang="en-US" sz="2800" dirty="0">
                <a:solidFill>
                  <a:prstClr val="black"/>
                </a:solidFill>
                <a:latin typeface="Times New Roman" panose="02020603050405020304" pitchFamily="18" charset="0"/>
                <a:cs typeface="Times New Roman" panose="02020603050405020304" pitchFamily="18" charset="0"/>
              </a:rPr>
              <a:t>This method is also called code movement / code motion.  </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1023684540"/>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500"/>
                                        <p:tgtEl>
                                          <p:spTgt spid="21">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1">
                                            <p:txEl>
                                              <p:pRg st="1" end="1"/>
                                            </p:txEl>
                                          </p:spTgt>
                                        </p:tgtEl>
                                        <p:attrNameLst>
                                          <p:attrName>style.visibility</p:attrName>
                                        </p:attrNameLst>
                                      </p:cBhvr>
                                      <p:to>
                                        <p:strVal val="visible"/>
                                      </p:to>
                                    </p:set>
                                    <p:animEffect transition="in" filter="wipe(down)">
                                      <p:cBhvr>
                                        <p:cTn id="10" dur="500"/>
                                        <p:tgtEl>
                                          <p:spTgt spid="21">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1">
                                            <p:txEl>
                                              <p:pRg st="2" end="2"/>
                                            </p:txEl>
                                          </p:spTgt>
                                        </p:tgtEl>
                                        <p:attrNameLst>
                                          <p:attrName>style.visibility</p:attrName>
                                        </p:attrNameLst>
                                      </p:cBhvr>
                                      <p:to>
                                        <p:strVal val="visible"/>
                                      </p:to>
                                    </p:set>
                                    <p:animEffect transition="in" filter="wipe(down)">
                                      <p:cBhvr>
                                        <p:cTn id="13" dur="500"/>
                                        <p:tgtEl>
                                          <p:spTgt spid="2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1">
                                            <p:txEl>
                                              <p:pRg st="4" end="4"/>
                                            </p:txEl>
                                          </p:spTgt>
                                        </p:tgtEl>
                                        <p:attrNameLst>
                                          <p:attrName>style.visibility</p:attrName>
                                        </p:attrNameLst>
                                      </p:cBhvr>
                                      <p:to>
                                        <p:strVal val="visible"/>
                                      </p:to>
                                    </p:set>
                                    <p:animEffect transition="in" filter="wipe(down)">
                                      <p:cBhvr>
                                        <p:cTn id="18" dur="500"/>
                                        <p:tgtEl>
                                          <p:spTgt spid="21">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21">
                                            <p:txEl>
                                              <p:pRg st="5" end="5"/>
                                            </p:txEl>
                                          </p:spTgt>
                                        </p:tgtEl>
                                        <p:attrNameLst>
                                          <p:attrName>style.visibility</p:attrName>
                                        </p:attrNameLst>
                                      </p:cBhvr>
                                      <p:to>
                                        <p:strVal val="visible"/>
                                      </p:to>
                                    </p:set>
                                    <p:animEffect transition="in" filter="wipe(down)">
                                      <p:cBhvr>
                                        <p:cTn id="21" dur="500"/>
                                        <p:tgtEl>
                                          <p:spTgt spid="21">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21">
                                            <p:txEl>
                                              <p:pRg st="6" end="6"/>
                                            </p:txEl>
                                          </p:spTgt>
                                        </p:tgtEl>
                                        <p:attrNameLst>
                                          <p:attrName>style.visibility</p:attrName>
                                        </p:attrNameLst>
                                      </p:cBhvr>
                                      <p:to>
                                        <p:strVal val="visible"/>
                                      </p:to>
                                    </p:set>
                                    <p:animEffect transition="in" filter="wipe(down)">
                                      <p:cBhvr>
                                        <p:cTn id="24" dur="500"/>
                                        <p:tgtEl>
                                          <p:spTgt spid="2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20770"/>
            <a:ext cx="11813146"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4. Code movement / Loop invariant (Frequency reduction)</a:t>
            </a:r>
          </a:p>
        </p:txBody>
      </p:sp>
      <p:sp>
        <p:nvSpPr>
          <p:cNvPr id="21" name="TextBox 20">
            <a:extLst>
              <a:ext uri="{FF2B5EF4-FFF2-40B4-BE49-F238E27FC236}">
                <a16:creationId xmlns:a16="http://schemas.microsoft.com/office/drawing/2014/main" id="{8EB76D95-206D-41CB-905E-8E3FD53E4AC6}"/>
              </a:ext>
            </a:extLst>
          </p:cNvPr>
          <p:cNvSpPr txBox="1"/>
          <p:nvPr/>
        </p:nvSpPr>
        <p:spPr>
          <a:xfrm>
            <a:off x="261091" y="895855"/>
            <a:ext cx="11746181" cy="544893"/>
          </a:xfrm>
          <a:prstGeom prst="rect">
            <a:avLst/>
          </a:prstGeom>
          <a:noFill/>
        </p:spPr>
        <p:txBody>
          <a:bodyPr wrap="square">
            <a:spAutoFit/>
          </a:bodyPr>
          <a:lstStyle/>
          <a:p>
            <a:pPr marL="457200" lvl="0" indent="-457200" algn="just" defTabSz="914400">
              <a:lnSpc>
                <a:spcPct val="114000"/>
              </a:lnSpc>
              <a:spcBef>
                <a:spcPct val="20000"/>
              </a:spcBef>
              <a:buFont typeface="Wingdings" panose="05000000000000000000" pitchFamily="2" charset="2"/>
              <a:buChar char="§"/>
              <a:defRPr/>
            </a:pPr>
            <a:r>
              <a:rPr lang="en-US" sz="2800" dirty="0">
                <a:solidFill>
                  <a:prstClr val="black"/>
                </a:solidFill>
                <a:latin typeface="Times New Roman" panose="02020603050405020304" pitchFamily="18" charset="0"/>
                <a:cs typeface="Times New Roman" panose="02020603050405020304" pitchFamily="18" charset="0"/>
              </a:rPr>
              <a:t>Example:</a:t>
            </a:r>
          </a:p>
        </p:txBody>
      </p:sp>
      <p:sp>
        <p:nvSpPr>
          <p:cNvPr id="2" name="TextBox 1">
            <a:extLst>
              <a:ext uri="{FF2B5EF4-FFF2-40B4-BE49-F238E27FC236}">
                <a16:creationId xmlns:a16="http://schemas.microsoft.com/office/drawing/2014/main" id="{DBEC2F32-EA41-4109-A240-E722BB3AA77A}"/>
              </a:ext>
            </a:extLst>
          </p:cNvPr>
          <p:cNvSpPr txBox="1"/>
          <p:nvPr/>
        </p:nvSpPr>
        <p:spPr>
          <a:xfrm>
            <a:off x="598620" y="1887793"/>
            <a:ext cx="3540761" cy="3357073"/>
          </a:xfrm>
          <a:prstGeom prst="rect">
            <a:avLst/>
          </a:prstGeom>
          <a:noFill/>
          <a:ln w="57150">
            <a:solidFill>
              <a:schemeClr val="accent5">
                <a:lumMod val="60000"/>
                <a:lumOff val="40000"/>
              </a:schemeClr>
            </a:solidFill>
          </a:ln>
        </p:spPr>
        <p:txBody>
          <a:bodyPr wrap="square" rtlCol="0">
            <a:spAutoFit/>
          </a:bodyPr>
          <a:lstStyle/>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for (</a:t>
            </a:r>
            <a:r>
              <a:rPr lang="en-US" sz="2400" dirty="0" err="1">
                <a:solidFill>
                  <a:prstClr val="black"/>
                </a:solidFill>
                <a:latin typeface="Times New Roman" panose="02020603050405020304" pitchFamily="18" charset="0"/>
                <a:cs typeface="Times New Roman" panose="02020603050405020304" pitchFamily="18" charset="0"/>
              </a:rPr>
              <a:t>i</a:t>
            </a:r>
            <a:r>
              <a:rPr lang="en-US" sz="2400" dirty="0">
                <a:solidFill>
                  <a:prstClr val="black"/>
                </a:solidFill>
                <a:latin typeface="Times New Roman" panose="02020603050405020304" pitchFamily="18" charset="0"/>
                <a:cs typeface="Times New Roman" panose="02020603050405020304" pitchFamily="18" charset="0"/>
              </a:rPr>
              <a:t>=1; </a:t>
            </a:r>
            <a:r>
              <a:rPr lang="en-US" sz="2400" dirty="0" err="1">
                <a:solidFill>
                  <a:prstClr val="black"/>
                </a:solidFill>
                <a:latin typeface="Times New Roman" panose="02020603050405020304" pitchFamily="18" charset="0"/>
                <a:cs typeface="Times New Roman" panose="02020603050405020304" pitchFamily="18" charset="0"/>
              </a:rPr>
              <a:t>i</a:t>
            </a:r>
            <a:r>
              <a:rPr lang="en-US" sz="2400" dirty="0">
                <a:solidFill>
                  <a:prstClr val="black"/>
                </a:solidFill>
                <a:latin typeface="Times New Roman" panose="02020603050405020304" pitchFamily="18" charset="0"/>
                <a:cs typeface="Times New Roman" panose="02020603050405020304" pitchFamily="18" charset="0"/>
              </a:rPr>
              <a:t> &lt;= 100 ; </a:t>
            </a:r>
            <a:r>
              <a:rPr lang="en-US" sz="2400" dirty="0" err="1">
                <a:solidFill>
                  <a:prstClr val="black"/>
                </a:solidFill>
                <a:latin typeface="Times New Roman" panose="02020603050405020304" pitchFamily="18" charset="0"/>
                <a:cs typeface="Times New Roman" panose="02020603050405020304" pitchFamily="18" charset="0"/>
              </a:rPr>
              <a:t>i</a:t>
            </a:r>
            <a:r>
              <a:rPr lang="en-US" sz="2400" dirty="0">
                <a:solidFill>
                  <a:prstClr val="black"/>
                </a:solidFill>
                <a:latin typeface="Times New Roman" panose="02020603050405020304" pitchFamily="18" charset="0"/>
                <a:cs typeface="Times New Roman" panose="02020603050405020304" pitchFamily="18" charset="0"/>
              </a:rPr>
              <a:t>++)</a:t>
            </a: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a:t>
            </a: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z = </a:t>
            </a:r>
            <a:r>
              <a:rPr lang="en-US" sz="2400" dirty="0" err="1">
                <a:solidFill>
                  <a:prstClr val="black"/>
                </a:solidFill>
                <a:latin typeface="Times New Roman" panose="02020603050405020304" pitchFamily="18" charset="0"/>
                <a:cs typeface="Times New Roman" panose="02020603050405020304" pitchFamily="18" charset="0"/>
              </a:rPr>
              <a:t>i</a:t>
            </a:r>
            <a:r>
              <a:rPr lang="en-US" sz="2400" dirty="0">
                <a:solidFill>
                  <a:prstClr val="black"/>
                </a:solidFill>
                <a:latin typeface="Times New Roman" panose="02020603050405020304" pitchFamily="18" charset="0"/>
                <a:cs typeface="Times New Roman" panose="02020603050405020304" pitchFamily="18" charset="0"/>
              </a:rPr>
              <a:t> ;</a:t>
            </a: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x = 25 * a ;</a:t>
            </a:r>
          </a:p>
          <a:p>
            <a:pPr lvl="0" algn="just" defTabSz="914400">
              <a:lnSpc>
                <a:spcPct val="114000"/>
              </a:lnSpc>
              <a:spcBef>
                <a:spcPct val="20000"/>
              </a:spcBef>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y</a:t>
            </a:r>
            <a:r>
              <a:rPr kumimoji="0" lang="en-US" sz="2400" b="0"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 x + z ;</a:t>
            </a:r>
          </a:p>
          <a:p>
            <a:pPr lvl="0" algn="just" defTabSz="914400">
              <a:lnSpc>
                <a:spcPct val="114000"/>
              </a:lnSpc>
              <a:spcBef>
                <a:spcPct val="20000"/>
              </a:spcBef>
              <a:defRPr/>
            </a:pPr>
            <a:r>
              <a:rPr lang="en-US" sz="2400" baseline="0" dirty="0">
                <a:solidFill>
                  <a:prstClr val="black"/>
                </a:solidFill>
                <a:latin typeface="Times New Roman" panose="02020603050405020304" pitchFamily="18" charset="0"/>
                <a:cs typeface="Times New Roman" panose="02020603050405020304" pitchFamily="18" charset="0"/>
              </a:rPr>
              <a:t>	}</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endParaRPr lang="en-IN" sz="2400" dirty="0"/>
          </a:p>
        </p:txBody>
      </p:sp>
      <p:sp>
        <p:nvSpPr>
          <p:cNvPr id="3" name="TextBox 2">
            <a:extLst>
              <a:ext uri="{FF2B5EF4-FFF2-40B4-BE49-F238E27FC236}">
                <a16:creationId xmlns:a16="http://schemas.microsoft.com/office/drawing/2014/main" id="{0D837E08-3F11-4D7C-AE34-AA491F42D53E}"/>
              </a:ext>
            </a:extLst>
          </p:cNvPr>
          <p:cNvSpPr txBox="1"/>
          <p:nvPr/>
        </p:nvSpPr>
        <p:spPr>
          <a:xfrm>
            <a:off x="8052619" y="2290915"/>
            <a:ext cx="3540761" cy="2862194"/>
          </a:xfrm>
          <a:prstGeom prst="rect">
            <a:avLst/>
          </a:prstGeom>
          <a:noFill/>
          <a:ln w="38100">
            <a:solidFill>
              <a:schemeClr val="accent5">
                <a:lumMod val="60000"/>
                <a:lumOff val="40000"/>
              </a:schemeClr>
            </a:solidFill>
          </a:ln>
        </p:spPr>
        <p:txBody>
          <a:bodyPr wrap="square" rtlCol="0">
            <a:spAutoFit/>
          </a:bodyPr>
          <a:lstStyle/>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for (</a:t>
            </a:r>
            <a:r>
              <a:rPr lang="en-US" sz="2400" dirty="0" err="1">
                <a:solidFill>
                  <a:prstClr val="black"/>
                </a:solidFill>
                <a:latin typeface="Times New Roman" panose="02020603050405020304" pitchFamily="18" charset="0"/>
                <a:cs typeface="Times New Roman" panose="02020603050405020304" pitchFamily="18" charset="0"/>
              </a:rPr>
              <a:t>i</a:t>
            </a:r>
            <a:r>
              <a:rPr lang="en-US" sz="2400" dirty="0">
                <a:solidFill>
                  <a:prstClr val="black"/>
                </a:solidFill>
                <a:latin typeface="Times New Roman" panose="02020603050405020304" pitchFamily="18" charset="0"/>
                <a:cs typeface="Times New Roman" panose="02020603050405020304" pitchFamily="18" charset="0"/>
              </a:rPr>
              <a:t>=1; </a:t>
            </a:r>
            <a:r>
              <a:rPr lang="en-US" sz="2400" dirty="0" err="1">
                <a:solidFill>
                  <a:prstClr val="black"/>
                </a:solidFill>
                <a:latin typeface="Times New Roman" panose="02020603050405020304" pitchFamily="18" charset="0"/>
                <a:cs typeface="Times New Roman" panose="02020603050405020304" pitchFamily="18" charset="0"/>
              </a:rPr>
              <a:t>i</a:t>
            </a:r>
            <a:r>
              <a:rPr lang="en-US" sz="2400" dirty="0">
                <a:solidFill>
                  <a:prstClr val="black"/>
                </a:solidFill>
                <a:latin typeface="Times New Roman" panose="02020603050405020304" pitchFamily="18" charset="0"/>
                <a:cs typeface="Times New Roman" panose="02020603050405020304" pitchFamily="18" charset="0"/>
              </a:rPr>
              <a:t> &lt;= 100 ; </a:t>
            </a:r>
            <a:r>
              <a:rPr lang="en-US" sz="2400" dirty="0" err="1">
                <a:solidFill>
                  <a:prstClr val="black"/>
                </a:solidFill>
                <a:latin typeface="Times New Roman" panose="02020603050405020304" pitchFamily="18" charset="0"/>
                <a:cs typeface="Times New Roman" panose="02020603050405020304" pitchFamily="18" charset="0"/>
              </a:rPr>
              <a:t>i</a:t>
            </a:r>
            <a:r>
              <a:rPr lang="en-US" sz="2400" dirty="0">
                <a:solidFill>
                  <a:prstClr val="black"/>
                </a:solidFill>
                <a:latin typeface="Times New Roman" panose="02020603050405020304" pitchFamily="18" charset="0"/>
                <a:cs typeface="Times New Roman" panose="02020603050405020304" pitchFamily="18" charset="0"/>
              </a:rPr>
              <a:t>++)</a:t>
            </a: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a:t>
            </a: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z = </a:t>
            </a:r>
            <a:r>
              <a:rPr lang="en-US" sz="2400" dirty="0" err="1">
                <a:solidFill>
                  <a:prstClr val="black"/>
                </a:solidFill>
                <a:latin typeface="Times New Roman" panose="02020603050405020304" pitchFamily="18" charset="0"/>
                <a:cs typeface="Times New Roman" panose="02020603050405020304" pitchFamily="18" charset="0"/>
              </a:rPr>
              <a:t>i</a:t>
            </a:r>
            <a:r>
              <a:rPr lang="en-US" sz="2400" dirty="0">
                <a:solidFill>
                  <a:prstClr val="black"/>
                </a:solidFill>
                <a:latin typeface="Times New Roman" panose="02020603050405020304" pitchFamily="18" charset="0"/>
                <a:cs typeface="Times New Roman" panose="02020603050405020304" pitchFamily="18" charset="0"/>
              </a:rPr>
              <a:t> ;</a:t>
            </a:r>
          </a:p>
          <a:p>
            <a:pPr lvl="0" algn="just" defTabSz="914400">
              <a:lnSpc>
                <a:spcPct val="114000"/>
              </a:lnSpc>
              <a:spcBef>
                <a:spcPct val="20000"/>
              </a:spcBef>
              <a:defRPr/>
            </a:pPr>
            <a:r>
              <a:rPr lang="en-US" sz="2400" dirty="0">
                <a:solidFill>
                  <a:prstClr val="black"/>
                </a:solidFill>
                <a:latin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y</a:t>
            </a:r>
            <a:r>
              <a:rPr kumimoji="0" lang="en-US" sz="2400" b="0"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 x + z ;</a:t>
            </a:r>
          </a:p>
          <a:p>
            <a:pPr lvl="0" algn="just" defTabSz="914400">
              <a:lnSpc>
                <a:spcPct val="114000"/>
              </a:lnSpc>
              <a:spcBef>
                <a:spcPct val="20000"/>
              </a:spcBef>
              <a:defRPr/>
            </a:pPr>
            <a:r>
              <a:rPr lang="en-US" sz="2400" baseline="0" dirty="0">
                <a:solidFill>
                  <a:prstClr val="black"/>
                </a:solidFill>
                <a:latin typeface="Times New Roman" panose="02020603050405020304" pitchFamily="18" charset="0"/>
                <a:cs typeface="Times New Roman" panose="02020603050405020304" pitchFamily="18" charset="0"/>
              </a:rPr>
              <a:t>	}</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endParaRPr lang="en-IN" sz="2400" dirty="0"/>
          </a:p>
        </p:txBody>
      </p:sp>
      <p:sp>
        <p:nvSpPr>
          <p:cNvPr id="5" name="TextBox 4">
            <a:extLst>
              <a:ext uri="{FF2B5EF4-FFF2-40B4-BE49-F238E27FC236}">
                <a16:creationId xmlns:a16="http://schemas.microsoft.com/office/drawing/2014/main" id="{24254816-5FFF-43DC-833D-4E4D46258D32}"/>
              </a:ext>
            </a:extLst>
          </p:cNvPr>
          <p:cNvSpPr txBox="1"/>
          <p:nvPr/>
        </p:nvSpPr>
        <p:spPr>
          <a:xfrm>
            <a:off x="8052619" y="1687517"/>
            <a:ext cx="1676401" cy="461665"/>
          </a:xfrm>
          <a:prstGeom prst="rect">
            <a:avLst/>
          </a:prstGeom>
          <a:noFill/>
          <a:ln>
            <a:solidFill>
              <a:schemeClr val="tx1"/>
            </a:solidFill>
          </a:ln>
        </p:spPr>
        <p:txBody>
          <a:bodyPr wrap="square" rtlCol="0">
            <a:spAutoFit/>
          </a:bodyPr>
          <a:lstStyle/>
          <a:p>
            <a:r>
              <a:rPr lang="en-IN" sz="2400" dirty="0">
                <a:solidFill>
                  <a:srgbClr val="C00000"/>
                </a:solidFill>
                <a:latin typeface="Times New Roman" panose="02020603050405020304" pitchFamily="18" charset="0"/>
                <a:cs typeface="Times New Roman" panose="02020603050405020304" pitchFamily="18" charset="0"/>
              </a:rPr>
              <a:t>x = 25 * a ;</a:t>
            </a:r>
          </a:p>
        </p:txBody>
      </p:sp>
      <p:cxnSp>
        <p:nvCxnSpPr>
          <p:cNvPr id="14" name="Straight Arrow Connector 13">
            <a:extLst>
              <a:ext uri="{FF2B5EF4-FFF2-40B4-BE49-F238E27FC236}">
                <a16:creationId xmlns:a16="http://schemas.microsoft.com/office/drawing/2014/main" id="{028E92DB-E4A8-4E77-A596-35E6488518FE}"/>
              </a:ext>
            </a:extLst>
          </p:cNvPr>
          <p:cNvCxnSpPr>
            <a:cxnSpLocks/>
          </p:cNvCxnSpPr>
          <p:nvPr/>
        </p:nvCxnSpPr>
        <p:spPr>
          <a:xfrm>
            <a:off x="4237703" y="3429000"/>
            <a:ext cx="3706762" cy="0"/>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19" name="TextBox 18">
            <a:extLst>
              <a:ext uri="{FF2B5EF4-FFF2-40B4-BE49-F238E27FC236}">
                <a16:creationId xmlns:a16="http://schemas.microsoft.com/office/drawing/2014/main" id="{2A4959DC-1D4F-4399-AD6D-E10FB2DE3403}"/>
              </a:ext>
            </a:extLst>
          </p:cNvPr>
          <p:cNvSpPr txBox="1"/>
          <p:nvPr/>
        </p:nvSpPr>
        <p:spPr>
          <a:xfrm>
            <a:off x="162770" y="5507245"/>
            <a:ext cx="11878975" cy="1200329"/>
          </a:xfrm>
          <a:prstGeom prst="rect">
            <a:avLst/>
          </a:prstGeom>
          <a:noFill/>
        </p:spPr>
        <p:txBody>
          <a:bodyPr wrap="square">
            <a:spAutoFit/>
          </a:bodyPr>
          <a:lstStyle/>
          <a:p>
            <a:pPr marL="342900" indent="-342900" algn="just">
              <a:buFont typeface="Wingdings" panose="05000000000000000000" pitchFamily="2" charset="2"/>
              <a:buChar char="ü"/>
            </a:pPr>
            <a:r>
              <a:rPr lang="en-US" sz="2400" dirty="0">
                <a:solidFill>
                  <a:schemeClr val="accent1">
                    <a:lumMod val="75000"/>
                  </a:schemeClr>
                </a:solidFill>
                <a:latin typeface="Times New Roman" panose="02020603050405020304" pitchFamily="18" charset="0"/>
                <a:cs typeface="Times New Roman" panose="02020603050405020304" pitchFamily="18" charset="0"/>
              </a:rPr>
              <a:t>Here x = 25 * a; is loop invariant. Hence in the optimized program it is computed only once before entering the for loop. y = x + z; is not loop invariant. Hence it cannot be subjected to frequency reduction </a:t>
            </a:r>
            <a:endParaRPr lang="en-IN" sz="2400" dirty="0">
              <a:solidFill>
                <a:schemeClr val="accent1">
                  <a:lumMod val="75000"/>
                </a:schemeClr>
              </a:solidFill>
            </a:endParaRPr>
          </a:p>
        </p:txBody>
      </p:sp>
    </p:spTree>
    <p:custDataLst>
      <p:tags r:id="rId2"/>
    </p:custDataLst>
    <p:extLst>
      <p:ext uri="{BB962C8B-B14F-4D97-AF65-F5344CB8AC3E}">
        <p14:creationId xmlns:p14="http://schemas.microsoft.com/office/powerpoint/2010/main" val="2910494530"/>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par>
                                <p:cTn id="21" presetID="22" presetClass="entr" presetSubtype="4" fill="hold" nodeType="withEffect">
                                  <p:stCondLst>
                                    <p:cond delay="0"/>
                                  </p:stCondLst>
                                  <p:childTnLst>
                                    <p:set>
                                      <p:cBhvr>
                                        <p:cTn id="22" dur="1" fill="hold">
                                          <p:stCondLst>
                                            <p:cond delay="0"/>
                                          </p:stCondLst>
                                        </p:cTn>
                                        <p:tgtEl>
                                          <p:spTgt spid="19">
                                            <p:txEl>
                                              <p:pRg st="0" end="0"/>
                                            </p:txEl>
                                          </p:spTgt>
                                        </p:tgtEl>
                                        <p:attrNameLst>
                                          <p:attrName>style.visibility</p:attrName>
                                        </p:attrNameLst>
                                      </p:cBhvr>
                                      <p:to>
                                        <p:strVal val="visible"/>
                                      </p:to>
                                    </p:set>
                                    <p:animEffect transition="in" filter="wipe(down)">
                                      <p:cBhvr>
                                        <p:cTn id="23"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20770"/>
            <a:ext cx="11813146"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5. Strength Reduction</a:t>
            </a:r>
          </a:p>
        </p:txBody>
      </p:sp>
      <p:sp>
        <p:nvSpPr>
          <p:cNvPr id="21" name="TextBox 20">
            <a:extLst>
              <a:ext uri="{FF2B5EF4-FFF2-40B4-BE49-F238E27FC236}">
                <a16:creationId xmlns:a16="http://schemas.microsoft.com/office/drawing/2014/main" id="{8EB76D95-206D-41CB-905E-8E3FD53E4AC6}"/>
              </a:ext>
            </a:extLst>
          </p:cNvPr>
          <p:cNvSpPr txBox="1"/>
          <p:nvPr/>
        </p:nvSpPr>
        <p:spPr>
          <a:xfrm>
            <a:off x="315348" y="756393"/>
            <a:ext cx="11746181" cy="6101607"/>
          </a:xfrm>
          <a:prstGeom prst="rect">
            <a:avLst/>
          </a:prstGeom>
          <a:noFill/>
        </p:spPr>
        <p:txBody>
          <a:bodyPr wrap="square">
            <a:spAutoFit/>
          </a:bodyPr>
          <a:lstStyle/>
          <a:p>
            <a:pPr marL="342900" lvl="0" indent="-342900" algn="just" defTabSz="914400">
              <a:lnSpc>
                <a:spcPct val="114000"/>
              </a:lnSpc>
              <a:spcBef>
                <a:spcPct val="20000"/>
              </a:spcBef>
              <a:buFont typeface="Wingdings" panose="05000000000000000000" pitchFamily="2" charset="2"/>
              <a:buChar char="ü"/>
              <a:defRPr/>
            </a:pPr>
            <a:r>
              <a:rPr lang="en-US" sz="2800" dirty="0">
                <a:solidFill>
                  <a:prstClr val="black"/>
                </a:solidFill>
                <a:latin typeface="Times New Roman" panose="02020603050405020304" pitchFamily="18" charset="0"/>
                <a:cs typeface="Times New Roman" panose="02020603050405020304" pitchFamily="18" charset="0"/>
              </a:rPr>
              <a:t>The Strength reduction optimization replaces the occurrence of time consuming operation ( a “ high strength” operation ) by a faster operation ( a “low strength” operation ).</a:t>
            </a:r>
          </a:p>
          <a:p>
            <a:pPr marL="342900" lvl="0" indent="-342900" algn="just" defTabSz="914400">
              <a:lnSpc>
                <a:spcPct val="114000"/>
              </a:lnSpc>
              <a:spcBef>
                <a:spcPct val="20000"/>
              </a:spcBef>
              <a:buFont typeface="Wingdings" panose="05000000000000000000" pitchFamily="2" charset="2"/>
              <a:buChar char="ü"/>
              <a:defRPr/>
            </a:pPr>
            <a:r>
              <a:rPr lang="en-US" sz="2800" dirty="0">
                <a:solidFill>
                  <a:schemeClr val="bg2">
                    <a:lumMod val="75000"/>
                  </a:schemeClr>
                </a:solidFill>
                <a:latin typeface="Times New Roman" panose="02020603050405020304" pitchFamily="18" charset="0"/>
                <a:cs typeface="Times New Roman" panose="02020603050405020304" pitchFamily="18" charset="0"/>
              </a:rPr>
              <a:t>For example: replacement of multiplication by an addition.</a:t>
            </a:r>
          </a:p>
          <a:p>
            <a:pPr marL="342900" lvl="0" indent="-342900" algn="just" defTabSz="914400">
              <a:lnSpc>
                <a:spcPct val="114000"/>
              </a:lnSpc>
              <a:spcBef>
                <a:spcPct val="20000"/>
              </a:spcBef>
              <a:buFont typeface="Wingdings" panose="05000000000000000000" pitchFamily="2" charset="2"/>
              <a:buChar char="ü"/>
              <a:defRPr/>
            </a:pPr>
            <a:endParaRPr lang="en-US" sz="2800" dirty="0">
              <a:solidFill>
                <a:schemeClr val="bg2">
                  <a:lumMod val="75000"/>
                </a:schemeClr>
              </a:solidFill>
              <a:latin typeface="Times New Roman" panose="02020603050405020304" pitchFamily="18" charset="0"/>
              <a:cs typeface="Times New Roman" panose="02020603050405020304" pitchFamily="18" charset="0"/>
            </a:endParaRPr>
          </a:p>
          <a:p>
            <a:pPr marL="342900" lvl="0" indent="-342900" algn="just" defTabSz="914400">
              <a:lnSpc>
                <a:spcPct val="114000"/>
              </a:lnSpc>
              <a:spcBef>
                <a:spcPct val="20000"/>
              </a:spcBef>
              <a:buFont typeface="Wingdings" panose="05000000000000000000" pitchFamily="2" charset="2"/>
              <a:buChar char="ü"/>
              <a:defRPr/>
            </a:pPr>
            <a:endParaRPr lang="en-US" sz="2800" dirty="0">
              <a:solidFill>
                <a:schemeClr val="bg2">
                  <a:lumMod val="75000"/>
                </a:schemeClr>
              </a:solidFill>
              <a:latin typeface="Times New Roman" panose="02020603050405020304" pitchFamily="18" charset="0"/>
              <a:cs typeface="Times New Roman" panose="02020603050405020304" pitchFamily="18" charset="0"/>
            </a:endParaRPr>
          </a:p>
          <a:p>
            <a:pPr marL="342900" lvl="0" indent="-342900" algn="just" defTabSz="914400">
              <a:lnSpc>
                <a:spcPct val="114000"/>
              </a:lnSpc>
              <a:spcBef>
                <a:spcPct val="20000"/>
              </a:spcBef>
              <a:buFont typeface="Wingdings" panose="05000000000000000000" pitchFamily="2" charset="2"/>
              <a:buChar char="ü"/>
              <a:defRPr/>
            </a:pPr>
            <a:endParaRPr lang="en-US" sz="2800" dirty="0">
              <a:solidFill>
                <a:schemeClr val="bg2">
                  <a:lumMod val="75000"/>
                </a:schemeClr>
              </a:solidFill>
              <a:latin typeface="Times New Roman" panose="02020603050405020304" pitchFamily="18" charset="0"/>
              <a:cs typeface="Times New Roman" panose="02020603050405020304" pitchFamily="18" charset="0"/>
            </a:endParaRPr>
          </a:p>
          <a:p>
            <a:pPr marL="342900" lvl="0" indent="-342900" algn="just" defTabSz="914400">
              <a:lnSpc>
                <a:spcPct val="114000"/>
              </a:lnSpc>
              <a:spcBef>
                <a:spcPct val="20000"/>
              </a:spcBef>
              <a:buFont typeface="Wingdings" panose="05000000000000000000" pitchFamily="2" charset="2"/>
              <a:buChar char="ü"/>
              <a:defRPr/>
            </a:pPr>
            <a:endParaRPr lang="en-US" sz="2800" dirty="0">
              <a:solidFill>
                <a:schemeClr val="bg2">
                  <a:lumMod val="75000"/>
                </a:schemeClr>
              </a:solidFill>
              <a:latin typeface="Times New Roman" panose="02020603050405020304" pitchFamily="18" charset="0"/>
              <a:cs typeface="Times New Roman" panose="02020603050405020304" pitchFamily="18" charset="0"/>
            </a:endParaRPr>
          </a:p>
          <a:p>
            <a:pPr marL="342900" lvl="0" indent="-342900" algn="just" defTabSz="914400">
              <a:lnSpc>
                <a:spcPct val="114000"/>
              </a:lnSpc>
              <a:spcBef>
                <a:spcPct val="20000"/>
              </a:spcBef>
              <a:buFont typeface="Wingdings" panose="05000000000000000000" pitchFamily="2" charset="2"/>
              <a:buChar char="ü"/>
              <a:defRPr/>
            </a:pPr>
            <a:endParaRPr lang="en-US" sz="200" dirty="0">
              <a:solidFill>
                <a:schemeClr val="bg2">
                  <a:lumMod val="75000"/>
                </a:schemeClr>
              </a:solidFill>
              <a:latin typeface="Times New Roman" panose="02020603050405020304" pitchFamily="18" charset="0"/>
              <a:cs typeface="Times New Roman" panose="02020603050405020304" pitchFamily="18" charset="0"/>
            </a:endParaRPr>
          </a:p>
          <a:p>
            <a:pPr marL="342900" lvl="0" indent="-342900" algn="just" defTabSz="914400">
              <a:lnSpc>
                <a:spcPct val="114000"/>
              </a:lnSpc>
              <a:spcBef>
                <a:spcPct val="20000"/>
              </a:spcBef>
              <a:buFont typeface="Wingdings" panose="05000000000000000000" pitchFamily="2" charset="2"/>
              <a:buChar char="ü"/>
              <a:defRPr/>
            </a:pPr>
            <a:r>
              <a:rPr lang="en-US" sz="2800" dirty="0">
                <a:solidFill>
                  <a:schemeClr val="bg2">
                    <a:lumMod val="75000"/>
                  </a:schemeClr>
                </a:solidFill>
                <a:latin typeface="Times New Roman" panose="02020603050405020304" pitchFamily="18" charset="0"/>
                <a:cs typeface="Times New Roman" panose="02020603050405020304" pitchFamily="18" charset="0"/>
              </a:rPr>
              <a:t>Here we get the count values as 50, 100, 150…. and so on.</a:t>
            </a:r>
          </a:p>
          <a:p>
            <a:pPr marL="342900" indent="-342900" algn="just" defTabSz="914400">
              <a:lnSpc>
                <a:spcPct val="114000"/>
              </a:lnSpc>
              <a:spcBef>
                <a:spcPct val="20000"/>
              </a:spcBef>
              <a:buFont typeface="Wingdings" panose="05000000000000000000" pitchFamily="2" charset="2"/>
              <a:buChar char="ü"/>
              <a:defRPr/>
            </a:pPr>
            <a:r>
              <a:rPr lang="en-US" sz="2800" dirty="0">
                <a:solidFill>
                  <a:schemeClr val="bg2">
                    <a:lumMod val="75000"/>
                  </a:schemeClr>
                </a:solidFill>
                <a:latin typeface="Times New Roman" panose="02020603050405020304" pitchFamily="18" charset="0"/>
                <a:cs typeface="Times New Roman" panose="02020603050405020304" pitchFamily="18" charset="0"/>
              </a:rPr>
              <a:t>Here the high strength operator * in</a:t>
            </a:r>
            <a:r>
              <a:rPr lang="en-US" sz="2800" i="1" dirty="0">
                <a:solidFill>
                  <a:schemeClr val="bg2">
                    <a:lumMod val="75000"/>
                  </a:schemeClr>
                </a:solidFill>
                <a:latin typeface="Times New Roman" panose="02020603050405020304" pitchFamily="18" charset="0"/>
                <a:cs typeface="Times New Roman" panose="02020603050405020304" pitchFamily="18" charset="0"/>
              </a:rPr>
              <a:t> </a:t>
            </a:r>
            <a:r>
              <a:rPr lang="en-US" sz="2800" i="1" dirty="0" err="1">
                <a:solidFill>
                  <a:schemeClr val="accent5">
                    <a:lumMod val="75000"/>
                  </a:schemeClr>
                </a:solidFill>
                <a:latin typeface="Times New Roman" panose="02020603050405020304" pitchFamily="18" charset="0"/>
                <a:cs typeface="Times New Roman" panose="02020603050405020304" pitchFamily="18" charset="0"/>
              </a:rPr>
              <a:t>i</a:t>
            </a:r>
            <a:r>
              <a:rPr lang="en-US" sz="2800" i="1" dirty="0">
                <a:solidFill>
                  <a:schemeClr val="accent5">
                    <a:lumMod val="75000"/>
                  </a:schemeClr>
                </a:solidFill>
                <a:latin typeface="Times New Roman" panose="02020603050405020304" pitchFamily="18" charset="0"/>
                <a:cs typeface="Times New Roman" panose="02020603050405020304" pitchFamily="18" charset="0"/>
              </a:rPr>
              <a:t>*50 </a:t>
            </a:r>
            <a:r>
              <a:rPr lang="en-US" sz="2800" dirty="0">
                <a:solidFill>
                  <a:schemeClr val="bg2">
                    <a:lumMod val="75000"/>
                  </a:schemeClr>
                </a:solidFill>
                <a:latin typeface="Times New Roman" panose="02020603050405020304" pitchFamily="18" charset="0"/>
                <a:cs typeface="Times New Roman" panose="02020603050405020304" pitchFamily="18" charset="0"/>
              </a:rPr>
              <a:t>occurring in side the loop is replaced by a low strength operator + in </a:t>
            </a:r>
            <a:r>
              <a:rPr lang="en-US" sz="2800" i="1" dirty="0">
                <a:solidFill>
                  <a:schemeClr val="accent5">
                    <a:lumMod val="75000"/>
                  </a:schemeClr>
                </a:solidFill>
                <a:latin typeface="Times New Roman" panose="02020603050405020304" pitchFamily="18" charset="0"/>
                <a:cs typeface="Times New Roman" panose="02020603050405020304" pitchFamily="18" charset="0"/>
              </a:rPr>
              <a:t>temp+50.</a:t>
            </a:r>
            <a:r>
              <a:rPr lang="en-US" sz="2800" dirty="0">
                <a:solidFill>
                  <a:prstClr val="black"/>
                </a:solidFill>
                <a:latin typeface="Times New Roman" panose="02020603050405020304" pitchFamily="18" charset="0"/>
                <a:cs typeface="Times New Roman" panose="02020603050405020304" pitchFamily="18" charset="0"/>
              </a:rPr>
              <a:t>     </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aphicFrame>
        <p:nvGraphicFramePr>
          <p:cNvPr id="25" name="Table 24">
            <a:extLst>
              <a:ext uri="{FF2B5EF4-FFF2-40B4-BE49-F238E27FC236}">
                <a16:creationId xmlns:a16="http://schemas.microsoft.com/office/drawing/2014/main" id="{1983030F-3D2F-44F2-B342-02D61FFDE3CD}"/>
              </a:ext>
            </a:extLst>
          </p:cNvPr>
          <p:cNvGraphicFramePr>
            <a:graphicFrameLocks noGrp="1"/>
          </p:cNvGraphicFramePr>
          <p:nvPr>
            <p:extLst>
              <p:ext uri="{D42A27DB-BD31-4B8C-83A1-F6EECF244321}">
                <p14:modId xmlns:p14="http://schemas.microsoft.com/office/powerpoint/2010/main" val="2897089580"/>
              </p:ext>
            </p:extLst>
          </p:nvPr>
        </p:nvGraphicFramePr>
        <p:xfrm>
          <a:off x="2590802" y="3140633"/>
          <a:ext cx="6934201" cy="2011680"/>
        </p:xfrm>
        <a:graphic>
          <a:graphicData uri="http://schemas.openxmlformats.org/drawingml/2006/table">
            <a:tbl>
              <a:tblPr firstRow="1" firstCol="1" bandRow="1"/>
              <a:tblGrid>
                <a:gridCol w="2959719">
                  <a:extLst>
                    <a:ext uri="{9D8B030D-6E8A-4147-A177-3AD203B41FA5}">
                      <a16:colId xmlns:a16="http://schemas.microsoft.com/office/drawing/2014/main" val="20000"/>
                    </a:ext>
                  </a:extLst>
                </a:gridCol>
                <a:gridCol w="570527">
                  <a:extLst>
                    <a:ext uri="{9D8B030D-6E8A-4147-A177-3AD203B41FA5}">
                      <a16:colId xmlns:a16="http://schemas.microsoft.com/office/drawing/2014/main" val="20001"/>
                    </a:ext>
                  </a:extLst>
                </a:gridCol>
                <a:gridCol w="3403955">
                  <a:extLst>
                    <a:ext uri="{9D8B030D-6E8A-4147-A177-3AD203B41FA5}">
                      <a16:colId xmlns:a16="http://schemas.microsoft.com/office/drawing/2014/main" val="20002"/>
                    </a:ext>
                  </a:extLst>
                </a:gridCol>
              </a:tblGrid>
              <a:tr h="126292">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r>
                        <a:rPr lang="en-US" sz="2200" b="0" dirty="0">
                          <a:solidFill>
                            <a:schemeClr val="accent6">
                              <a:lumMod val="75000"/>
                            </a:schemeClr>
                          </a:solidFill>
                          <a:latin typeface="Times New Roman" panose="02020603050405020304" pitchFamily="18" charset="0"/>
                          <a:cs typeface="Times New Roman" panose="02020603050405020304" pitchFamily="18" charset="0"/>
                        </a:rPr>
                        <a:t>for(</a:t>
                      </a:r>
                      <a:r>
                        <a:rPr lang="en-US" sz="2200" b="0" dirty="0" err="1">
                          <a:solidFill>
                            <a:schemeClr val="accent6">
                              <a:lumMod val="75000"/>
                            </a:schemeClr>
                          </a:solidFill>
                          <a:latin typeface="Times New Roman" panose="02020603050405020304" pitchFamily="18" charset="0"/>
                          <a:cs typeface="Times New Roman" panose="02020603050405020304" pitchFamily="18" charset="0"/>
                        </a:rPr>
                        <a:t>i</a:t>
                      </a:r>
                      <a:r>
                        <a:rPr lang="en-US" sz="2200" b="0" dirty="0">
                          <a:solidFill>
                            <a:schemeClr val="accent6">
                              <a:lumMod val="75000"/>
                            </a:schemeClr>
                          </a:solidFill>
                          <a:latin typeface="Times New Roman" panose="02020603050405020304" pitchFamily="18" charset="0"/>
                          <a:cs typeface="Times New Roman" panose="02020603050405020304" pitchFamily="18" charset="0"/>
                        </a:rPr>
                        <a:t>=1;i&lt;=50;i++)</a:t>
                      </a:r>
                    </a:p>
                    <a:p>
                      <a:r>
                        <a:rPr lang="en-US" sz="2200" b="0" dirty="0">
                          <a:solidFill>
                            <a:schemeClr val="accent6">
                              <a:lumMod val="75000"/>
                            </a:schemeClr>
                          </a:solidFill>
                          <a:latin typeface="Times New Roman" panose="02020603050405020304" pitchFamily="18" charset="0"/>
                          <a:cs typeface="Times New Roman" panose="02020603050405020304" pitchFamily="18" charset="0"/>
                        </a:rPr>
                        <a:t>{</a:t>
                      </a:r>
                    </a:p>
                    <a:p>
                      <a:r>
                        <a:rPr lang="en-US" sz="2200" b="0" dirty="0">
                          <a:solidFill>
                            <a:schemeClr val="accent6">
                              <a:lumMod val="75000"/>
                            </a:schemeClr>
                          </a:solidFill>
                          <a:latin typeface="Times New Roman" panose="02020603050405020304" pitchFamily="18" charset="0"/>
                          <a:cs typeface="Times New Roman" panose="02020603050405020304" pitchFamily="18" charset="0"/>
                        </a:rPr>
                        <a:t>	count = </a:t>
                      </a:r>
                      <a:r>
                        <a:rPr lang="en-US" sz="2200" b="0" dirty="0" err="1">
                          <a:solidFill>
                            <a:schemeClr val="accent6">
                              <a:lumMod val="75000"/>
                            </a:schemeClr>
                          </a:solidFill>
                          <a:latin typeface="Times New Roman" panose="02020603050405020304" pitchFamily="18" charset="0"/>
                          <a:cs typeface="Times New Roman" panose="02020603050405020304" pitchFamily="18" charset="0"/>
                        </a:rPr>
                        <a:t>i</a:t>
                      </a:r>
                      <a:r>
                        <a:rPr lang="en-US" sz="2200" b="0" dirty="0">
                          <a:solidFill>
                            <a:schemeClr val="accent6">
                              <a:lumMod val="75000"/>
                            </a:schemeClr>
                          </a:solidFill>
                          <a:latin typeface="Times New Roman" panose="02020603050405020304" pitchFamily="18" charset="0"/>
                          <a:cs typeface="Times New Roman" panose="02020603050405020304" pitchFamily="18" charset="0"/>
                        </a:rPr>
                        <a:t>*50;</a:t>
                      </a:r>
                    </a:p>
                    <a:p>
                      <a:r>
                        <a:rPr lang="en-US" sz="2200" b="0" dirty="0">
                          <a:solidFill>
                            <a:schemeClr val="accent6">
                              <a:lumMod val="75000"/>
                            </a:schemeClr>
                          </a:solidFill>
                          <a:latin typeface="Times New Roman" panose="02020603050405020304" pitchFamily="18"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marL="0" marR="0" algn="just">
                        <a:lnSpc>
                          <a:spcPct val="115000"/>
                        </a:lnSpc>
                        <a:spcBef>
                          <a:spcPts val="0"/>
                        </a:spcBef>
                        <a:spcAft>
                          <a:spcPts val="0"/>
                        </a:spcAft>
                      </a:pPr>
                      <a:r>
                        <a:rPr lang="en-US" sz="2200" b="0" dirty="0">
                          <a:solidFill>
                            <a:schemeClr val="bg1"/>
                          </a:solidFill>
                          <a:effectLst/>
                        </a:rPr>
                        <a:t> </a:t>
                      </a:r>
                      <a:endParaRPr lang="en-US" sz="22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r>
                        <a:rPr lang="en-US" sz="2200" b="0" dirty="0">
                          <a:solidFill>
                            <a:schemeClr val="accent4">
                              <a:lumMod val="75000"/>
                            </a:schemeClr>
                          </a:solidFill>
                          <a:latin typeface="Times New Roman" panose="02020603050405020304" pitchFamily="18" charset="0"/>
                          <a:cs typeface="Times New Roman" panose="02020603050405020304" pitchFamily="18" charset="0"/>
                        </a:rPr>
                        <a:t>temp=0;</a:t>
                      </a:r>
                    </a:p>
                    <a:p>
                      <a:r>
                        <a:rPr lang="en-US" sz="2200" b="0" dirty="0">
                          <a:solidFill>
                            <a:schemeClr val="accent4">
                              <a:lumMod val="75000"/>
                            </a:schemeClr>
                          </a:solidFill>
                          <a:latin typeface="Times New Roman" panose="02020603050405020304" pitchFamily="18" charset="0"/>
                          <a:cs typeface="Times New Roman" panose="02020603050405020304" pitchFamily="18" charset="0"/>
                        </a:rPr>
                        <a:t>for(</a:t>
                      </a:r>
                      <a:r>
                        <a:rPr lang="en-US" sz="2200" b="0" dirty="0" err="1">
                          <a:solidFill>
                            <a:schemeClr val="accent4">
                              <a:lumMod val="75000"/>
                            </a:schemeClr>
                          </a:solidFill>
                          <a:latin typeface="Times New Roman" panose="02020603050405020304" pitchFamily="18" charset="0"/>
                          <a:cs typeface="Times New Roman" panose="02020603050405020304" pitchFamily="18" charset="0"/>
                        </a:rPr>
                        <a:t>i</a:t>
                      </a:r>
                      <a:r>
                        <a:rPr lang="en-US" sz="2200" b="0" dirty="0">
                          <a:solidFill>
                            <a:schemeClr val="accent4">
                              <a:lumMod val="75000"/>
                            </a:schemeClr>
                          </a:solidFill>
                          <a:latin typeface="Times New Roman" panose="02020603050405020304" pitchFamily="18" charset="0"/>
                          <a:cs typeface="Times New Roman" panose="02020603050405020304" pitchFamily="18" charset="0"/>
                        </a:rPr>
                        <a:t>=1;i&lt;=50;i++) </a:t>
                      </a:r>
                    </a:p>
                    <a:p>
                      <a:r>
                        <a:rPr lang="en-US" sz="2200" b="0" dirty="0">
                          <a:solidFill>
                            <a:schemeClr val="accent4">
                              <a:lumMod val="75000"/>
                            </a:schemeClr>
                          </a:solidFill>
                          <a:latin typeface="Times New Roman" panose="02020603050405020304" pitchFamily="18" charset="0"/>
                          <a:cs typeface="Times New Roman" panose="02020603050405020304" pitchFamily="18" charset="0"/>
                        </a:rPr>
                        <a:t>{</a:t>
                      </a:r>
                    </a:p>
                    <a:p>
                      <a:r>
                        <a:rPr lang="en-US" sz="2200" b="0" dirty="0">
                          <a:solidFill>
                            <a:schemeClr val="accent4">
                              <a:lumMod val="75000"/>
                            </a:schemeClr>
                          </a:solidFill>
                          <a:latin typeface="Times New Roman" panose="02020603050405020304" pitchFamily="18" charset="0"/>
                          <a:cs typeface="Times New Roman" panose="02020603050405020304" pitchFamily="18" charset="0"/>
                        </a:rPr>
                        <a:t>	temp = temp+50;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200" b="0" dirty="0">
                          <a:solidFill>
                            <a:schemeClr val="accent4">
                              <a:lumMod val="75000"/>
                            </a:schemeClr>
                          </a:solidFill>
                          <a:latin typeface="Times New Roman" panose="02020603050405020304" pitchFamily="18" charset="0"/>
                          <a:cs typeface="Times New Roman" panose="02020603050405020304" pitchFamily="18" charset="0"/>
                        </a:rPr>
                        <a:t>      count = temp;</a:t>
                      </a:r>
                    </a:p>
                    <a:p>
                      <a:r>
                        <a:rPr lang="en-US" sz="2200" b="0" dirty="0">
                          <a:solidFill>
                            <a:schemeClr val="accent4">
                              <a:lumMod val="75000"/>
                            </a:schemeClr>
                          </a:solidFill>
                          <a:latin typeface="Times New Roman" panose="02020603050405020304" pitchFamily="18" charset="0"/>
                          <a:cs typeface="Times New Roman" panose="02020603050405020304" pitchFamily="18" charset="0"/>
                        </a:rPr>
                        <a:t>}</a:t>
                      </a: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26" name="Right Arrow 4">
            <a:extLst>
              <a:ext uri="{FF2B5EF4-FFF2-40B4-BE49-F238E27FC236}">
                <a16:creationId xmlns:a16="http://schemas.microsoft.com/office/drawing/2014/main" id="{66F121EF-B3A3-46B8-BD78-D82487F2C9B9}"/>
              </a:ext>
            </a:extLst>
          </p:cNvPr>
          <p:cNvSpPr/>
          <p:nvPr/>
        </p:nvSpPr>
        <p:spPr>
          <a:xfrm>
            <a:off x="5075423" y="4242096"/>
            <a:ext cx="609600" cy="177547"/>
          </a:xfrm>
          <a:prstGeom prst="rightArrow">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C2266462-D87E-43C4-BABF-721A53B5A624}"/>
              </a:ext>
            </a:extLst>
          </p:cNvPr>
          <p:cNvSpPr/>
          <p:nvPr/>
        </p:nvSpPr>
        <p:spPr>
          <a:xfrm>
            <a:off x="5939856" y="3093175"/>
            <a:ext cx="3215388" cy="2106595"/>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3787285329"/>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wipe(down)">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up)">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xEl>
                                              <p:pRg st="7" end="7"/>
                                            </p:txEl>
                                          </p:spTgt>
                                        </p:tgtEl>
                                        <p:attrNameLst>
                                          <p:attrName>style.visibility</p:attrName>
                                        </p:attrNameLst>
                                      </p:cBhvr>
                                      <p:to>
                                        <p:strVal val="visible"/>
                                      </p:to>
                                    </p:set>
                                    <p:animEffect transition="in" filter="wipe(down)">
                                      <p:cBhvr>
                                        <p:cTn id="22" dur="500"/>
                                        <p:tgtEl>
                                          <p:spTgt spid="21">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27"/>
                                        </p:tgtEl>
                                      </p:cBhvr>
                                    </p:animEffect>
                                    <p:set>
                                      <p:cBhvr>
                                        <p:cTn id="32" dur="1" fill="hold">
                                          <p:stCondLst>
                                            <p:cond delay="499"/>
                                          </p:stCondLst>
                                        </p:cTn>
                                        <p:tgtEl>
                                          <p:spTgt spid="2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1">
                                            <p:txEl>
                                              <p:pRg st="8" end="8"/>
                                            </p:txEl>
                                          </p:spTgt>
                                        </p:tgtEl>
                                        <p:attrNameLst>
                                          <p:attrName>style.visibility</p:attrName>
                                        </p:attrNameLst>
                                      </p:cBhvr>
                                      <p:to>
                                        <p:strVal val="visible"/>
                                      </p:to>
                                    </p:set>
                                    <p:animEffect transition="in" filter="wipe(down)">
                                      <p:cBhvr>
                                        <p:cTn id="37" dur="500"/>
                                        <p:tgtEl>
                                          <p:spTgt spid="2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20770"/>
            <a:ext cx="11813146"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6. Dead code elimination</a:t>
            </a:r>
          </a:p>
        </p:txBody>
      </p:sp>
      <p:sp>
        <p:nvSpPr>
          <p:cNvPr id="21" name="TextBox 20">
            <a:extLst>
              <a:ext uri="{FF2B5EF4-FFF2-40B4-BE49-F238E27FC236}">
                <a16:creationId xmlns:a16="http://schemas.microsoft.com/office/drawing/2014/main" id="{8EB76D95-206D-41CB-905E-8E3FD53E4AC6}"/>
              </a:ext>
            </a:extLst>
          </p:cNvPr>
          <p:cNvSpPr txBox="1"/>
          <p:nvPr/>
        </p:nvSpPr>
        <p:spPr>
          <a:xfrm>
            <a:off x="315348" y="697401"/>
            <a:ext cx="11746181" cy="2312043"/>
          </a:xfrm>
          <a:prstGeom prst="rect">
            <a:avLst/>
          </a:prstGeom>
          <a:noFill/>
        </p:spPr>
        <p:txBody>
          <a:bodyPr wrap="square">
            <a:spAutoFit/>
          </a:bodyPr>
          <a:lstStyle/>
          <a:p>
            <a:pPr marL="342900" lvl="0" indent="-342900" algn="just" defTabSz="914400">
              <a:lnSpc>
                <a:spcPct val="114000"/>
              </a:lnSpc>
              <a:spcBef>
                <a:spcPct val="20000"/>
              </a:spcBef>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The code which can be omitted from a program without affecting its results is called dead code.</a:t>
            </a:r>
          </a:p>
          <a:p>
            <a:pPr marL="342900" lvl="0" indent="-342900" algn="just" defTabSz="914400">
              <a:lnSpc>
                <a:spcPct val="114000"/>
              </a:lnSpc>
              <a:spcBef>
                <a:spcPct val="20000"/>
              </a:spcBef>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The variable is said to be </a:t>
            </a:r>
            <a:r>
              <a:rPr lang="en-US" sz="2400" dirty="0">
                <a:solidFill>
                  <a:schemeClr val="accent5">
                    <a:lumMod val="75000"/>
                  </a:schemeClr>
                </a:solidFill>
                <a:latin typeface="Times New Roman" panose="02020603050405020304" pitchFamily="18" charset="0"/>
                <a:cs typeface="Times New Roman" panose="02020603050405020304" pitchFamily="18" charset="0"/>
              </a:rPr>
              <a:t>dead at a point in a program if the value contained into it is never been used</a:t>
            </a:r>
            <a:r>
              <a:rPr lang="en-US" sz="2400" dirty="0">
                <a:solidFill>
                  <a:prstClr val="black"/>
                </a:solidFill>
                <a:latin typeface="Times New Roman" panose="02020603050405020304" pitchFamily="18" charset="0"/>
                <a:cs typeface="Times New Roman" panose="02020603050405020304" pitchFamily="18" charset="0"/>
              </a:rPr>
              <a:t>. The code containing such a variable supposed to be a dead code</a:t>
            </a:r>
          </a:p>
          <a:p>
            <a:pPr marL="342900" lvl="0" indent="-342900" algn="just" defTabSz="914400">
              <a:lnSpc>
                <a:spcPct val="114000"/>
              </a:lnSpc>
              <a:spcBef>
                <a:spcPct val="20000"/>
              </a:spcBef>
              <a:buFont typeface="Wingdings" panose="05000000000000000000" pitchFamily="2" charset="2"/>
              <a:buChar char="ü"/>
              <a:defRPr/>
            </a:pPr>
            <a:r>
              <a:rPr lang="en-US" sz="2400" dirty="0">
                <a:solidFill>
                  <a:prstClr val="black"/>
                </a:solidFill>
                <a:latin typeface="Times New Roman" panose="02020603050405020304" pitchFamily="18" charset="0"/>
                <a:cs typeface="Times New Roman" panose="02020603050405020304" pitchFamily="18" charset="0"/>
              </a:rPr>
              <a:t>Example:</a:t>
            </a:r>
          </a:p>
        </p:txBody>
      </p:sp>
      <p:sp>
        <p:nvSpPr>
          <p:cNvPr id="2" name="TextBox 1">
            <a:extLst>
              <a:ext uri="{FF2B5EF4-FFF2-40B4-BE49-F238E27FC236}">
                <a16:creationId xmlns:a16="http://schemas.microsoft.com/office/drawing/2014/main" id="{6BDBA4A7-B9F2-4EE4-B4B1-72963F424040}"/>
              </a:ext>
            </a:extLst>
          </p:cNvPr>
          <p:cNvSpPr txBox="1"/>
          <p:nvPr/>
        </p:nvSpPr>
        <p:spPr>
          <a:xfrm>
            <a:off x="2064935" y="2610683"/>
            <a:ext cx="4031065" cy="4247317"/>
          </a:xfrm>
          <a:prstGeom prst="rect">
            <a:avLst/>
          </a:prstGeom>
          <a:noFill/>
        </p:spPr>
        <p:txBody>
          <a:bodyPr wrap="square" rtlCol="0">
            <a:spAutoFit/>
          </a:bodyPr>
          <a:lstStyle/>
          <a:p>
            <a:r>
              <a:rPr lang="en-IN" b="1" dirty="0">
                <a:solidFill>
                  <a:schemeClr val="accent6">
                    <a:lumMod val="50000"/>
                  </a:schemeClr>
                </a:solidFill>
                <a:latin typeface="Times New Roman" panose="02020603050405020304" pitchFamily="18" charset="0"/>
                <a:cs typeface="Times New Roman" panose="02020603050405020304" pitchFamily="18" charset="0"/>
              </a:rPr>
              <a:t>main()</a:t>
            </a:r>
          </a:p>
          <a:p>
            <a:r>
              <a:rPr lang="en-IN" b="1" dirty="0">
                <a:solidFill>
                  <a:schemeClr val="accent6">
                    <a:lumMod val="50000"/>
                  </a:schemeClr>
                </a:solidFill>
                <a:latin typeface="Times New Roman" panose="02020603050405020304" pitchFamily="18" charset="0"/>
                <a:cs typeface="Times New Roman" panose="02020603050405020304" pitchFamily="18" charset="0"/>
              </a:rPr>
              <a:t>{</a:t>
            </a:r>
          </a:p>
          <a:p>
            <a:r>
              <a:rPr lang="en-IN" b="1" dirty="0">
                <a:solidFill>
                  <a:schemeClr val="accent6">
                    <a:lumMod val="50000"/>
                  </a:schemeClr>
                </a:solidFill>
                <a:latin typeface="Times New Roman" panose="02020603050405020304" pitchFamily="18" charset="0"/>
                <a:cs typeface="Times New Roman" panose="02020603050405020304" pitchFamily="18" charset="0"/>
              </a:rPr>
              <a:t>……..</a:t>
            </a:r>
          </a:p>
          <a:p>
            <a:r>
              <a:rPr lang="en-IN" b="1" dirty="0">
                <a:solidFill>
                  <a:schemeClr val="accent6">
                    <a:lumMod val="50000"/>
                  </a:schemeClr>
                </a:solidFill>
                <a:latin typeface="Times New Roman" panose="02020603050405020304" pitchFamily="18" charset="0"/>
                <a:cs typeface="Times New Roman" panose="02020603050405020304" pitchFamily="18" charset="0"/>
              </a:rPr>
              <a:t>a = 5;</a:t>
            </a:r>
          </a:p>
          <a:p>
            <a:r>
              <a:rPr lang="en-IN" b="1" dirty="0">
                <a:solidFill>
                  <a:schemeClr val="accent6">
                    <a:lumMod val="50000"/>
                  </a:schemeClr>
                </a:solidFill>
                <a:latin typeface="Times New Roman" panose="02020603050405020304" pitchFamily="18" charset="0"/>
                <a:cs typeface="Times New Roman" panose="02020603050405020304" pitchFamily="18" charset="0"/>
              </a:rPr>
              <a:t>if (a = = 5 )</a:t>
            </a:r>
          </a:p>
          <a:p>
            <a:r>
              <a:rPr lang="en-IN" b="1" dirty="0">
                <a:solidFill>
                  <a:schemeClr val="accent6">
                    <a:lumMod val="50000"/>
                  </a:schemeClr>
                </a:solidFill>
                <a:latin typeface="Times New Roman" panose="02020603050405020304" pitchFamily="18" charset="0"/>
                <a:cs typeface="Times New Roman" panose="02020603050405020304" pitchFamily="18" charset="0"/>
              </a:rPr>
              <a:t>	{</a:t>
            </a:r>
          </a:p>
          <a:p>
            <a:r>
              <a:rPr lang="en-IN" b="1" dirty="0">
                <a:solidFill>
                  <a:schemeClr val="accent6">
                    <a:lumMod val="50000"/>
                  </a:schemeClr>
                </a:solidFill>
                <a:latin typeface="Times New Roman" panose="02020603050405020304" pitchFamily="18" charset="0"/>
                <a:cs typeface="Times New Roman" panose="02020603050405020304" pitchFamily="18" charset="0"/>
              </a:rPr>
              <a:t>		c ++;</a:t>
            </a:r>
          </a:p>
          <a:p>
            <a:r>
              <a:rPr lang="en-IN" b="1" dirty="0">
                <a:solidFill>
                  <a:schemeClr val="accent6">
                    <a:lumMod val="50000"/>
                  </a:schemeClr>
                </a:solidFill>
                <a:latin typeface="Times New Roman" panose="02020603050405020304" pitchFamily="18" charset="0"/>
                <a:cs typeface="Times New Roman" panose="02020603050405020304" pitchFamily="18" charset="0"/>
              </a:rPr>
              <a:t>		</a:t>
            </a:r>
            <a:r>
              <a:rPr lang="en-IN" b="1" dirty="0" err="1">
                <a:solidFill>
                  <a:schemeClr val="accent6">
                    <a:lumMod val="50000"/>
                  </a:schemeClr>
                </a:solidFill>
                <a:latin typeface="Times New Roman" panose="02020603050405020304" pitchFamily="18" charset="0"/>
                <a:cs typeface="Times New Roman" panose="02020603050405020304" pitchFamily="18" charset="0"/>
              </a:rPr>
              <a:t>printf</a:t>
            </a:r>
            <a:r>
              <a:rPr lang="en-IN" b="1" dirty="0">
                <a:solidFill>
                  <a:schemeClr val="accent6">
                    <a:lumMod val="50000"/>
                  </a:schemeClr>
                </a:solidFill>
                <a:latin typeface="Times New Roman" panose="02020603050405020304" pitchFamily="18" charset="0"/>
                <a:cs typeface="Times New Roman" panose="02020603050405020304" pitchFamily="18" charset="0"/>
              </a:rPr>
              <a:t>(“%d”, c);</a:t>
            </a:r>
          </a:p>
          <a:p>
            <a:r>
              <a:rPr lang="en-IN" b="1" dirty="0">
                <a:solidFill>
                  <a:schemeClr val="accent6">
                    <a:lumMod val="50000"/>
                  </a:schemeClr>
                </a:solidFill>
                <a:latin typeface="Times New Roman" panose="02020603050405020304" pitchFamily="18" charset="0"/>
                <a:cs typeface="Times New Roman" panose="02020603050405020304" pitchFamily="18" charset="0"/>
              </a:rPr>
              <a:t>	}</a:t>
            </a:r>
          </a:p>
          <a:p>
            <a:r>
              <a:rPr lang="en-IN" b="1" dirty="0">
                <a:solidFill>
                  <a:schemeClr val="accent6">
                    <a:lumMod val="50000"/>
                  </a:schemeClr>
                </a:solidFill>
                <a:latin typeface="Times New Roman" panose="02020603050405020304" pitchFamily="18" charset="0"/>
                <a:cs typeface="Times New Roman" panose="02020603050405020304" pitchFamily="18" charset="0"/>
              </a:rPr>
              <a:t>else</a:t>
            </a:r>
          </a:p>
          <a:p>
            <a:r>
              <a:rPr lang="en-IN" b="1" dirty="0">
                <a:solidFill>
                  <a:schemeClr val="accent6">
                    <a:lumMod val="50000"/>
                  </a:schemeClr>
                </a:solidFill>
                <a:latin typeface="Times New Roman" panose="02020603050405020304" pitchFamily="18" charset="0"/>
                <a:cs typeface="Times New Roman" panose="02020603050405020304" pitchFamily="18" charset="0"/>
              </a:rPr>
              <a:t>	{</a:t>
            </a:r>
          </a:p>
          <a:p>
            <a:r>
              <a:rPr lang="en-IN" b="1" dirty="0">
                <a:solidFill>
                  <a:schemeClr val="accent6">
                    <a:lumMod val="50000"/>
                  </a:schemeClr>
                </a:solidFill>
                <a:latin typeface="Times New Roman" panose="02020603050405020304" pitchFamily="18" charset="0"/>
                <a:cs typeface="Times New Roman" panose="02020603050405020304" pitchFamily="18" charset="0"/>
              </a:rPr>
              <a:t>		k ++;</a:t>
            </a:r>
          </a:p>
          <a:p>
            <a:r>
              <a:rPr lang="en-IN" b="1" dirty="0">
                <a:solidFill>
                  <a:schemeClr val="accent6">
                    <a:lumMod val="50000"/>
                  </a:schemeClr>
                </a:solidFill>
                <a:latin typeface="Times New Roman" panose="02020603050405020304" pitchFamily="18" charset="0"/>
                <a:cs typeface="Times New Roman" panose="02020603050405020304" pitchFamily="18" charset="0"/>
              </a:rPr>
              <a:t>		</a:t>
            </a:r>
            <a:r>
              <a:rPr lang="en-IN" b="1" dirty="0" err="1">
                <a:solidFill>
                  <a:schemeClr val="accent6">
                    <a:lumMod val="50000"/>
                  </a:schemeClr>
                </a:solidFill>
                <a:latin typeface="Times New Roman" panose="02020603050405020304" pitchFamily="18" charset="0"/>
                <a:cs typeface="Times New Roman" panose="02020603050405020304" pitchFamily="18" charset="0"/>
              </a:rPr>
              <a:t>printf</a:t>
            </a:r>
            <a:r>
              <a:rPr lang="en-IN" b="1" dirty="0">
                <a:solidFill>
                  <a:schemeClr val="accent6">
                    <a:lumMod val="50000"/>
                  </a:schemeClr>
                </a:solidFill>
                <a:latin typeface="Times New Roman" panose="02020603050405020304" pitchFamily="18" charset="0"/>
                <a:cs typeface="Times New Roman" panose="02020603050405020304" pitchFamily="18" charset="0"/>
              </a:rPr>
              <a:t>(“ this is a dead code”);</a:t>
            </a:r>
          </a:p>
          <a:p>
            <a:r>
              <a:rPr lang="en-IN" b="1" dirty="0">
                <a:solidFill>
                  <a:schemeClr val="accent6">
                    <a:lumMod val="50000"/>
                  </a:schemeClr>
                </a:solidFill>
                <a:latin typeface="Times New Roman" panose="02020603050405020304" pitchFamily="18" charset="0"/>
                <a:cs typeface="Times New Roman" panose="02020603050405020304" pitchFamily="18" charset="0"/>
              </a:rPr>
              <a:t>	}</a:t>
            </a:r>
          </a:p>
          <a:p>
            <a:r>
              <a:rPr lang="en-IN" b="1" dirty="0">
                <a:solidFill>
                  <a:schemeClr val="accent6">
                    <a:lumMod val="50000"/>
                  </a:schemeClr>
                </a:solidFill>
                <a:latin typeface="Times New Roman" panose="02020603050405020304" pitchFamily="18" charset="0"/>
                <a:cs typeface="Times New Roman" panose="02020603050405020304" pitchFamily="18" charset="0"/>
              </a:rPr>
              <a:t>}</a:t>
            </a:r>
            <a:r>
              <a:rPr lang="en-IN" dirty="0">
                <a:solidFill>
                  <a:schemeClr val="accent6">
                    <a:lumMod val="50000"/>
                  </a:schemeClr>
                </a:solidFill>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C4D70386-8CFF-4401-8BA4-E21701F1423E}"/>
              </a:ext>
            </a:extLst>
          </p:cNvPr>
          <p:cNvSpPr txBox="1"/>
          <p:nvPr/>
        </p:nvSpPr>
        <p:spPr>
          <a:xfrm>
            <a:off x="6272981" y="3903344"/>
            <a:ext cx="6085452" cy="830997"/>
          </a:xfrm>
          <a:prstGeom prst="rect">
            <a:avLst/>
          </a:prstGeom>
          <a:noFill/>
        </p:spPr>
        <p:txBody>
          <a:bodyPr wrap="square" rtlCol="0">
            <a:spAutoFit/>
          </a:bodyPr>
          <a:lstStyle/>
          <a:p>
            <a:r>
              <a:rPr lang="en-US" sz="2400" dirty="0">
                <a:solidFill>
                  <a:schemeClr val="accent6">
                    <a:lumMod val="50000"/>
                  </a:schemeClr>
                </a:solidFill>
                <a:latin typeface="Times New Roman" panose="02020603050405020304" pitchFamily="18" charset="0"/>
                <a:cs typeface="Times New Roman" panose="02020603050405020304" pitchFamily="18" charset="0"/>
              </a:rPr>
              <a:t>Statement can be eliminated and optimization can be done.</a:t>
            </a:r>
            <a:endParaRPr lang="en-IN" sz="2400" dirty="0">
              <a:solidFill>
                <a:schemeClr val="accent6">
                  <a:lumMod val="50000"/>
                </a:schemeClr>
              </a:solidFill>
              <a:latin typeface="Times New Roman" panose="02020603050405020304" pitchFamily="18"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688907B6-9128-484C-92A8-A6F715DD253A}"/>
              </a:ext>
            </a:extLst>
          </p:cNvPr>
          <p:cNvCxnSpPr>
            <a:stCxn id="3" idx="1"/>
          </p:cNvCxnSpPr>
          <p:nvPr/>
        </p:nvCxnSpPr>
        <p:spPr>
          <a:xfrm flipH="1">
            <a:off x="3913239" y="4318843"/>
            <a:ext cx="2359742" cy="145269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custDataLst>
      <p:tags r:id="rId2"/>
    </p:custDataLst>
    <p:extLst>
      <p:ext uri="{BB962C8B-B14F-4D97-AF65-F5344CB8AC3E}">
        <p14:creationId xmlns:p14="http://schemas.microsoft.com/office/powerpoint/2010/main" val="544506012"/>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wipe(down)">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wipe(down)">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288192" y="234670"/>
            <a:ext cx="10260623" cy="90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marR="0" lvl="0" indent="-571500" algn="l" defTabSz="457200" rtl="0" eaLnBrk="0" fontAlgn="base" latinLnBrk="0" hangingPunct="0">
              <a:lnSpc>
                <a:spcPct val="100000"/>
              </a:lnSpc>
              <a:spcBef>
                <a:spcPct val="0"/>
              </a:spcBef>
              <a:spcAft>
                <a:spcPct val="0"/>
              </a:spcAft>
              <a:buClrTx/>
              <a:buSzTx/>
              <a:buFont typeface="Wingdings" panose="05000000000000000000" pitchFamily="2" charset="2"/>
              <a:buChar char="q"/>
              <a:tabLst/>
              <a:defRPr/>
            </a:pPr>
            <a:r>
              <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Topics to be covered</a:t>
            </a:r>
          </a:p>
        </p:txBody>
      </p:sp>
      <p:sp>
        <p:nvSpPr>
          <p:cNvPr id="3" name="TextBox 2"/>
          <p:cNvSpPr txBox="1"/>
          <p:nvPr/>
        </p:nvSpPr>
        <p:spPr>
          <a:xfrm>
            <a:off x="300292" y="1162664"/>
            <a:ext cx="11658601" cy="4435830"/>
          </a:xfrm>
          <a:prstGeom prst="rect">
            <a:avLst/>
          </a:prstGeom>
          <a:noFill/>
        </p:spPr>
        <p:txBody>
          <a:bodyPr wrap="square" rtlCol="0">
            <a:spAutoFit/>
          </a:bodyPr>
          <a:lstStyle/>
          <a:p>
            <a:pPr marL="457200" marR="0" lvl="0" indent="-457200" algn="just"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3200" b="1" i="0" u="none" strike="noStrike" kern="1200" cap="none" spc="0" normalizeH="0" baseline="0" noProof="0" dirty="0">
                <a:ln>
                  <a:noFill/>
                </a:ln>
                <a:solidFill>
                  <a:srgbClr val="052F61">
                    <a:lumMod val="75000"/>
                  </a:srgbClr>
                </a:solidFill>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Storage Organization</a:t>
            </a:r>
          </a:p>
          <a:p>
            <a:pPr marL="457200" marR="0" lvl="0" indent="-457200" algn="just"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3200" b="1" i="0" u="none" strike="noStrike" kern="1200" cap="none" spc="0" normalizeH="0" baseline="0" noProof="0" dirty="0">
                <a:ln>
                  <a:noFill/>
                </a:ln>
                <a:solidFill>
                  <a:srgbClr val="052F61">
                    <a:lumMod val="75000"/>
                  </a:srgbClr>
                </a:solidFill>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Difference between Static v/s Dynamic memory allocation</a:t>
            </a:r>
          </a:p>
          <a:p>
            <a:pPr marL="457200" marR="0" lvl="0" indent="-457200" algn="just"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3200" b="1" i="0" u="none" strike="noStrike" kern="1200" cap="none" spc="0" normalizeH="0" baseline="0" noProof="0" dirty="0">
                <a:ln>
                  <a:noFill/>
                </a:ln>
                <a:solidFill>
                  <a:srgbClr val="052F61">
                    <a:lumMod val="75000"/>
                  </a:srgbClr>
                </a:solidFill>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Parameter passing methods</a:t>
            </a:r>
          </a:p>
          <a:p>
            <a:pPr marL="457200" marR="0" lvl="0" indent="-457200" algn="just"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3200" b="1" i="0" u="none" strike="noStrike" kern="1200" cap="none" spc="0" normalizeH="0" baseline="0" noProof="0" dirty="0">
                <a:ln>
                  <a:noFill/>
                </a:ln>
                <a:solidFill>
                  <a:srgbClr val="052F61">
                    <a:lumMod val="75000"/>
                  </a:srgbClr>
                </a:solidFill>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p>
          <a:p>
            <a:pPr marL="457200" marR="0" lvl="0" indent="-457200" algn="just"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kumimoji="0" lang="en-US" sz="3200" b="1" i="0" u="none" strike="noStrike" kern="1200" cap="none" spc="0" normalizeH="0" baseline="0" noProof="0" dirty="0">
              <a:ln>
                <a:noFill/>
              </a:ln>
              <a:solidFill>
                <a:srgbClr val="052F61">
                  <a:lumMod val="75000"/>
                </a:srgbClr>
              </a:solidFill>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a:p>
            <a:pPr marL="457200" marR="0" lvl="0" indent="-457200" algn="just"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kumimoji="0" lang="en-US" sz="3200" b="1" i="0" u="none" strike="noStrike" kern="1200" cap="none" spc="0" normalizeH="0" baseline="0" noProof="0" dirty="0">
              <a:ln>
                <a:noFill/>
              </a:ln>
              <a:solidFill>
                <a:srgbClr val="052F61">
                  <a:lumMod val="75000"/>
                </a:srgbClr>
              </a:solidFill>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890628806"/>
      </p:ext>
    </p:extLst>
  </p:cSld>
  <p:clrMapOvr>
    <a:overrideClrMapping bg1="dk1" tx1="lt1" bg2="dk2" tx2="lt2" accent1="accent1" accent2="accent2" accent3="accent3" accent4="accent4" accent5="accent5" accent6="accent6" hlink="hlink" folHlink="folHlink"/>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150254" y="237845"/>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42913" marR="0" lvl="0" indent="-442913"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r>
              <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Storage Organization</a:t>
            </a:r>
          </a:p>
          <a:p>
            <a:pPr marL="442913" marR="0" lvl="0" indent="-442913"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endParaRPr kumimoji="0" lang="en-US" sz="10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a:p>
            <a:pPr marL="442913" marR="0" lvl="0" indent="-442913"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endParaRPr kumimoji="0" lang="en-US" sz="10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1. Subdivision of Runtime Memory</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544789"/>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compiler demands for a block of memory to operating system.</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compiler utilizes this block of memory executing the compiled program. This block of memory is called run time storage.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run time storage is subdivided to hold code and data such as, the generated target code and data objects.</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size of generated code is fixed. Hence the target code occupies the determined area of the memory. </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amount of memory required by the data objects is known at the compiled time and hence data objects also can be placed at the statically determined area of the memory.</a:t>
            </a:r>
          </a:p>
        </p:txBody>
      </p:sp>
    </p:spTree>
    <p:custDataLst>
      <p:tags r:id="rId2"/>
    </p:custDataLst>
    <p:extLst>
      <p:ext uri="{BB962C8B-B14F-4D97-AF65-F5344CB8AC3E}">
        <p14:creationId xmlns:p14="http://schemas.microsoft.com/office/powerpoint/2010/main" val="1603241404"/>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150254" y="53119"/>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1. Subdivision of Runtime Memory</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221672" y="2685463"/>
            <a:ext cx="11813146" cy="4091709"/>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Stack is used to manage the active procedure.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Heap area is the area of run time storage in which the other information is stored. </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DD4DAD36-E905-407F-817A-19D42D07F683}"/>
              </a:ext>
            </a:extLst>
          </p:cNvPr>
          <p:cNvGraphicFramePr>
            <a:graphicFrameLocks noGrp="1"/>
          </p:cNvGraphicFramePr>
          <p:nvPr/>
        </p:nvGraphicFramePr>
        <p:xfrm>
          <a:off x="4888348" y="1436250"/>
          <a:ext cx="1981200" cy="1854200"/>
        </p:xfrm>
        <a:graphic>
          <a:graphicData uri="http://schemas.openxmlformats.org/drawingml/2006/table">
            <a:tbl>
              <a:tblPr firstRow="1" bandRow="1"/>
              <a:tblGrid>
                <a:gridCol w="1981200">
                  <a:extLst>
                    <a:ext uri="{9D8B030D-6E8A-4147-A177-3AD203B41FA5}">
                      <a16:colId xmlns:a16="http://schemas.microsoft.com/office/drawing/2014/main" val="20000"/>
                    </a:ext>
                  </a:extLst>
                </a:gridCol>
              </a:tblGrid>
              <a:tr h="370840">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algn="ctr"/>
                      <a:r>
                        <a:rPr lang="en-US" b="0" dirty="0"/>
                        <a:t>Code area</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dirty="0"/>
                        <a:t>Static data area</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dirty="0"/>
                        <a:t>Stack</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endParaRPr 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dirty="0"/>
                        <a:t>Heap </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cxnSp>
        <p:nvCxnSpPr>
          <p:cNvPr id="12" name="Straight Arrow Connector 11">
            <a:extLst>
              <a:ext uri="{FF2B5EF4-FFF2-40B4-BE49-F238E27FC236}">
                <a16:creationId xmlns:a16="http://schemas.microsoft.com/office/drawing/2014/main" id="{151509F0-41F3-459D-99FF-3132F7C2309F}"/>
              </a:ext>
            </a:extLst>
          </p:cNvPr>
          <p:cNvCxnSpPr/>
          <p:nvPr/>
        </p:nvCxnSpPr>
        <p:spPr>
          <a:xfrm>
            <a:off x="6259948" y="2363350"/>
            <a:ext cx="0" cy="311150"/>
          </a:xfrm>
          <a:prstGeom prst="straightConnector1">
            <a:avLst/>
          </a:prstGeom>
          <a:noFill/>
          <a:ln w="22225" cap="flat" cmpd="sng" algn="ctr">
            <a:solidFill>
              <a:sysClr val="windowText" lastClr="000000"/>
            </a:solidFill>
            <a:prstDash val="solid"/>
            <a:tailEnd type="triangle"/>
          </a:ln>
          <a:effectLst/>
        </p:spPr>
      </p:cxnSp>
      <p:cxnSp>
        <p:nvCxnSpPr>
          <p:cNvPr id="14" name="Straight Arrow Connector 13">
            <a:extLst>
              <a:ext uri="{FF2B5EF4-FFF2-40B4-BE49-F238E27FC236}">
                <a16:creationId xmlns:a16="http://schemas.microsoft.com/office/drawing/2014/main" id="{1E2D6766-39BB-49F5-A456-C9A3A4148184}"/>
              </a:ext>
            </a:extLst>
          </p:cNvPr>
          <p:cNvCxnSpPr/>
          <p:nvPr/>
        </p:nvCxnSpPr>
        <p:spPr>
          <a:xfrm flipV="1">
            <a:off x="6259948" y="2769748"/>
            <a:ext cx="0" cy="304800"/>
          </a:xfrm>
          <a:prstGeom prst="straightConnector1">
            <a:avLst/>
          </a:prstGeom>
          <a:noFill/>
          <a:ln w="22225" cap="flat" cmpd="sng" algn="ctr">
            <a:solidFill>
              <a:sysClr val="windowText" lastClr="000000"/>
            </a:solidFill>
            <a:prstDash val="solid"/>
            <a:tailEnd type="triangle"/>
          </a:ln>
          <a:effectLst/>
        </p:spPr>
      </p:cxnSp>
      <p:sp>
        <p:nvSpPr>
          <p:cNvPr id="16" name="TextBox 15">
            <a:extLst>
              <a:ext uri="{FF2B5EF4-FFF2-40B4-BE49-F238E27FC236}">
                <a16:creationId xmlns:a16="http://schemas.microsoft.com/office/drawing/2014/main" id="{B090B8DF-D4DA-41AF-9FB7-490AEFEB9E81}"/>
              </a:ext>
            </a:extLst>
          </p:cNvPr>
          <p:cNvSpPr txBox="1"/>
          <p:nvPr/>
        </p:nvSpPr>
        <p:spPr>
          <a:xfrm>
            <a:off x="3103418" y="3422177"/>
            <a:ext cx="6206836"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 Typical subdivision of run time memory into code and data areas</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custDataLst>
      <p:tags r:id="rId2"/>
    </p:custDataLst>
    <p:extLst>
      <p:ext uri="{BB962C8B-B14F-4D97-AF65-F5344CB8AC3E}">
        <p14:creationId xmlns:p14="http://schemas.microsoft.com/office/powerpoint/2010/main" val="3860501876"/>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150254" y="-131600"/>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2. Activation Records (Most IMP)</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50254" y="607147"/>
            <a:ext cx="11813146" cy="1009219"/>
          </a:xfrm>
          <a:prstGeom prst="rect">
            <a:avLst/>
          </a:prstGeom>
        </p:spPr>
        <p:txBody>
          <a:bodyPr vert="horz" lIns="91440" tIns="45720" rIns="91440" bIns="45720" rtlCol="0">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execution of a procedure is called its activation. </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An activation record contains all the necessary information required to call a procedure.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Various field of activation record are as follows:</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17" name="Content Placeholder 2">
            <a:extLst>
              <a:ext uri="{FF2B5EF4-FFF2-40B4-BE49-F238E27FC236}">
                <a16:creationId xmlns:a16="http://schemas.microsoft.com/office/drawing/2014/main" id="{300B954B-C546-46C4-AA4B-75FF04C559DC}"/>
              </a:ext>
            </a:extLst>
          </p:cNvPr>
          <p:cNvSpPr txBox="1">
            <a:spLocks/>
          </p:cNvSpPr>
          <p:nvPr/>
        </p:nvSpPr>
        <p:spPr>
          <a:xfrm>
            <a:off x="150090" y="2149760"/>
            <a:ext cx="9557327" cy="5334000"/>
          </a:xfrm>
          <a:prstGeom prst="rect">
            <a:avLst/>
          </a:prstGeom>
        </p:spPr>
        <p:txBody>
          <a:bodyPr vert="horz" lIns="91440" tIns="45720" rIns="91440" bIns="45720" rtlCol="0">
            <a:normAutofit fontScale="92500"/>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Temporary values</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stores the values that arise in the evaluation of an expression.</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Local variables:</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hold the data that is local to the execution of the procedure.</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Machine status:</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holds the information about status of machine just before the function call.</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Access link (optional):</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refers to non-local data held in other activation records.</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Control link (optional):</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points to activation record of caller.</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Actual parameters: </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field holds the information about the actual parameters.</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Return value:</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used by the called procedure to return a value to calling procedure.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79DC695A-5AD5-4015-A4C5-723FA30BA2CD}"/>
              </a:ext>
            </a:extLst>
          </p:cNvPr>
          <p:cNvGraphicFramePr>
            <a:graphicFrameLocks noGrp="1"/>
          </p:cNvGraphicFramePr>
          <p:nvPr/>
        </p:nvGraphicFramePr>
        <p:xfrm>
          <a:off x="9984509" y="2727036"/>
          <a:ext cx="2057400" cy="277368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tblGrid>
              <a:tr h="370840">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Temporary value</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Local variables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Machine status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Access link </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Control link </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Actual parameters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Return value</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20" name="TextBox 19">
            <a:extLst>
              <a:ext uri="{FF2B5EF4-FFF2-40B4-BE49-F238E27FC236}">
                <a16:creationId xmlns:a16="http://schemas.microsoft.com/office/drawing/2014/main" id="{AF2B239A-DA0C-4483-911F-51E9E2E09202}"/>
              </a:ext>
            </a:extLst>
          </p:cNvPr>
          <p:cNvSpPr txBox="1"/>
          <p:nvPr/>
        </p:nvSpPr>
        <p:spPr>
          <a:xfrm>
            <a:off x="9827485" y="5664778"/>
            <a:ext cx="2715491"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 Activation Record</a:t>
            </a:r>
          </a:p>
        </p:txBody>
      </p:sp>
    </p:spTree>
    <p:custDataLst>
      <p:tags r:id="rId2"/>
    </p:custDataLst>
    <p:extLst>
      <p:ext uri="{BB962C8B-B14F-4D97-AF65-F5344CB8AC3E}">
        <p14:creationId xmlns:p14="http://schemas.microsoft.com/office/powerpoint/2010/main" val="4137572754"/>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150254" y="-131600"/>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3. Compile-Time Layout of Local Data</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50254" y="699507"/>
            <a:ext cx="11813146" cy="1009219"/>
          </a:xfrm>
          <a:prstGeom prst="rect">
            <a:avLst/>
          </a:prstGeom>
        </p:spPr>
        <p:txBody>
          <a:bodyPr vert="horz" lIns="91440" tIns="45720" rIns="91440" bIns="45720" rtlCol="0">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amount of storage needed for a name is determined from its type.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field of local data is laid out as the declarations in a procedure are examined at compile time.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Variable length data has been kept outside this field.</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We keep a count of the memory locations that have been allocated for previous declarations.</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From the count we determine a relative address of the storage for a local with respect to some position such as the beginning of the activation record.</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storage layout for data objects is strongly influenced by the addressing constraints of the target machine.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2991949733"/>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5876"/>
            <a:ext cx="11942456"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42913" marR="0" lvl="0" indent="-442913"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r>
              <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Difference between Static v/s Dynamic memory allocation</a:t>
            </a:r>
          </a:p>
        </p:txBody>
      </p:sp>
      <p:graphicFrame>
        <p:nvGraphicFramePr>
          <p:cNvPr id="10" name="Table 10">
            <a:extLst>
              <a:ext uri="{FF2B5EF4-FFF2-40B4-BE49-F238E27FC236}">
                <a16:creationId xmlns:a16="http://schemas.microsoft.com/office/drawing/2014/main" id="{C416B7C8-66B1-42BE-BCAB-5A7ADAE254E7}"/>
              </a:ext>
            </a:extLst>
          </p:cNvPr>
          <p:cNvGraphicFramePr>
            <a:graphicFrameLocks noGrp="1"/>
          </p:cNvGraphicFramePr>
          <p:nvPr/>
        </p:nvGraphicFramePr>
        <p:xfrm>
          <a:off x="99290" y="1013246"/>
          <a:ext cx="11993419" cy="5695806"/>
        </p:xfrm>
        <a:graphic>
          <a:graphicData uri="http://schemas.openxmlformats.org/drawingml/2006/table">
            <a:tbl>
              <a:tblPr firstRow="1" bandRow="1">
                <a:tableStyleId>{5C22544A-7EE6-4342-B048-85BDC9FD1C3A}</a:tableStyleId>
              </a:tblPr>
              <a:tblGrid>
                <a:gridCol w="933359">
                  <a:extLst>
                    <a:ext uri="{9D8B030D-6E8A-4147-A177-3AD203B41FA5}">
                      <a16:colId xmlns:a16="http://schemas.microsoft.com/office/drawing/2014/main" val="1428665360"/>
                    </a:ext>
                  </a:extLst>
                </a:gridCol>
                <a:gridCol w="5499497">
                  <a:extLst>
                    <a:ext uri="{9D8B030D-6E8A-4147-A177-3AD203B41FA5}">
                      <a16:colId xmlns:a16="http://schemas.microsoft.com/office/drawing/2014/main" val="2748296538"/>
                    </a:ext>
                  </a:extLst>
                </a:gridCol>
                <a:gridCol w="5560563">
                  <a:extLst>
                    <a:ext uri="{9D8B030D-6E8A-4147-A177-3AD203B41FA5}">
                      <a16:colId xmlns:a16="http://schemas.microsoft.com/office/drawing/2014/main" val="2726655588"/>
                    </a:ext>
                  </a:extLst>
                </a:gridCol>
              </a:tblGrid>
              <a:tr h="674981">
                <a:tc>
                  <a:txBody>
                    <a:bodyPr/>
                    <a:lstStyle/>
                    <a:p>
                      <a:pPr algn="ctr"/>
                      <a:r>
                        <a:rPr lang="en-IN" sz="2400" dirty="0">
                          <a:latin typeface="Times New Roman" panose="02020603050405020304" pitchFamily="18" charset="0"/>
                          <a:cs typeface="Times New Roman" panose="02020603050405020304" pitchFamily="18" charset="0"/>
                        </a:rPr>
                        <a:t>No.</a:t>
                      </a:r>
                    </a:p>
                  </a:txBody>
                  <a:tcPr anchor="ctr"/>
                </a:tc>
                <a:tc>
                  <a:txBody>
                    <a:bodyPr/>
                    <a:lstStyle/>
                    <a:p>
                      <a:pPr algn="ctr"/>
                      <a:r>
                        <a:rPr lang="en-US" sz="2400" b="1" kern="1200" dirty="0">
                          <a:solidFill>
                            <a:schemeClr val="lt1"/>
                          </a:solidFill>
                          <a:effectLst/>
                          <a:latin typeface="Times New Roman" panose="02020603050405020304" pitchFamily="18" charset="0"/>
                          <a:ea typeface="+mn-ea"/>
                          <a:cs typeface="Times New Roman" panose="02020603050405020304" pitchFamily="18" charset="0"/>
                        </a:rPr>
                        <a:t>Static Memory Allocation</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kern="1200" dirty="0">
                          <a:solidFill>
                            <a:schemeClr val="lt1"/>
                          </a:solidFill>
                          <a:effectLst/>
                          <a:latin typeface="Times New Roman" panose="02020603050405020304" pitchFamily="18" charset="0"/>
                          <a:ea typeface="+mn-ea"/>
                          <a:cs typeface="Times New Roman" panose="02020603050405020304" pitchFamily="18" charset="0"/>
                        </a:rPr>
                        <a:t>Dynamic Memory Allocation</a:t>
                      </a: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9371184"/>
                  </a:ext>
                </a:extLst>
              </a:tr>
              <a:tr h="674981">
                <a:tc>
                  <a:txBody>
                    <a:bodyPr/>
                    <a:lstStyle/>
                    <a:p>
                      <a:pPr algn="ctr"/>
                      <a:r>
                        <a:rPr lang="en-IN" sz="2400" b="1" dirty="0">
                          <a:latin typeface="Times New Roman" panose="02020603050405020304" pitchFamily="18" charset="0"/>
                          <a:cs typeface="Times New Roman" panose="02020603050405020304" pitchFamily="18" charset="0"/>
                        </a:rPr>
                        <a:t>1</a:t>
                      </a:r>
                    </a:p>
                  </a:txBody>
                  <a:tcPr anchor="ctr"/>
                </a:tc>
                <a:tc>
                  <a:txBody>
                    <a:bodyPr/>
                    <a:lstStyle/>
                    <a:p>
                      <a:pPr marL="34925" marR="29845" algn="just">
                        <a:lnSpc>
                          <a:spcPct val="105000"/>
                        </a:lnSpc>
                        <a:spcBef>
                          <a:spcPts val="265"/>
                        </a:spcBef>
                        <a:spcAft>
                          <a:spcPts val="0"/>
                        </a:spcAft>
                        <a:tabLst>
                          <a:tab pos="730885" algn="l"/>
                          <a:tab pos="988695" algn="l"/>
                          <a:tab pos="1715770" algn="l"/>
                          <a:tab pos="2284095" algn="l"/>
                        </a:tabLst>
                      </a:pPr>
                      <a:r>
                        <a:rPr lang="en-US" sz="2400" dirty="0">
                          <a:effectLst/>
                          <a:latin typeface="Times New Roman" panose="02020603050405020304" pitchFamily="18" charset="0"/>
                          <a:ea typeface="Arimo"/>
                          <a:cs typeface="Times New Roman" panose="02020603050405020304" pitchFamily="18" charset="0"/>
                        </a:rPr>
                        <a:t>Memory is allocated </a:t>
                      </a:r>
                      <a:r>
                        <a:rPr lang="en-US" sz="2400" spc="-15" dirty="0">
                          <a:effectLst/>
                          <a:latin typeface="Times New Roman" panose="02020603050405020304" pitchFamily="18" charset="0"/>
                          <a:ea typeface="Arimo"/>
                          <a:cs typeface="Times New Roman" panose="02020603050405020304" pitchFamily="18" charset="0"/>
                        </a:rPr>
                        <a:t>before </a:t>
                      </a:r>
                      <a:r>
                        <a:rPr lang="en-US" sz="2400" spc="-35" dirty="0">
                          <a:effectLst/>
                          <a:latin typeface="Times New Roman" panose="02020603050405020304" pitchFamily="18" charset="0"/>
                          <a:ea typeface="Arimo"/>
                          <a:cs typeface="Times New Roman" panose="02020603050405020304" pitchFamily="18" charset="0"/>
                        </a:rPr>
                        <a:t>the </a:t>
                      </a:r>
                      <a:r>
                        <a:rPr lang="en-US" sz="2400" dirty="0">
                          <a:effectLst/>
                          <a:latin typeface="Times New Roman" panose="02020603050405020304" pitchFamily="18" charset="0"/>
                          <a:ea typeface="Arimo"/>
                          <a:cs typeface="Times New Roman" panose="02020603050405020304" pitchFamily="18" charset="0"/>
                        </a:rPr>
                        <a:t>execution</a:t>
                      </a:r>
                      <a:r>
                        <a:rPr lang="en-US" sz="2400" spc="-125" dirty="0">
                          <a:effectLst/>
                          <a:latin typeface="Times New Roman" panose="02020603050405020304" pitchFamily="18" charset="0"/>
                          <a:ea typeface="Arimo"/>
                          <a:cs typeface="Times New Roman" panose="02020603050405020304" pitchFamily="18" charset="0"/>
                        </a:rPr>
                        <a:t> </a:t>
                      </a:r>
                      <a:r>
                        <a:rPr lang="en-US" sz="2400" dirty="0">
                          <a:effectLst/>
                          <a:latin typeface="Times New Roman" panose="02020603050405020304" pitchFamily="18" charset="0"/>
                          <a:ea typeface="Arimo"/>
                          <a:cs typeface="Times New Roman" panose="02020603050405020304" pitchFamily="18" charset="0"/>
                        </a:rPr>
                        <a:t>of</a:t>
                      </a:r>
                      <a:r>
                        <a:rPr lang="en-US" sz="2400" spc="-135" dirty="0">
                          <a:effectLst/>
                          <a:latin typeface="Times New Roman" panose="02020603050405020304" pitchFamily="18" charset="0"/>
                          <a:ea typeface="Arimo"/>
                          <a:cs typeface="Times New Roman" panose="02020603050405020304" pitchFamily="18" charset="0"/>
                        </a:rPr>
                        <a:t> </a:t>
                      </a:r>
                      <a:r>
                        <a:rPr lang="en-US" sz="2400" dirty="0">
                          <a:effectLst/>
                          <a:latin typeface="Times New Roman" panose="02020603050405020304" pitchFamily="18" charset="0"/>
                          <a:ea typeface="Arimo"/>
                          <a:cs typeface="Times New Roman" panose="02020603050405020304" pitchFamily="18" charset="0"/>
                        </a:rPr>
                        <a:t>the</a:t>
                      </a:r>
                      <a:r>
                        <a:rPr lang="en-US" sz="2400" spc="-135" dirty="0">
                          <a:effectLst/>
                          <a:latin typeface="Times New Roman" panose="02020603050405020304" pitchFamily="18" charset="0"/>
                          <a:ea typeface="Arimo"/>
                          <a:cs typeface="Times New Roman" panose="02020603050405020304" pitchFamily="18" charset="0"/>
                        </a:rPr>
                        <a:t> </a:t>
                      </a:r>
                      <a:r>
                        <a:rPr lang="en-US" sz="2400" spc="-15" dirty="0">
                          <a:effectLst/>
                          <a:latin typeface="Times New Roman" panose="02020603050405020304" pitchFamily="18" charset="0"/>
                          <a:ea typeface="Arimo"/>
                          <a:cs typeface="Times New Roman" panose="02020603050405020304" pitchFamily="18" charset="0"/>
                        </a:rPr>
                        <a:t>program</a:t>
                      </a:r>
                      <a:r>
                        <a:rPr lang="en-US" sz="2400" spc="-135" dirty="0">
                          <a:effectLst/>
                          <a:latin typeface="Times New Roman" panose="02020603050405020304" pitchFamily="18" charset="0"/>
                          <a:ea typeface="Arimo"/>
                          <a:cs typeface="Times New Roman" panose="02020603050405020304" pitchFamily="18" charset="0"/>
                        </a:rPr>
                        <a:t> </a:t>
                      </a:r>
                      <a:r>
                        <a:rPr lang="en-US" sz="2400" dirty="0">
                          <a:effectLst/>
                          <a:latin typeface="Times New Roman" panose="02020603050405020304" pitchFamily="18" charset="0"/>
                          <a:ea typeface="Arimo"/>
                          <a:cs typeface="Times New Roman" panose="02020603050405020304" pitchFamily="18" charset="0"/>
                        </a:rPr>
                        <a:t>begins.</a:t>
                      </a:r>
                      <a:endParaRPr lang="en-IN" sz="2000" dirty="0">
                        <a:effectLst/>
                        <a:latin typeface="Times New Roman" panose="02020603050405020304" pitchFamily="18" charset="0"/>
                        <a:ea typeface="Arimo"/>
                        <a:cs typeface="Times New Roman" panose="02020603050405020304" pitchFamily="18" charset="0"/>
                      </a:endParaRPr>
                    </a:p>
                  </a:txBody>
                  <a:tcPr marL="0" marR="0" marT="0" marB="0"/>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Memory is allocated during the execution of the program.</a:t>
                      </a:r>
                      <a:endParaRPr lang="en-IN" sz="2400" kern="1200" dirty="0">
                        <a:solidFill>
                          <a:schemeClr val="dk1"/>
                        </a:solidFill>
                        <a:effectLs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19533541"/>
                  </a:ext>
                </a:extLst>
              </a:tr>
              <a:tr h="674981">
                <a:tc>
                  <a:txBody>
                    <a:bodyPr/>
                    <a:lstStyle/>
                    <a:p>
                      <a:pPr algn="ctr"/>
                      <a:r>
                        <a:rPr lang="en-IN" sz="2400" b="1" dirty="0">
                          <a:latin typeface="Times New Roman" panose="02020603050405020304" pitchFamily="18" charset="0"/>
                          <a:cs typeface="Times New Roman" panose="02020603050405020304" pitchFamily="18" charset="0"/>
                        </a:rPr>
                        <a:t>2</a:t>
                      </a:r>
                    </a:p>
                  </a:txBody>
                  <a:tcPr anchor="ct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No memory allocation or de-allocation actions	are	performed	during execution.</a:t>
                      </a:r>
                      <a:endParaRPr lang="en-IN" sz="2400"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Memory Bindings are established and destroyed during the execution.</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181796778"/>
                  </a:ext>
                </a:extLst>
              </a:tr>
              <a:tr h="674981">
                <a:tc>
                  <a:txBody>
                    <a:bodyPr/>
                    <a:lstStyle/>
                    <a:p>
                      <a:pPr algn="ctr"/>
                      <a:r>
                        <a:rPr lang="en-IN" sz="2400" b="1" dirty="0">
                          <a:latin typeface="Times New Roman" panose="02020603050405020304" pitchFamily="18" charset="0"/>
                          <a:cs typeface="Times New Roman" panose="02020603050405020304" pitchFamily="18" charset="0"/>
                        </a:rPr>
                        <a:t>3</a:t>
                      </a:r>
                    </a:p>
                  </a:txBody>
                  <a:tcPr anchor="ct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Variables	remain permanently allocated.</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Allocated only when program unit is active.</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47074326"/>
                  </a:ext>
                </a:extLst>
              </a:tr>
              <a:tr h="674981">
                <a:tc>
                  <a:txBody>
                    <a:bodyPr/>
                    <a:lstStyle/>
                    <a:p>
                      <a:pPr algn="ctr"/>
                      <a:r>
                        <a:rPr lang="en-IN" sz="2400" b="1" dirty="0">
                          <a:latin typeface="Times New Roman" panose="02020603050405020304" pitchFamily="18" charset="0"/>
                          <a:cs typeface="Times New Roman" panose="02020603050405020304" pitchFamily="18" charset="0"/>
                        </a:rPr>
                        <a:t>4</a:t>
                      </a:r>
                    </a:p>
                  </a:txBody>
                  <a:tcPr anchor="ct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Implemented using stacks and heaps.</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Implemented using data segments.</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971595035"/>
                  </a:ext>
                </a:extLst>
              </a:tr>
              <a:tr h="674981">
                <a:tc>
                  <a:txBody>
                    <a:bodyPr/>
                    <a:lstStyle/>
                    <a:p>
                      <a:pPr algn="ctr"/>
                      <a:r>
                        <a:rPr lang="en-IN" sz="2400" b="1" dirty="0">
                          <a:latin typeface="Times New Roman" panose="02020603050405020304" pitchFamily="18" charset="0"/>
                          <a:cs typeface="Times New Roman" panose="02020603050405020304" pitchFamily="18" charset="0"/>
                        </a:rPr>
                        <a:t>5</a:t>
                      </a:r>
                    </a:p>
                  </a:txBody>
                  <a:tcPr anchor="ctr"/>
                </a:tc>
                <a:tc>
                  <a:txBody>
                    <a:bodyPr/>
                    <a:lstStyle/>
                    <a:p>
                      <a:pPr marL="34925" marR="29845" algn="just">
                        <a:lnSpc>
                          <a:spcPct val="105000"/>
                        </a:lnSpc>
                        <a:spcBef>
                          <a:spcPts val="265"/>
                        </a:spcBef>
                        <a:spcAft>
                          <a:spcPts val="0"/>
                        </a:spcAft>
                        <a:tabLst>
                          <a:tab pos="667385" algn="l"/>
                          <a:tab pos="942975" algn="l"/>
                          <a:tab pos="1593215" algn="l"/>
                          <a:tab pos="1906905" algn="l"/>
                        </a:tabLst>
                      </a:pPr>
                      <a:r>
                        <a:rPr lang="en-US" sz="2400" kern="1200" dirty="0">
                          <a:solidFill>
                            <a:schemeClr val="dk1"/>
                          </a:solidFill>
                          <a:effectLst/>
                          <a:latin typeface="Times New Roman" panose="02020603050405020304" pitchFamily="18" charset="0"/>
                          <a:ea typeface="+mn-ea"/>
                          <a:cs typeface="Times New Roman" panose="02020603050405020304" pitchFamily="18" charset="0"/>
                        </a:rPr>
                        <a:t>Pointer	is needed to accessing variables.</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No	need of dynamically allocated pointers.</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775450602"/>
                  </a:ext>
                </a:extLst>
              </a:tr>
              <a:tr h="674981">
                <a:tc>
                  <a:txBody>
                    <a:bodyPr/>
                    <a:lstStyle/>
                    <a:p>
                      <a:pPr algn="ctr"/>
                      <a:r>
                        <a:rPr lang="en-IN" sz="2400" b="1" dirty="0">
                          <a:latin typeface="Times New Roman" panose="02020603050405020304" pitchFamily="18" charset="0"/>
                          <a:cs typeface="Times New Roman" panose="02020603050405020304" pitchFamily="18" charset="0"/>
                        </a:rPr>
                        <a:t>6</a:t>
                      </a:r>
                    </a:p>
                  </a:txBody>
                  <a:tcPr anchor="ctr"/>
                </a:tc>
                <a:tc>
                  <a:txBody>
                    <a:bodyPr/>
                    <a:lstStyle/>
                    <a:p>
                      <a:pPr marL="34925" algn="just">
                        <a:spcBef>
                          <a:spcPts val="265"/>
                        </a:spcBef>
                        <a:spcAft>
                          <a:spcPts val="0"/>
                        </a:spcAft>
                      </a:pPr>
                      <a:r>
                        <a:rPr lang="en-US" sz="2400" kern="1200" dirty="0">
                          <a:solidFill>
                            <a:schemeClr val="dk1"/>
                          </a:solidFill>
                          <a:effectLst/>
                          <a:latin typeface="Times New Roman" panose="02020603050405020304" pitchFamily="18" charset="0"/>
                          <a:ea typeface="+mn-ea"/>
                          <a:cs typeface="Times New Roman" panose="02020603050405020304" pitchFamily="18" charset="0"/>
                        </a:rPr>
                        <a:t>Faster execution than dynamic.</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Slower execution than static</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854317767"/>
                  </a:ext>
                </a:extLst>
              </a:tr>
              <a:tr h="674981">
                <a:tc>
                  <a:txBody>
                    <a:bodyPr/>
                    <a:lstStyle/>
                    <a:p>
                      <a:pPr algn="ctr"/>
                      <a:r>
                        <a:rPr lang="en-IN" sz="2400" b="1" dirty="0">
                          <a:latin typeface="Times New Roman" panose="02020603050405020304" pitchFamily="18" charset="0"/>
                          <a:cs typeface="Times New Roman" panose="02020603050405020304" pitchFamily="18" charset="0"/>
                        </a:rPr>
                        <a:t>7</a:t>
                      </a:r>
                    </a:p>
                  </a:txBody>
                  <a:tcPr anchor="ct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More memory space required.</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Less memory space required.</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603273562"/>
                  </a:ext>
                </a:extLst>
              </a:tr>
            </a:tbl>
          </a:graphicData>
        </a:graphic>
      </p:graphicFrame>
    </p:spTree>
    <p:custDataLst>
      <p:tags r:id="rId2"/>
    </p:custDataLst>
    <p:extLst>
      <p:ext uri="{BB962C8B-B14F-4D97-AF65-F5344CB8AC3E}">
        <p14:creationId xmlns:p14="http://schemas.microsoft.com/office/powerpoint/2010/main" val="3042789329"/>
      </p:ext>
    </p:extLst>
  </p:cSld>
  <p:clrMapOvr>
    <a:overrideClrMapping bg1="dk1" tx1="lt1" bg2="dk2" tx2="lt2" accent1="accent1" accent2="accent2" accent3="accent3" accent4="accent4" accent5="accent5" accent6="accent6" hlink="hlink" folHlink="folHlink"/>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42913" marR="0" lvl="0" indent="-442913"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r>
              <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Parameter passing methods</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There are two types of parameters, Formal parameters &amp; Actual parameters.</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And based on these parameters there are various parameter passing methods, the common methods are:</a:t>
            </a:r>
          </a:p>
          <a:p>
            <a:pPr marL="895350" marR="0" lvl="0" indent="-514350" algn="just" defTabSz="914400" rtl="0" eaLnBrk="1" fontAlgn="auto" latinLnBrk="0" hangingPunct="1">
              <a:lnSpc>
                <a:spcPct val="114000"/>
              </a:lnSpc>
              <a:spcBef>
                <a:spcPct val="20000"/>
              </a:spcBef>
              <a:spcAft>
                <a:spcPts val="0"/>
              </a:spcAft>
              <a:buClrTx/>
              <a:buSzTx/>
              <a:buFont typeface="+mj-lt"/>
              <a:buAutoNum type="arabicPeriod"/>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Call by value</a:t>
            </a:r>
          </a:p>
          <a:p>
            <a:pPr marL="895350" marR="0" lvl="0" indent="-514350" algn="just" defTabSz="914400" rtl="0" eaLnBrk="1" fontAlgn="auto" latinLnBrk="0" hangingPunct="1">
              <a:lnSpc>
                <a:spcPct val="114000"/>
              </a:lnSpc>
              <a:spcBef>
                <a:spcPct val="20000"/>
              </a:spcBef>
              <a:spcAft>
                <a:spcPts val="0"/>
              </a:spcAft>
              <a:buClrTx/>
              <a:buSzTx/>
              <a:buFont typeface="+mj-lt"/>
              <a:buAutoNum type="arabicPeriod"/>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Call by reference</a:t>
            </a:r>
          </a:p>
          <a:p>
            <a:pPr marL="895350" marR="0" lvl="0" indent="-514350" algn="just" defTabSz="914400" rtl="0" eaLnBrk="1" fontAlgn="auto" latinLnBrk="0" hangingPunct="1">
              <a:lnSpc>
                <a:spcPct val="114000"/>
              </a:lnSpc>
              <a:spcBef>
                <a:spcPct val="20000"/>
              </a:spcBef>
              <a:spcAft>
                <a:spcPts val="0"/>
              </a:spcAft>
              <a:buClrTx/>
              <a:buSzTx/>
              <a:buFont typeface="+mj-lt"/>
              <a:buAutoNum type="arabicPeriod"/>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Copy restore</a:t>
            </a:r>
          </a:p>
          <a:p>
            <a:pPr marL="895350" marR="0" lvl="0" indent="-514350" algn="just" defTabSz="914400" rtl="0" eaLnBrk="1" fontAlgn="auto" latinLnBrk="0" hangingPunct="1">
              <a:lnSpc>
                <a:spcPct val="114000"/>
              </a:lnSpc>
              <a:spcBef>
                <a:spcPct val="20000"/>
              </a:spcBef>
              <a:spcAft>
                <a:spcPts val="0"/>
              </a:spcAft>
              <a:buClrTx/>
              <a:buSzTx/>
              <a:buFont typeface="+mj-lt"/>
              <a:buAutoNum type="arabicPeriod"/>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Call by name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1106826156"/>
      </p:ext>
    </p:extLst>
  </p:cSld>
  <p:clrMapOvr>
    <a:overrideClrMapping bg1="dk1" tx1="lt1" bg2="dk2" tx2="lt2" accent1="accent1" accent2="accent2" accent3="accent3" accent4="accent4" accent5="accent5" accent6="accent6" hlink="hlink" folHlink="folHlink"/>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1. Call by Value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is the simplest method of parameter passing.</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call by value method of passing arguments to a function </a:t>
            </a:r>
            <a:r>
              <a:rPr kumimoji="0" lang="en-US" sz="2800"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copies the actual value of an argument into the formal parameter of the function.</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operations on formal parameters do not change the values of a parameter.</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2844712151"/>
      </p:ext>
    </p:extLst>
  </p:cSld>
  <p:clrMapOvr>
    <a:overrideClrMapping bg1="dk1" tx1="lt1" bg2="dk2" tx2="lt2" accent1="accent1" accent2="accent2" accent3="accent3" accent4="accent4" accent5="accent5" accent6="accent6" hlink="hlink" folHlink="folHlink"/>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2. Call by Reference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method is also called as call by address or call by location.</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call by reference method of passing arguments to a function </a:t>
            </a:r>
            <a:r>
              <a:rPr kumimoji="0" lang="en-US" sz="2800"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copies the address of an argument into the formal parameter. </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Inside the function, the address is used to access the actual argument used in the call. </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 means the changes made to the parameter affect the passed argument.</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1705182186"/>
      </p:ext>
    </p:extLst>
  </p:cSld>
  <p:clrMapOvr>
    <a:overrideClrMapping bg1="dk1" tx1="lt1" bg2="dk2" tx2="lt2" accent1="accent1" accent2="accent2" accent3="accent3" accent4="accent4" accent5="accent5" accent6="accent6" hlink="hlink" folHlink="folHlink"/>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3. Copy Restore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method is a hybrid between call by value and call by reference. </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method is also known as copy-in-copy-out or values result.</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calling procedure calculates the value of actual parameter and it then copied to activation record for the called procedure.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During execution of called procedure, the actual parameters value is not affected.</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If the actual parameter has L-value then at return the value of formal parameter is copied to actual parameter.</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1471329422"/>
      </p:ext>
    </p:extLst>
  </p:cSld>
  <p:clrMapOvr>
    <a:overrideClrMapping bg1="dk1" tx1="lt1" bg2="dk2" tx2="lt2" accent1="accent1" accent2="accent2" accent3="accent3" accent4="accent4" accent5="accent5" accent6="accent6" hlink="hlink" folHlink="folHlink"/>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4. Call by Name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is less popular method of parameter passing.</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Procedure is treated like macro. </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procedure body is substituted for call in caller with actual parameters substituted for formals.</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local names of called procedure and names of calling procedure are distinct.</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actual parameters can be surrounded by parenthesis to preserve their integrity.</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3213505344"/>
      </p:ext>
    </p:extLst>
  </p:cSld>
  <p:clrMapOvr>
    <a:overrideClrMapping bg1="dk1" tx1="lt1" bg2="dk2" tx2="lt2" accent1="accent1" accent2="accent2" accent3="accent3" accent4="accent4" accent5="accent5" accent6="accent6" hlink="hlink" folHlink="folHlink"/>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marR="0" lvl="0" indent="-571500"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r>
              <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r>
              <a:rPr kumimoji="0" lang="en-US" sz="2800" b="1" i="0" u="none" strike="noStrike" kern="1200" cap="none" spc="0" normalizeH="0" baseline="0" noProof="0" dirty="0">
                <a:ln>
                  <a:noFill/>
                </a:ln>
                <a:solidFill>
                  <a:srgbClr val="146194">
                    <a:lumMod val="75000"/>
                  </a:srgbClr>
                </a:solidFill>
                <a:effectLst/>
                <a:uLnTx/>
                <a:uFillTx/>
                <a:latin typeface="Times New Roman" panose="02020603050405020304" pitchFamily="18" charset="0"/>
                <a:cs typeface="Times New Roman" panose="02020603050405020304" pitchFamily="18" charset="0"/>
              </a:rPr>
              <a:t>1. List Data structure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name can be stored with the help of starting index and length of each name.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Linear list is a simplest kind of mechanism to implement the symbol table.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 this method an </a:t>
            </a:r>
            <a:r>
              <a:rPr kumimoji="0" lang="en-US" sz="2800"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array is used to store names and associated information.</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New names can be added in the order as they arrive.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list data structure using array is given below:</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89C19A2-DACF-416B-9020-D0D3B4C9F07E}"/>
              </a:ext>
            </a:extLst>
          </p:cNvPr>
          <p:cNvGraphicFramePr>
            <a:graphicFrameLocks noGrp="1"/>
          </p:cNvGraphicFramePr>
          <p:nvPr/>
        </p:nvGraphicFramePr>
        <p:xfrm>
          <a:off x="8818418" y="4569691"/>
          <a:ext cx="2769978" cy="1854200"/>
        </p:xfrm>
        <a:graphic>
          <a:graphicData uri="http://schemas.openxmlformats.org/drawingml/2006/table">
            <a:tbl>
              <a:tblPr firstRow="1" bandRow="1">
                <a:tableStyleId>{D7AC3CCA-C797-4891-BE02-D94E43425B78}</a:tableStyleId>
              </a:tblPr>
              <a:tblGrid>
                <a:gridCol w="1151573">
                  <a:extLst>
                    <a:ext uri="{9D8B030D-6E8A-4147-A177-3AD203B41FA5}">
                      <a16:colId xmlns:a16="http://schemas.microsoft.com/office/drawing/2014/main" val="20000"/>
                    </a:ext>
                  </a:extLst>
                </a:gridCol>
                <a:gridCol w="1618405">
                  <a:extLst>
                    <a:ext uri="{9D8B030D-6E8A-4147-A177-3AD203B41FA5}">
                      <a16:colId xmlns:a16="http://schemas.microsoft.com/office/drawing/2014/main" val="20001"/>
                    </a:ext>
                  </a:extLst>
                </a:gridCol>
              </a:tblGrid>
              <a:tr h="370840">
                <a:tc>
                  <a:txBody>
                    <a:bodyPr/>
                    <a:lstStyle/>
                    <a:p>
                      <a:pPr marL="177800" marR="0" algn="ctr">
                        <a:lnSpc>
                          <a:spcPct val="115000"/>
                        </a:lnSpc>
                        <a:spcBef>
                          <a:spcPts val="0"/>
                        </a:spcBef>
                        <a:spcAft>
                          <a:spcPts val="0"/>
                        </a:spcAft>
                      </a:pPr>
                      <a:r>
                        <a:rPr lang="en-US" sz="1800" b="0" dirty="0">
                          <a:effectLst/>
                          <a:latin typeface="Times New Roman" panose="02020603050405020304" pitchFamily="18" charset="0"/>
                          <a:cs typeface="Times New Roman" panose="02020603050405020304" pitchFamily="18" charset="0"/>
                        </a:rPr>
                        <a:t>Name 1</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tc>
                  <a:txBody>
                    <a:bodyPr/>
                    <a:lstStyle/>
                    <a:p>
                      <a:pPr marL="215900" marR="0" algn="ctr">
                        <a:lnSpc>
                          <a:spcPct val="115000"/>
                        </a:lnSpc>
                        <a:spcBef>
                          <a:spcPts val="0"/>
                        </a:spcBef>
                        <a:spcAft>
                          <a:spcPts val="0"/>
                        </a:spcAft>
                      </a:pPr>
                      <a:r>
                        <a:rPr lang="en-US" sz="1800" b="0" dirty="0">
                          <a:effectLst/>
                          <a:latin typeface="Times New Roman" panose="02020603050405020304" pitchFamily="18" charset="0"/>
                          <a:cs typeface="Times New Roman" panose="02020603050405020304" pitchFamily="18" charset="0"/>
                        </a:rPr>
                        <a:t>Info 1</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extLst>
                  <a:ext uri="{0D108BD9-81ED-4DB2-BD59-A6C34878D82A}">
                    <a16:rowId xmlns:a16="http://schemas.microsoft.com/office/drawing/2014/main" val="10000"/>
                  </a:ext>
                </a:extLst>
              </a:tr>
              <a:tr h="370840">
                <a:tc>
                  <a:txBody>
                    <a:bodyPr/>
                    <a:lstStyle/>
                    <a:p>
                      <a:pPr marL="1778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Name 2</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tc>
                  <a:txBody>
                    <a:bodyPr/>
                    <a:lstStyle/>
                    <a:p>
                      <a:pPr marL="2159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Info 2</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extLst>
                  <a:ext uri="{0D108BD9-81ED-4DB2-BD59-A6C34878D82A}">
                    <a16:rowId xmlns:a16="http://schemas.microsoft.com/office/drawing/2014/main" val="10001"/>
                  </a:ext>
                </a:extLst>
              </a:tr>
              <a:tr h="370840">
                <a:tc>
                  <a:txBody>
                    <a:bodyPr/>
                    <a:lstStyle/>
                    <a:p>
                      <a:pPr marL="1778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Name 3</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tc>
                  <a:txBody>
                    <a:bodyPr/>
                    <a:lstStyle/>
                    <a:p>
                      <a:pPr marL="2159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Info 3</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extLst>
                  <a:ext uri="{0D108BD9-81ED-4DB2-BD59-A6C34878D82A}">
                    <a16:rowId xmlns:a16="http://schemas.microsoft.com/office/drawing/2014/main" val="10002"/>
                  </a:ext>
                </a:extLst>
              </a:tr>
              <a:tr h="370840">
                <a:tc>
                  <a:txBody>
                    <a:bodyPr/>
                    <a:lstStyle/>
                    <a:p>
                      <a:pPr algn="ctr"/>
                      <a:endParaRPr lang="en-US" sz="1800">
                        <a:latin typeface="Times New Roman" panose="02020603050405020304" pitchFamily="18" charset="0"/>
                        <a:cs typeface="Times New Roman" panose="02020603050405020304" pitchFamily="18" charset="0"/>
                      </a:endParaRPr>
                    </a:p>
                  </a:txBody>
                  <a:tcPr>
                    <a:noFill/>
                  </a:tcPr>
                </a:tc>
                <a:tc>
                  <a:txBody>
                    <a:bodyPr/>
                    <a:lstStyle/>
                    <a:p>
                      <a:pPr algn="ctr"/>
                      <a:endParaRPr lang="en-US" sz="18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10003"/>
                  </a:ext>
                </a:extLst>
              </a:tr>
              <a:tr h="370840">
                <a:tc>
                  <a:txBody>
                    <a:bodyPr/>
                    <a:lstStyle/>
                    <a:p>
                      <a:pPr marL="1778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Name 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tc>
                  <a:txBody>
                    <a:bodyPr/>
                    <a:lstStyle/>
                    <a:p>
                      <a:pPr marL="2159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Info 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extLst>
                  <a:ext uri="{0D108BD9-81ED-4DB2-BD59-A6C34878D82A}">
                    <a16:rowId xmlns:a16="http://schemas.microsoft.com/office/drawing/2014/main" val="10004"/>
                  </a:ext>
                </a:extLst>
              </a:tr>
            </a:tbl>
          </a:graphicData>
        </a:graphic>
      </p:graphicFrame>
      <p:sp>
        <p:nvSpPr>
          <p:cNvPr id="9" name="TextBox 8">
            <a:extLst>
              <a:ext uri="{FF2B5EF4-FFF2-40B4-BE49-F238E27FC236}">
                <a16:creationId xmlns:a16="http://schemas.microsoft.com/office/drawing/2014/main" id="{21DC98CB-943C-494A-9287-D665C281F6A5}"/>
              </a:ext>
            </a:extLst>
          </p:cNvPr>
          <p:cNvSpPr txBox="1"/>
          <p:nvPr/>
        </p:nvSpPr>
        <p:spPr>
          <a:xfrm>
            <a:off x="5551055" y="6488668"/>
            <a:ext cx="6243782" cy="369332"/>
          </a:xfrm>
          <a:prstGeom prst="rect">
            <a:avLst/>
          </a:prstGeom>
          <a:noFill/>
        </p:spPr>
        <p:txBody>
          <a:bodyPr wrap="square">
            <a:spAutoFit/>
          </a:bodyPr>
          <a:lstStyle/>
          <a:p>
            <a:pPr marL="3083560" marR="0" lvl="0" indent="0" algn="ctr" defTabSz="457200" rtl="0" eaLnBrk="1" fontAlgn="auto" latinLnBrk="0" hangingPunct="1">
              <a:lnSpc>
                <a:spcPct val="100000"/>
              </a:lnSpc>
              <a:spcBef>
                <a:spcPts val="1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Arimo"/>
                <a:cs typeface="Times New Roman" panose="02020603050405020304" pitchFamily="18" charset="0"/>
              </a:rPr>
              <a:t>Fig. List data structure</a:t>
            </a: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Arimo"/>
              <a:cs typeface="Times New Roman" panose="02020603050405020304" pitchFamily="18" charset="0"/>
            </a:endParaRPr>
          </a:p>
        </p:txBody>
      </p:sp>
    </p:spTree>
    <p:custDataLst>
      <p:tags r:id="rId2"/>
    </p:custDataLst>
    <p:extLst>
      <p:ext uri="{BB962C8B-B14F-4D97-AF65-F5344CB8AC3E}">
        <p14:creationId xmlns:p14="http://schemas.microsoft.com/office/powerpoint/2010/main" val="1726174665"/>
      </p:ext>
    </p:extLst>
  </p:cSld>
  <p:clrMapOvr>
    <a:overrideClrMapping bg1="dk1" tx1="lt1" bg2="dk2" tx2="lt2" accent1="accent1" accent2="accent2" accent3="accent3" accent4="accent4" accent5="accent5" accent6="accent6" hlink="hlink" folHlink="folHlink"/>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marR="0" lvl="0" indent="-571500"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r>
              <a:rPr kumimoji="0" lang="en-US" sz="3600" b="1" i="0" u="none" strike="noStrike" kern="1200" cap="none" spc="0" normalizeH="0" baseline="0" noProof="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endPar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lnSpcReduction="10000"/>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r>
              <a:rPr kumimoji="0" lang="en-US" sz="2800" b="1" i="0" u="none" strike="noStrike" kern="1200" cap="none" spc="0" normalizeH="0" baseline="0" noProof="0" dirty="0">
                <a:ln>
                  <a:noFill/>
                </a:ln>
                <a:solidFill>
                  <a:srgbClr val="146194">
                    <a:lumMod val="75000"/>
                  </a:srgbClr>
                </a:solidFill>
                <a:effectLst/>
                <a:uLnTx/>
                <a:uFillTx/>
                <a:latin typeface="Times New Roman" panose="02020603050405020304" pitchFamily="18" charset="0"/>
                <a:cs typeface="Times New Roman" panose="02020603050405020304" pitchFamily="18" charset="0"/>
              </a:rPr>
              <a:t>2. Self organizing list</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To retrieve the information about some name we start from beginning of array and go on searching up to available pointer. If we reach at pointer available without finding a name we get an error "use of undeclared name". We search the records in the order pointed by the link of link field. This symbol table implementation is using linked list. A link field is added to each record.</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pointer “First” is maintained to point to first record of the symbol table.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reference to these names can be Name 3, Name 1, Name 4, and Name 2.</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When the name is referenced or created it is moved to the front of the list.</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most frequently referred names will tend to be front of the list. Hence time to most referred names will be the least.</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4240965641"/>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wipe(down)">
                                      <p:cBhvr>
                                        <p:cTn id="10" dur="500"/>
                                        <p:tgtEl>
                                          <p:spTgt spid="7">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wipe(down)">
                                      <p:cBhvr>
                                        <p:cTn id="13" dur="500"/>
                                        <p:tgtEl>
                                          <p:spTgt spid="7">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wipe(down)">
                                      <p:cBhvr>
                                        <p:cTn id="16" dur="500"/>
                                        <p:tgtEl>
                                          <p:spTgt spid="7">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wipe(down)">
                                      <p:cBhvr>
                                        <p:cTn id="19" dur="500"/>
                                        <p:tgtEl>
                                          <p:spTgt spid="7">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0"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hidden"/>
                                      </p:to>
                                    </p:set>
                                  </p:childTnLst>
                                </p:cTn>
                              </p:par>
                              <p:par>
                                <p:cTn id="24" presetID="1" presetClass="exit" presetSubtype="0" fill="hold" grpId="0" nodeType="withEffect">
                                  <p:stCondLst>
                                    <p:cond delay="0"/>
                                  </p:stCondLst>
                                  <p:childTnLst>
                                    <p:set>
                                      <p:cBhvr>
                                        <p:cTn id="25" dur="1" fill="hold">
                                          <p:stCondLst>
                                            <p:cond delay="0"/>
                                          </p:stCondLst>
                                        </p:cTn>
                                        <p:tgtEl>
                                          <p:spTgt spid="7">
                                            <p:txEl>
                                              <p:pRg st="1" end="1"/>
                                            </p:txEl>
                                          </p:spTgt>
                                        </p:tgtEl>
                                        <p:attrNameLst>
                                          <p:attrName>style.visibility</p:attrName>
                                        </p:attrNameLst>
                                      </p:cBhvr>
                                      <p:to>
                                        <p:strVal val="hidden"/>
                                      </p:to>
                                    </p:set>
                                  </p:childTnLst>
                                </p:cTn>
                              </p:par>
                              <p:par>
                                <p:cTn id="26" presetID="1" presetClass="exit" presetSubtype="0" fill="hold" grpId="0" nodeType="withEffect">
                                  <p:stCondLst>
                                    <p:cond delay="0"/>
                                  </p:stCondLst>
                                  <p:childTnLst>
                                    <p:set>
                                      <p:cBhvr>
                                        <p:cTn id="27" dur="1" fill="hold">
                                          <p:stCondLst>
                                            <p:cond delay="0"/>
                                          </p:stCondLst>
                                        </p:cTn>
                                        <p:tgtEl>
                                          <p:spTgt spid="7">
                                            <p:txEl>
                                              <p:pRg st="2" end="2"/>
                                            </p:txEl>
                                          </p:spTgt>
                                        </p:tgtEl>
                                        <p:attrNameLst>
                                          <p:attrName>style.visibility</p:attrName>
                                        </p:attrNameLst>
                                      </p:cBhvr>
                                      <p:to>
                                        <p:strVal val="hidden"/>
                                      </p:to>
                                    </p:set>
                                  </p:childTnLst>
                                </p:cTn>
                              </p:par>
                              <p:par>
                                <p:cTn id="28" presetID="1" presetClass="exit" presetSubtype="0" fill="hold" grpId="0" nodeType="withEffect">
                                  <p:stCondLst>
                                    <p:cond delay="0"/>
                                  </p:stCondLst>
                                  <p:childTnLst>
                                    <p:set>
                                      <p:cBhvr>
                                        <p:cTn id="29" dur="1" fill="hold">
                                          <p:stCondLst>
                                            <p:cond delay="0"/>
                                          </p:stCondLst>
                                        </p:cTn>
                                        <p:tgtEl>
                                          <p:spTgt spid="7">
                                            <p:txEl>
                                              <p:pRg st="3" end="3"/>
                                            </p:txEl>
                                          </p:spTgt>
                                        </p:tgtEl>
                                        <p:attrNameLst>
                                          <p:attrName>style.visibility</p:attrName>
                                        </p:attrNameLst>
                                      </p:cBhvr>
                                      <p:to>
                                        <p:strVal val="hidden"/>
                                      </p:to>
                                    </p:set>
                                  </p:childTnLst>
                                </p:cTn>
                              </p:par>
                              <p:par>
                                <p:cTn id="30" presetID="1" presetClass="exit" presetSubtype="0" fill="hold" grpId="0" nodeType="withEffect">
                                  <p:stCondLst>
                                    <p:cond delay="0"/>
                                  </p:stCondLst>
                                  <p:childTnLst>
                                    <p:set>
                                      <p:cBhvr>
                                        <p:cTn id="31" dur="1" fill="hold">
                                          <p:stCondLst>
                                            <p:cond delay="0"/>
                                          </p:stCondLst>
                                        </p:cTn>
                                        <p:tgtEl>
                                          <p:spTgt spid="7">
                                            <p:txEl>
                                              <p:pRg st="4" end="4"/>
                                            </p:txEl>
                                          </p:spTgt>
                                        </p:tgtEl>
                                        <p:attrNameLst>
                                          <p:attrName>style.visibility</p:attrName>
                                        </p:attrNameLst>
                                      </p:cBhvr>
                                      <p:to>
                                        <p:strVal val="hidden"/>
                                      </p:to>
                                    </p:set>
                                  </p:childTnLst>
                                </p:cTn>
                              </p:par>
                              <p:par>
                                <p:cTn id="32" presetID="1" presetClass="exit" presetSubtype="0" fill="hold" grpId="0"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marR="0" lvl="0" indent="-571500"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r>
              <a:rPr kumimoji="0" lang="en-US" sz="3600" b="1" i="0" u="none" strike="noStrike" kern="1200" cap="none" spc="0" normalizeH="0" baseline="0" noProof="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endPar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r>
              <a:rPr kumimoji="0" lang="en-US" sz="2800" b="1" i="0" u="none" strike="noStrike" kern="1200" cap="none" spc="0" normalizeH="0" baseline="0" noProof="0" dirty="0">
                <a:ln>
                  <a:noFill/>
                </a:ln>
                <a:solidFill>
                  <a:srgbClr val="146194">
                    <a:lumMod val="75000"/>
                  </a:srgbClr>
                </a:solidFill>
                <a:effectLst/>
                <a:uLnTx/>
                <a:uFillTx/>
                <a:latin typeface="Times New Roman" panose="02020603050405020304" pitchFamily="18" charset="0"/>
                <a:cs typeface="Times New Roman" panose="02020603050405020304" pitchFamily="18" charset="0"/>
              </a:rPr>
              <a:t>2. Self organizing list</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16" name="Rectangle 2">
            <a:extLst>
              <a:ext uri="{FF2B5EF4-FFF2-40B4-BE49-F238E27FC236}">
                <a16:creationId xmlns:a16="http://schemas.microsoft.com/office/drawing/2014/main" id="{51542FCE-D8BD-4724-9DF7-FF218587A528}"/>
              </a:ext>
            </a:extLst>
          </p:cNvPr>
          <p:cNvSpPr>
            <a:spLocks noChangeArrowheads="1"/>
          </p:cNvSpPr>
          <p:nvPr/>
        </p:nvSpPr>
        <p:spPr bwMode="auto">
          <a:xfrm>
            <a:off x="3912352" y="2545837"/>
            <a:ext cx="750336" cy="3111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First</a:t>
            </a:r>
          </a:p>
        </p:txBody>
      </p:sp>
      <p:graphicFrame>
        <p:nvGraphicFramePr>
          <p:cNvPr id="17" name="Table 16">
            <a:extLst>
              <a:ext uri="{FF2B5EF4-FFF2-40B4-BE49-F238E27FC236}">
                <a16:creationId xmlns:a16="http://schemas.microsoft.com/office/drawing/2014/main" id="{B714479A-6517-4D61-9C4A-0FCF263ABB86}"/>
              </a:ext>
            </a:extLst>
          </p:cNvPr>
          <p:cNvGraphicFramePr>
            <a:graphicFrameLocks noGrp="1"/>
          </p:cNvGraphicFramePr>
          <p:nvPr/>
        </p:nvGraphicFramePr>
        <p:xfrm>
          <a:off x="5073448" y="2545837"/>
          <a:ext cx="2595331" cy="1854200"/>
        </p:xfrm>
        <a:graphic>
          <a:graphicData uri="http://schemas.openxmlformats.org/drawingml/2006/table">
            <a:tbl>
              <a:tblPr firstRow="1" bandRow="1"/>
              <a:tblGrid>
                <a:gridCol w="969962">
                  <a:extLst>
                    <a:ext uri="{9D8B030D-6E8A-4147-A177-3AD203B41FA5}">
                      <a16:colId xmlns:a16="http://schemas.microsoft.com/office/drawing/2014/main" val="20000"/>
                    </a:ext>
                  </a:extLst>
                </a:gridCol>
                <a:gridCol w="816166">
                  <a:extLst>
                    <a:ext uri="{9D8B030D-6E8A-4147-A177-3AD203B41FA5}">
                      <a16:colId xmlns:a16="http://schemas.microsoft.com/office/drawing/2014/main" val="20001"/>
                    </a:ext>
                  </a:extLst>
                </a:gridCol>
                <a:gridCol w="809203">
                  <a:extLst>
                    <a:ext uri="{9D8B030D-6E8A-4147-A177-3AD203B41FA5}">
                      <a16:colId xmlns:a16="http://schemas.microsoft.com/office/drawing/2014/main" val="20002"/>
                    </a:ext>
                  </a:extLst>
                </a:gridCol>
              </a:tblGrid>
              <a:tr h="370840">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marL="177800" marR="0" algn="ctr">
                        <a:lnSpc>
                          <a:spcPct val="115000"/>
                        </a:lnSpc>
                        <a:spcBef>
                          <a:spcPts val="0"/>
                        </a:spcBef>
                        <a:spcAft>
                          <a:spcPts val="0"/>
                        </a:spcAft>
                      </a:pPr>
                      <a:r>
                        <a:rPr lang="en-US" sz="1800" b="0" dirty="0">
                          <a:effectLst/>
                        </a:rPr>
                        <a:t>Name 1</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marL="215900" marR="0" algn="ctr">
                        <a:lnSpc>
                          <a:spcPct val="115000"/>
                        </a:lnSpc>
                        <a:spcBef>
                          <a:spcPts val="0"/>
                        </a:spcBef>
                        <a:spcAft>
                          <a:spcPts val="0"/>
                        </a:spcAft>
                      </a:pPr>
                      <a:r>
                        <a:rPr lang="en-US" sz="1800" b="0" dirty="0">
                          <a:effectLst/>
                        </a:rPr>
                        <a:t>Info 1</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marL="215900" marR="0" algn="ctr">
                        <a:lnSpc>
                          <a:spcPct val="115000"/>
                        </a:lnSpc>
                        <a:spcBef>
                          <a:spcPts val="0"/>
                        </a:spcBef>
                        <a:spcAft>
                          <a:spcPts val="0"/>
                        </a:spcAft>
                      </a:pP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177800" marR="0" algn="ctr">
                        <a:lnSpc>
                          <a:spcPct val="115000"/>
                        </a:lnSpc>
                        <a:spcBef>
                          <a:spcPts val="0"/>
                        </a:spcBef>
                        <a:spcAft>
                          <a:spcPts val="0"/>
                        </a:spcAft>
                      </a:pPr>
                      <a:r>
                        <a:rPr lang="en-US" sz="1800" dirty="0">
                          <a:effectLst/>
                        </a:rPr>
                        <a:t>Name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r>
                        <a:rPr lang="en-US" sz="1800" dirty="0">
                          <a:effectLst/>
                        </a:rPr>
                        <a:t>Info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177800" marR="0" algn="ctr">
                        <a:lnSpc>
                          <a:spcPct val="115000"/>
                        </a:lnSpc>
                        <a:spcBef>
                          <a:spcPts val="0"/>
                        </a:spcBef>
                        <a:spcAft>
                          <a:spcPts val="0"/>
                        </a:spcAft>
                      </a:pPr>
                      <a:r>
                        <a:rPr lang="en-US" sz="1800" dirty="0">
                          <a:effectLst/>
                        </a:rPr>
                        <a:t>Name 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r>
                        <a:rPr lang="en-US" sz="1800" dirty="0">
                          <a:effectLst/>
                        </a:rPr>
                        <a:t>Info 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endParaRPr lang="en-US" sz="18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endParaRPr lang="en-US" sz="18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endParaRPr lang="en-US" sz="18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177800" marR="0" algn="ctr">
                        <a:lnSpc>
                          <a:spcPct val="115000"/>
                        </a:lnSpc>
                        <a:spcBef>
                          <a:spcPts val="0"/>
                        </a:spcBef>
                        <a:spcAft>
                          <a:spcPts val="0"/>
                        </a:spcAft>
                      </a:pPr>
                      <a:r>
                        <a:rPr lang="en-US" sz="1800" dirty="0">
                          <a:effectLst/>
                        </a:rPr>
                        <a:t>Name 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r>
                        <a:rPr lang="en-US" sz="1800" dirty="0">
                          <a:effectLst/>
                        </a:rPr>
                        <a:t>Info 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cxnSp>
        <p:nvCxnSpPr>
          <p:cNvPr id="18" name="Straight Arrow Connector 17">
            <a:extLst>
              <a:ext uri="{FF2B5EF4-FFF2-40B4-BE49-F238E27FC236}">
                <a16:creationId xmlns:a16="http://schemas.microsoft.com/office/drawing/2014/main" id="{6EA77C09-5C63-4562-9F66-C37600CA5DA5}"/>
              </a:ext>
            </a:extLst>
          </p:cNvPr>
          <p:cNvCxnSpPr/>
          <p:nvPr/>
        </p:nvCxnSpPr>
        <p:spPr>
          <a:xfrm>
            <a:off x="4463848" y="2701412"/>
            <a:ext cx="609600" cy="0"/>
          </a:xfrm>
          <a:prstGeom prst="straightConnector1">
            <a:avLst/>
          </a:prstGeom>
          <a:noFill/>
          <a:ln w="25400" cap="flat" cmpd="sng" algn="ctr">
            <a:solidFill>
              <a:srgbClr val="FF0000"/>
            </a:solidFill>
            <a:prstDash val="solid"/>
            <a:tailEnd type="triangle"/>
          </a:ln>
          <a:effectLst/>
        </p:spPr>
      </p:cxnSp>
      <p:cxnSp>
        <p:nvCxnSpPr>
          <p:cNvPr id="19" name="Straight Arrow Connector 18">
            <a:extLst>
              <a:ext uri="{FF2B5EF4-FFF2-40B4-BE49-F238E27FC236}">
                <a16:creationId xmlns:a16="http://schemas.microsoft.com/office/drawing/2014/main" id="{703BFD6C-D5C0-4ACA-829F-AB31935F8A54}"/>
              </a:ext>
            </a:extLst>
          </p:cNvPr>
          <p:cNvCxnSpPr/>
          <p:nvPr/>
        </p:nvCxnSpPr>
        <p:spPr>
          <a:xfrm>
            <a:off x="7668779" y="3458649"/>
            <a:ext cx="300269" cy="0"/>
          </a:xfrm>
          <a:prstGeom prst="straightConnector1">
            <a:avLst/>
          </a:prstGeom>
          <a:noFill/>
          <a:ln w="25400" cap="flat" cmpd="sng" algn="ctr">
            <a:solidFill>
              <a:srgbClr val="4F81BD">
                <a:shade val="95000"/>
                <a:satMod val="105000"/>
              </a:srgbClr>
            </a:solidFill>
            <a:prstDash val="solid"/>
            <a:headEnd type="arrow"/>
            <a:tailEnd type="none"/>
          </a:ln>
          <a:effectLst/>
        </p:spPr>
      </p:cxnSp>
      <p:cxnSp>
        <p:nvCxnSpPr>
          <p:cNvPr id="20" name="Straight Connector 19">
            <a:extLst>
              <a:ext uri="{FF2B5EF4-FFF2-40B4-BE49-F238E27FC236}">
                <a16:creationId xmlns:a16="http://schemas.microsoft.com/office/drawing/2014/main" id="{903B8805-690C-453D-BCF2-61BB14DD16C4}"/>
              </a:ext>
            </a:extLst>
          </p:cNvPr>
          <p:cNvCxnSpPr/>
          <p:nvPr/>
        </p:nvCxnSpPr>
        <p:spPr>
          <a:xfrm flipV="1">
            <a:off x="7969048" y="2701412"/>
            <a:ext cx="0" cy="771525"/>
          </a:xfrm>
          <a:prstGeom prst="line">
            <a:avLst/>
          </a:prstGeom>
          <a:noFill/>
          <a:ln w="25400" cap="flat" cmpd="sng" algn="ctr">
            <a:solidFill>
              <a:srgbClr val="4F81BD">
                <a:shade val="95000"/>
                <a:satMod val="105000"/>
              </a:srgbClr>
            </a:solidFill>
            <a:prstDash val="solid"/>
          </a:ln>
          <a:effectLst/>
        </p:spPr>
      </p:cxnSp>
      <p:cxnSp>
        <p:nvCxnSpPr>
          <p:cNvPr id="21" name="Straight Connector 20">
            <a:extLst>
              <a:ext uri="{FF2B5EF4-FFF2-40B4-BE49-F238E27FC236}">
                <a16:creationId xmlns:a16="http://schemas.microsoft.com/office/drawing/2014/main" id="{CBA76D9D-1C28-4699-A5B0-1DBA4B0EC227}"/>
              </a:ext>
            </a:extLst>
          </p:cNvPr>
          <p:cNvCxnSpPr/>
          <p:nvPr/>
        </p:nvCxnSpPr>
        <p:spPr>
          <a:xfrm flipH="1">
            <a:off x="7668779" y="2701412"/>
            <a:ext cx="300269" cy="0"/>
          </a:xfrm>
          <a:prstGeom prst="line">
            <a:avLst/>
          </a:prstGeom>
          <a:noFill/>
          <a:ln w="25400" cap="flat" cmpd="sng" algn="ctr">
            <a:solidFill>
              <a:srgbClr val="4F81BD">
                <a:shade val="95000"/>
                <a:satMod val="105000"/>
              </a:srgbClr>
            </a:solidFill>
            <a:prstDash val="solid"/>
          </a:ln>
          <a:effectLst/>
        </p:spPr>
      </p:cxnSp>
      <p:sp>
        <p:nvSpPr>
          <p:cNvPr id="22" name="TextBox 21">
            <a:extLst>
              <a:ext uri="{FF2B5EF4-FFF2-40B4-BE49-F238E27FC236}">
                <a16:creationId xmlns:a16="http://schemas.microsoft.com/office/drawing/2014/main" id="{DCEBE210-4699-4522-9CC5-BE83AA8194A9}"/>
              </a:ext>
            </a:extLst>
          </p:cNvPr>
          <p:cNvSpPr txBox="1"/>
          <p:nvPr/>
        </p:nvSpPr>
        <p:spPr>
          <a:xfrm>
            <a:off x="2047568" y="4462471"/>
            <a:ext cx="6248400" cy="369332"/>
          </a:xfrm>
          <a:prstGeom prst="rect">
            <a:avLst/>
          </a:prstGeom>
          <a:noFill/>
        </p:spPr>
        <p:txBody>
          <a:bodyPr wrap="square">
            <a:spAutoFit/>
          </a:bodyPr>
          <a:lstStyle/>
          <a:p>
            <a:pPr marL="308356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Arimo"/>
                <a:cs typeface="Times New Roman" panose="02020603050405020304" pitchFamily="18" charset="0"/>
              </a:rPr>
              <a:t>Fig. Self organizing list</a:t>
            </a: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Arimo"/>
              <a:cs typeface="Times New Roman" panose="02020603050405020304" pitchFamily="18" charset="0"/>
            </a:endParaRPr>
          </a:p>
        </p:txBody>
      </p:sp>
    </p:spTree>
    <p:custDataLst>
      <p:tags r:id="rId2"/>
    </p:custDataLst>
    <p:extLst>
      <p:ext uri="{BB962C8B-B14F-4D97-AF65-F5344CB8AC3E}">
        <p14:creationId xmlns:p14="http://schemas.microsoft.com/office/powerpoint/2010/main" val="2148136586"/>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down)">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16" grpId="0" animBg="1"/>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marR="0" lvl="0" indent="-571500"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r>
              <a:rPr kumimoji="0" lang="en-US" sz="3600" b="1" i="0" u="none" strike="noStrike" kern="1200" cap="none" spc="0" normalizeH="0" baseline="0" noProof="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endPar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r>
              <a:rPr kumimoji="0" lang="en-US" sz="2800" b="1" i="0" u="none" strike="noStrike" kern="1200" cap="none" spc="0" normalizeH="0" baseline="0" noProof="0" dirty="0">
                <a:ln>
                  <a:noFill/>
                </a:ln>
                <a:solidFill>
                  <a:srgbClr val="146194">
                    <a:lumMod val="75000"/>
                  </a:srgbClr>
                </a:solidFill>
                <a:effectLst/>
                <a:uLnTx/>
                <a:uFillTx/>
                <a:latin typeface="Times New Roman" panose="02020603050405020304" pitchFamily="18" charset="0"/>
                <a:cs typeface="Times New Roman" panose="02020603050405020304" pitchFamily="18" charset="0"/>
              </a:rPr>
              <a:t>3. Binary Tree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When the organization symbol table is by means of binary tree, the node structure will as follows:</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left child field stores the address of previous symbol.</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Right child field stores the address of next symbol. </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symbol field is used to store the name of the symbols.</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Information field is used to give information about the symbol.</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6ADA528-4ABC-4872-8A85-BA4A5BD52469}"/>
              </a:ext>
            </a:extLst>
          </p:cNvPr>
          <p:cNvPicPr>
            <a:picLocks noChangeAspect="1"/>
          </p:cNvPicPr>
          <p:nvPr/>
        </p:nvPicPr>
        <p:blipFill>
          <a:blip r:embed="rId4"/>
          <a:stretch>
            <a:fillRect/>
          </a:stretch>
        </p:blipFill>
        <p:spPr>
          <a:xfrm>
            <a:off x="2885010" y="5345865"/>
            <a:ext cx="6127011" cy="493819"/>
          </a:xfrm>
          <a:prstGeom prst="rect">
            <a:avLst/>
          </a:prstGeom>
        </p:spPr>
      </p:pic>
    </p:spTree>
    <p:custDataLst>
      <p:tags r:id="rId2"/>
    </p:custDataLst>
    <p:extLst>
      <p:ext uri="{BB962C8B-B14F-4D97-AF65-F5344CB8AC3E}">
        <p14:creationId xmlns:p14="http://schemas.microsoft.com/office/powerpoint/2010/main" val="1339542053"/>
      </p:ext>
    </p:extLst>
  </p:cSld>
  <p:clrMapOvr>
    <a:overrideClrMapping bg1="dk1" tx1="lt1" bg2="dk2" tx2="lt2" accent1="accent1" accent2="accent2" accent3="accent3" accent4="accent4" accent5="accent5" accent6="accent6" hlink="hlink" folHlink="folHlink"/>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marR="0" lvl="0" indent="-571500" algn="l" defTabSz="457200" rtl="0" eaLnBrk="0" fontAlgn="base" latinLnBrk="0" hangingPunct="0">
              <a:lnSpc>
                <a:spcPct val="100000"/>
              </a:lnSpc>
              <a:spcBef>
                <a:spcPct val="0"/>
              </a:spcBef>
              <a:spcAft>
                <a:spcPct val="0"/>
              </a:spcAft>
              <a:buClrTx/>
              <a:buSzTx/>
              <a:buFont typeface="Wingdings" panose="05000000000000000000" pitchFamily="2" charset="2"/>
              <a:buChar char="v"/>
              <a:tabLst/>
              <a:defRPr/>
            </a:pPr>
            <a:r>
              <a:rPr kumimoji="0" lang="en-US" sz="3600" b="1" i="0" u="none" strike="noStrike" kern="1200" cap="none" spc="0" normalizeH="0" baseline="0" noProof="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endParaRPr kumimoji="0" lang="en-US" sz="3600" b="1" i="0" u="none" strike="noStrike" kern="1200" cap="none" spc="0" normalizeH="0" baseline="0" noProof="0" dirty="0">
              <a:ln>
                <a:noFill/>
              </a:ln>
              <a:solidFill>
                <a:srgbClr val="E87D37">
                  <a:lumMod val="75000"/>
                </a:srgbClr>
              </a:solidFill>
              <a:effectLst>
                <a:outerShdw blurRad="38100" dist="38100" dir="2700000" algn="tl">
                  <a:srgbClr val="000000">
                    <a:alpha val="43137"/>
                  </a:srgbClr>
                </a:outerShdw>
              </a:effectLst>
              <a:uLnTx/>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r>
              <a:rPr kumimoji="0" lang="en-US" sz="2800" b="1" i="0" u="none" strike="noStrike" kern="1200" cap="none" spc="0" normalizeH="0" baseline="0" noProof="0" dirty="0">
                <a:ln>
                  <a:noFill/>
                </a:ln>
                <a:solidFill>
                  <a:srgbClr val="146194">
                    <a:lumMod val="75000"/>
                  </a:srgbClr>
                </a:solidFill>
                <a:effectLst/>
                <a:uLnTx/>
                <a:uFillTx/>
                <a:latin typeface="Times New Roman" panose="02020603050405020304" pitchFamily="18" charset="0"/>
                <a:cs typeface="Times New Roman" panose="02020603050405020304" pitchFamily="18" charset="0"/>
              </a:rPr>
              <a:t>4. Hash table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 hashing scheme two tables are maintained-a hash table and symbol table.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hash table consists of k entries from 0,1 to k-1. These entries are basically pointers to symbol table pointing to the names of symbol table.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To determine whether the 'Name' is in symbol table, we use a hash function 'h' such that h(name) will result any integer between 0 to k-1. We can search any name by position=h(name).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Using this position we can obtain the exact locations of name in symbol table.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Advantage of hashing is quick search is possible and the disadvantage is that hashing is complicated to implement. </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ü"/>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4000"/>
              </a:lnSpc>
              <a:spcBef>
                <a:spcPct val="20000"/>
              </a:spcBef>
              <a:spcAft>
                <a:spcPts val="0"/>
              </a:spcAft>
              <a:buClrTx/>
              <a:buSzTx/>
              <a:buFont typeface="Wingdings" panose="05000000000000000000" pitchFamily="2" charset="2"/>
              <a:buNone/>
              <a:tabLst/>
              <a:defRPr/>
            </a:pPr>
            <a:endParaRPr kumimoji="0" lang="en-US" sz="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2746802623"/>
      </p:ext>
    </p:extLst>
  </p:cSld>
  <p:clrMapOvr>
    <a:overrideClrMapping bg1="dk1" tx1="lt1" bg2="dk2" tx2="lt2" accent1="accent1" accent2="accent2" accent3="accent3" accent4="accent4" accent5="accent5" accent6="accent6" hlink="hlink" folHlink="folHlink"/>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3761065" y="2746967"/>
            <a:ext cx="5835517" cy="90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5400" b="1" dirty="0">
                <a:solidFill>
                  <a:schemeClr val="accent5">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THANK YOU</a:t>
            </a:r>
          </a:p>
        </p:txBody>
      </p:sp>
    </p:spTree>
    <p:extLst>
      <p:ext uri="{BB962C8B-B14F-4D97-AF65-F5344CB8AC3E}">
        <p14:creationId xmlns:p14="http://schemas.microsoft.com/office/powerpoint/2010/main" val="2057084335"/>
      </p:ext>
    </p:extLst>
  </p:cSld>
  <p:clrMapOvr>
    <a:overrideClrMapping bg1="dk1" tx1="lt1" bg2="dk2" tx2="lt2" accent1="accent1" accent2="accent2" accent3="accent3" accent4="accent4" accent5="accent5" accent6="accent6" hlink="hlink" folHlink="folHlink"/>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11.7|7.1"/>
</p:tagLst>
</file>

<file path=ppt/tags/tag2.xml><?xml version="1.0" encoding="utf-8"?>
<p:tagLst xmlns:a="http://schemas.openxmlformats.org/drawingml/2006/main" xmlns:r="http://schemas.openxmlformats.org/officeDocument/2006/relationships" xmlns:p="http://schemas.openxmlformats.org/presentationml/2006/main">
  <p:tag name="TIMING" val="|7.2|3.6|21.7|8.4|6.8"/>
</p:tagLst>
</file>

<file path=ppt/tags/tag3.xml><?xml version="1.0" encoding="utf-8"?>
<p:tagLst xmlns:a="http://schemas.openxmlformats.org/drawingml/2006/main" xmlns:r="http://schemas.openxmlformats.org/officeDocument/2006/relationships" xmlns:p="http://schemas.openxmlformats.org/presentationml/2006/main">
  <p:tag name="TIMING" val="|7.5|17.5|38.3"/>
</p:tagLst>
</file>

<file path=ppt/tags/tag4.xml><?xml version="1.0" encoding="utf-8"?>
<p:tagLst xmlns:a="http://schemas.openxmlformats.org/drawingml/2006/main" xmlns:r="http://schemas.openxmlformats.org/officeDocument/2006/relationships" xmlns:p="http://schemas.openxmlformats.org/presentationml/2006/main">
  <p:tag name="TIMING" val="|6.3|20.2|0.7|30.9|1.1|2.9"/>
</p:tagLst>
</file>

<file path=ppt/tags/tag5.xml><?xml version="1.0" encoding="utf-8"?>
<p:tagLst xmlns:a="http://schemas.openxmlformats.org/drawingml/2006/main" xmlns:r="http://schemas.openxmlformats.org/officeDocument/2006/relationships" xmlns:p="http://schemas.openxmlformats.org/presentationml/2006/main">
  <p:tag name="TIMING" val="|7.2|5.6|0.6|17.5|4"/>
</p:tagLst>
</file>

<file path=ppt/tags/tag6.xml><?xml version="1.0" encoding="utf-8"?>
<p:tagLst xmlns:a="http://schemas.openxmlformats.org/drawingml/2006/main" xmlns:r="http://schemas.openxmlformats.org/officeDocument/2006/relationships" xmlns:p="http://schemas.openxmlformats.org/presentationml/2006/main">
  <p:tag name="TIMING" val="|10.7|11.1"/>
</p:tagLst>
</file>

<file path=ppt/tags/tag7.xml><?xml version="1.0" encoding="utf-8"?>
<p:tagLst xmlns:a="http://schemas.openxmlformats.org/drawingml/2006/main" xmlns:r="http://schemas.openxmlformats.org/officeDocument/2006/relationships" xmlns:p="http://schemas.openxmlformats.org/presentationml/2006/main">
  <p:tag name="TIMING" val="|4.9|50.7|0.8"/>
</p:tagLst>
</file>

<file path=ppt/tags/tag8.xml><?xml version="1.0" encoding="utf-8"?>
<p:tagLst xmlns:a="http://schemas.openxmlformats.org/drawingml/2006/main" xmlns:r="http://schemas.openxmlformats.org/officeDocument/2006/relationships" xmlns:p="http://schemas.openxmlformats.org/presentationml/2006/main">
  <p:tag name="TIMING" val="|6.5|13.7|61.1|11|20.2|0.8|47.2"/>
</p:tagLst>
</file>

<file path=ppt/tags/tag9.xml><?xml version="1.0" encoding="utf-8"?>
<p:tagLst xmlns:a="http://schemas.openxmlformats.org/drawingml/2006/main" xmlns:r="http://schemas.openxmlformats.org/officeDocument/2006/relationships" xmlns:p="http://schemas.openxmlformats.org/presentationml/2006/main">
  <p:tag name="TIMING" val="|6.8|8.1|13.9|0.8|42.3"/>
</p:tagLst>
</file>

<file path=ppt/tags/tag10.xml><?xml version="1.0" encoding="utf-8"?>
<p:tagLst xmlns:a="http://schemas.openxmlformats.org/drawingml/2006/main" xmlns:r="http://schemas.openxmlformats.org/officeDocument/2006/relationships" xmlns:p="http://schemas.openxmlformats.org/presentationml/2006/main">
  <p:tag name="TIMING" val="|7.2|3.6|21.7|8.4|6.8"/>
</p:tagLst>
</file>

<file path=ppt/tags/tag11.xml><?xml version="1.0" encoding="utf-8"?>
<p:tagLst xmlns:a="http://schemas.openxmlformats.org/drawingml/2006/main" xmlns:r="http://schemas.openxmlformats.org/officeDocument/2006/relationships" xmlns:p="http://schemas.openxmlformats.org/presentationml/2006/main">
  <p:tag name="TIMING" val="|63.7|4.9"/>
</p:tagLst>
</file>

<file path=ppt/tags/tag12.xml><?xml version="1.0" encoding="utf-8"?>
<p:tagLst xmlns:a="http://schemas.openxmlformats.org/drawingml/2006/main" xmlns:r="http://schemas.openxmlformats.org/officeDocument/2006/relationships" xmlns:p="http://schemas.openxmlformats.org/presentationml/2006/main">
  <p:tag name="TIMING" val="|10.9|0.2|0.1|0.1|0.1|0.7|1.2|0.4|16.5|0.5|82.4"/>
</p:tagLst>
</file>

<file path=ppt/tags/tag13.xml><?xml version="1.0" encoding="utf-8"?>
<p:tagLst xmlns:a="http://schemas.openxmlformats.org/drawingml/2006/main" xmlns:r="http://schemas.openxmlformats.org/officeDocument/2006/relationships" xmlns:p="http://schemas.openxmlformats.org/presentationml/2006/main">
  <p:tag name="TIMING" val="|1.9|0.2|0.2|0.4|0.8|0.3"/>
</p:tagLst>
</file>

<file path=ppt/tags/tag14.xml><?xml version="1.0" encoding="utf-8"?>
<p:tagLst xmlns:a="http://schemas.openxmlformats.org/drawingml/2006/main" xmlns:r="http://schemas.openxmlformats.org/officeDocument/2006/relationships" xmlns:p="http://schemas.openxmlformats.org/presentationml/2006/main">
  <p:tag name="TIMING" val="|3.7|1.7|37.6|21.3"/>
</p:tagLst>
</file>

<file path=ppt/tags/tag15.xml><?xml version="1.0" encoding="utf-8"?>
<p:tagLst xmlns:a="http://schemas.openxmlformats.org/drawingml/2006/main" xmlns:r="http://schemas.openxmlformats.org/officeDocument/2006/relationships" xmlns:p="http://schemas.openxmlformats.org/presentationml/2006/main">
  <p:tag name="TIMING" val="|4.5|0.5|6.1|1.8"/>
</p:tagLst>
</file>

<file path=ppt/tags/tag16.xml><?xml version="1.0" encoding="utf-8"?>
<p:tagLst xmlns:a="http://schemas.openxmlformats.org/drawingml/2006/main" xmlns:r="http://schemas.openxmlformats.org/officeDocument/2006/relationships" xmlns:p="http://schemas.openxmlformats.org/presentationml/2006/main">
  <p:tag name="TIMING" val="|4.5|0.5|6.1|1.8"/>
</p:tagLst>
</file>

<file path=ppt/tags/tag17.xml><?xml version="1.0" encoding="utf-8"?>
<p:tagLst xmlns:a="http://schemas.openxmlformats.org/drawingml/2006/main" xmlns:r="http://schemas.openxmlformats.org/officeDocument/2006/relationships" xmlns:p="http://schemas.openxmlformats.org/presentationml/2006/main">
  <p:tag name="TIMING" val="|4.5|0.5|6.1|1.8"/>
</p:tagLst>
</file>

<file path=ppt/tags/tag18.xml><?xml version="1.0" encoding="utf-8"?>
<p:tagLst xmlns:a="http://schemas.openxmlformats.org/drawingml/2006/main" xmlns:r="http://schemas.openxmlformats.org/officeDocument/2006/relationships" xmlns:p="http://schemas.openxmlformats.org/presentationml/2006/main">
  <p:tag name="TIMING" val="|4.5|0.5|6.1|1.8"/>
</p:tagLst>
</file>

<file path=ppt/tags/tag19.xml><?xml version="1.0" encoding="utf-8"?>
<p:tagLst xmlns:a="http://schemas.openxmlformats.org/drawingml/2006/main" xmlns:r="http://schemas.openxmlformats.org/officeDocument/2006/relationships" xmlns:p="http://schemas.openxmlformats.org/presentationml/2006/main">
  <p:tag name="TIMING" val="|4.5|0.5|6.1|1.8"/>
</p:tagLst>
</file>

<file path=ppt/tags/tag20.xml><?xml version="1.0" encoding="utf-8"?>
<p:tagLst xmlns:a="http://schemas.openxmlformats.org/drawingml/2006/main" xmlns:r="http://schemas.openxmlformats.org/officeDocument/2006/relationships" xmlns:p="http://schemas.openxmlformats.org/presentationml/2006/main">
  <p:tag name="TIMING" val="|4.5|0.5|6.1|1.8"/>
</p:tagLst>
</file>

<file path=ppt/tags/tag21.xml><?xml version="1.0" encoding="utf-8"?>
<p:tagLst xmlns:a="http://schemas.openxmlformats.org/drawingml/2006/main" xmlns:r="http://schemas.openxmlformats.org/officeDocument/2006/relationships" xmlns:p="http://schemas.openxmlformats.org/presentationml/2006/main">
  <p:tag name="TIMING" val="|0.9|39.5|0.4|21|0.4"/>
</p:tagLst>
</file>

<file path=ppt/tags/tag22.xml><?xml version="1.0" encoding="utf-8"?>
<p:tagLst xmlns:a="http://schemas.openxmlformats.org/drawingml/2006/main" xmlns:r="http://schemas.openxmlformats.org/officeDocument/2006/relationships" xmlns:p="http://schemas.openxmlformats.org/presentationml/2006/main">
  <p:tag name="TIMING" val="|0.9|39.5|0.4|21|0.4"/>
</p:tagLst>
</file>

<file path=ppt/tags/tag23.xml><?xml version="1.0" encoding="utf-8"?>
<p:tagLst xmlns:a="http://schemas.openxmlformats.org/drawingml/2006/main" xmlns:r="http://schemas.openxmlformats.org/officeDocument/2006/relationships" xmlns:p="http://schemas.openxmlformats.org/presentationml/2006/main">
  <p:tag name="TIMING" val="|4.5|0.5|6.1|1.8"/>
</p:tagLst>
</file>

<file path=ppt/tags/tag24.xml><?xml version="1.0" encoding="utf-8"?>
<p:tagLst xmlns:a="http://schemas.openxmlformats.org/drawingml/2006/main" xmlns:r="http://schemas.openxmlformats.org/officeDocument/2006/relationships" xmlns:p="http://schemas.openxmlformats.org/presentationml/2006/main">
  <p:tag name="TIMING" val="|4.5|0.5|6.1|1.8"/>
</p:tagLst>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3.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4.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5.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6.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7.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8.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9.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0.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1.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2.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3.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4.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5.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6.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7.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8.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9.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0.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1.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2.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3.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4.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5.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6.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7.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docProps/app.xml><?xml version="1.0" encoding="utf-8"?>
<Properties xmlns="http://schemas.openxmlformats.org/officeDocument/2006/extended-properties" xmlns:vt="http://schemas.openxmlformats.org/officeDocument/2006/docPropsVTypes">
  <Template/>
  <TotalTime>6541656</TotalTime>
  <Words>2359</Words>
  <Application>Microsoft Office PowerPoint</Application>
  <PresentationFormat>Widescreen</PresentationFormat>
  <Paragraphs>308</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Calibri</vt:lpstr>
      <vt:lpstr>Century Gothic</vt:lpstr>
      <vt:lpstr>Times New Roman</vt:lpstr>
      <vt:lpstr>Wingdings</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Ritz</dc:creator>
  <cp:lastModifiedBy>CHARUSAT</cp:lastModifiedBy>
  <cp:revision>409</cp:revision>
  <dcterms:created xsi:type="dcterms:W3CDTF">2014-09-12T02:12:56Z</dcterms:created>
  <dcterms:modified xsi:type="dcterms:W3CDTF">2026-03-24T05:18:56Z</dcterms:modified>
</cp:coreProperties>
</file>