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ags/tag1.xml" ContentType="application/vnd.openxmlformats-officedocument.presentationml.tags+xml"/>
  <Override PartName="/ppt/theme/themeOverride3.xml" ContentType="application/vnd.openxmlformats-officedocument.themeOverride+xml"/>
  <Override PartName="/ppt/tags/tag2.xml" ContentType="application/vnd.openxmlformats-officedocument.presentationml.tags+xml"/>
  <Override PartName="/ppt/theme/themeOverride4.xml" ContentType="application/vnd.openxmlformats-officedocument.themeOverride+xml"/>
  <Override PartName="/ppt/tags/tag3.xml" ContentType="application/vnd.openxmlformats-officedocument.presentationml.tags+xml"/>
  <Override PartName="/ppt/theme/themeOverride5.xml" ContentType="application/vnd.openxmlformats-officedocument.themeOverride+xml"/>
  <Override PartName="/ppt/tags/tag4.xml" ContentType="application/vnd.openxmlformats-officedocument.presentationml.tags+xml"/>
  <Override PartName="/ppt/theme/themeOverride6.xml" ContentType="application/vnd.openxmlformats-officedocument.themeOverride+xml"/>
  <Override PartName="/ppt/tags/tag5.xml" ContentType="application/vnd.openxmlformats-officedocument.presentationml.tags+xml"/>
  <Override PartName="/ppt/theme/themeOverride7.xml" ContentType="application/vnd.openxmlformats-officedocument.themeOverride+xml"/>
  <Override PartName="/ppt/tags/tag6.xml" ContentType="application/vnd.openxmlformats-officedocument.presentationml.tags+xml"/>
  <Override PartName="/ppt/theme/themeOverride8.xml" ContentType="application/vnd.openxmlformats-officedocument.themeOverride+xml"/>
  <Override PartName="/ppt/tags/tag7.xml" ContentType="application/vnd.openxmlformats-officedocument.presentationml.tags+xml"/>
  <Override PartName="/ppt/theme/themeOverride9.xml" ContentType="application/vnd.openxmlformats-officedocument.themeOverride+xml"/>
  <Override PartName="/ppt/tags/tag8.xml" ContentType="application/vnd.openxmlformats-officedocument.presentationml.tags+xml"/>
  <Override PartName="/ppt/theme/themeOverride10.xml" ContentType="application/vnd.openxmlformats-officedocument.themeOverride+xml"/>
  <Override PartName="/ppt/tags/tag9.xml" ContentType="application/vnd.openxmlformats-officedocument.presentationml.tags+xml"/>
  <Override PartName="/ppt/theme/themeOverride11.xml" ContentType="application/vnd.openxmlformats-officedocument.themeOverride+xml"/>
  <Override PartName="/ppt/tags/tag10.xml" ContentType="application/vnd.openxmlformats-officedocument.presentationml.tags+xml"/>
  <Override PartName="/ppt/theme/themeOverride12.xml" ContentType="application/vnd.openxmlformats-officedocument.themeOverride+xml"/>
  <Override PartName="/ppt/tags/tag11.xml" ContentType="application/vnd.openxmlformats-officedocument.presentationml.tags+xml"/>
  <Override PartName="/ppt/theme/themeOverride13.xml" ContentType="application/vnd.openxmlformats-officedocument.themeOverride+xml"/>
  <Override PartName="/ppt/tags/tag12.xml" ContentType="application/vnd.openxmlformats-officedocument.presentationml.tags+xml"/>
  <Override PartName="/ppt/theme/themeOverride14.xml" ContentType="application/vnd.openxmlformats-officedocument.themeOverride+xml"/>
  <Override PartName="/ppt/tags/tag13.xml" ContentType="application/vnd.openxmlformats-officedocument.presentationml.tags+xml"/>
  <Override PartName="/ppt/theme/themeOverride15.xml" ContentType="application/vnd.openxmlformats-officedocument.themeOverride+xml"/>
  <Override PartName="/ppt/tags/tag14.xml" ContentType="application/vnd.openxmlformats-officedocument.presentationml.tags+xml"/>
  <Override PartName="/ppt/theme/themeOverride16.xml" ContentType="application/vnd.openxmlformats-officedocument.themeOverride+xml"/>
  <Override PartName="/ppt/tags/tag15.xml" ContentType="application/vnd.openxmlformats-officedocument.presentationml.tags+xml"/>
  <Override PartName="/ppt/theme/themeOverride17.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9"/>
  </p:notesMasterIdLst>
  <p:sldIdLst>
    <p:sldId id="342" r:id="rId2"/>
    <p:sldId id="345" r:id="rId3"/>
    <p:sldId id="366" r:id="rId4"/>
    <p:sldId id="367" r:id="rId5"/>
    <p:sldId id="368" r:id="rId6"/>
    <p:sldId id="356" r:id="rId7"/>
    <p:sldId id="357" r:id="rId8"/>
    <p:sldId id="369" r:id="rId9"/>
    <p:sldId id="370" r:id="rId10"/>
    <p:sldId id="371" r:id="rId11"/>
    <p:sldId id="372" r:id="rId12"/>
    <p:sldId id="373" r:id="rId13"/>
    <p:sldId id="374" r:id="rId14"/>
    <p:sldId id="377" r:id="rId15"/>
    <p:sldId id="375" r:id="rId16"/>
    <p:sldId id="376" r:id="rId17"/>
    <p:sldId id="35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DD2"/>
    <a:srgbClr val="E7E8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18" autoAdjust="0"/>
    <p:restoredTop sz="94660"/>
  </p:normalViewPr>
  <p:slideViewPr>
    <p:cSldViewPr snapToGrid="0">
      <p:cViewPr varScale="1">
        <p:scale>
          <a:sx n="87" d="100"/>
          <a:sy n="87" d="100"/>
        </p:scale>
        <p:origin x="768"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F1ED4B2-A15B-4AEE-BE40-BE5200A2FAF8}" type="datetimeFigureOut">
              <a:rPr lang="en-US" smtClean="0"/>
              <a:pPr/>
              <a:t>3/18/2025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3EBF76-482D-4012-88DD-1C618B24C71E}" type="slidenum">
              <a:rPr lang="en-US" smtClean="0"/>
              <a:pPr/>
              <a:t>‹#›</a:t>
            </a:fld>
            <a:endParaRPr lang="en-US"/>
          </a:p>
        </p:txBody>
      </p:sp>
    </p:spTree>
    <p:extLst>
      <p:ext uri="{BB962C8B-B14F-4D97-AF65-F5344CB8AC3E}">
        <p14:creationId xmlns:p14="http://schemas.microsoft.com/office/powerpoint/2010/main" val="1442526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3/18/2025</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ransition/>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hemeOverride" Target="../theme/themeOverr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xml"/><Relationship Id="rId1" Type="http://schemas.openxmlformats.org/officeDocument/2006/relationships/themeOverride" Target="../theme/themeOverr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xml"/><Relationship Id="rId1" Type="http://schemas.openxmlformats.org/officeDocument/2006/relationships/themeOverride" Target="../theme/themeOverr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xml"/><Relationship Id="rId1" Type="http://schemas.openxmlformats.org/officeDocument/2006/relationships/themeOverride" Target="../theme/themeOverr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xml"/><Relationship Id="rId1" Type="http://schemas.openxmlformats.org/officeDocument/2006/relationships/themeOverride" Target="../theme/themeOverr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xml"/><Relationship Id="rId1" Type="http://schemas.openxmlformats.org/officeDocument/2006/relationships/themeOverride" Target="../theme/themeOverr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xml"/><Relationship Id="rId1" Type="http://schemas.openxmlformats.org/officeDocument/2006/relationships/themeOverride" Target="../theme/themeOverride15.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xml"/><Relationship Id="rId1" Type="http://schemas.openxmlformats.org/officeDocument/2006/relationships/themeOverride" Target="../theme/themeOverride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288192" y="234670"/>
            <a:ext cx="10260623" cy="908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571500" indent="-571500" algn="l">
              <a:buFont typeface="Wingdings" panose="05000000000000000000" pitchFamily="2" charset="2"/>
              <a:buChar char="q"/>
            </a:pPr>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Topics to be covered</a:t>
            </a:r>
          </a:p>
        </p:txBody>
      </p:sp>
      <p:sp>
        <p:nvSpPr>
          <p:cNvPr id="3" name="TextBox 2"/>
          <p:cNvSpPr txBox="1"/>
          <p:nvPr/>
        </p:nvSpPr>
        <p:spPr>
          <a:xfrm>
            <a:off x="300292" y="1162664"/>
            <a:ext cx="11658601" cy="4435830"/>
          </a:xfrm>
          <a:prstGeom prst="rect">
            <a:avLst/>
          </a:prstGeom>
          <a:noFill/>
        </p:spPr>
        <p:txBody>
          <a:bodyPr wrap="square" rtlCol="0">
            <a:spAutoFit/>
          </a:bodyPr>
          <a:lstStyle/>
          <a:p>
            <a:pPr marL="457200" indent="-457200" algn="just">
              <a:lnSpc>
                <a:spcPct val="150000"/>
              </a:lnSpc>
              <a:buFont typeface="Wingdings" panose="05000000000000000000" pitchFamily="2" charset="2"/>
              <a:buChar char="ü"/>
            </a:pPr>
            <a:r>
              <a:rPr lang="en-US" sz="3200" b="1" dirty="0">
                <a:solidFill>
                  <a:schemeClr val="accent1">
                    <a:lumMod val="75000"/>
                  </a:schemeClr>
                </a:solidFill>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Storage Organization</a:t>
            </a:r>
          </a:p>
          <a:p>
            <a:pPr marL="457200" indent="-457200" algn="just">
              <a:lnSpc>
                <a:spcPct val="150000"/>
              </a:lnSpc>
              <a:buFont typeface="Wingdings" panose="05000000000000000000" pitchFamily="2" charset="2"/>
              <a:buChar char="ü"/>
            </a:pPr>
            <a:r>
              <a:rPr lang="en-US" sz="3200" b="1" dirty="0">
                <a:solidFill>
                  <a:schemeClr val="accent1">
                    <a:lumMod val="75000"/>
                  </a:schemeClr>
                </a:solidFill>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Difference between Static v/s Dynamic memory allocation</a:t>
            </a:r>
          </a:p>
          <a:p>
            <a:pPr marL="457200" indent="-457200" algn="just">
              <a:lnSpc>
                <a:spcPct val="150000"/>
              </a:lnSpc>
              <a:buFont typeface="Wingdings" panose="05000000000000000000" pitchFamily="2" charset="2"/>
              <a:buChar char="ü"/>
            </a:pPr>
            <a:r>
              <a:rPr lang="en-US" sz="3200" b="1" dirty="0">
                <a:solidFill>
                  <a:schemeClr val="accent1">
                    <a:lumMod val="75000"/>
                  </a:schemeClr>
                </a:solidFill>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Parameter passing methods</a:t>
            </a:r>
          </a:p>
          <a:p>
            <a:pPr marL="457200" indent="-457200" algn="just">
              <a:lnSpc>
                <a:spcPct val="150000"/>
              </a:lnSpc>
              <a:buFont typeface="Wingdings" panose="05000000000000000000" pitchFamily="2" charset="2"/>
              <a:buChar char="ü"/>
            </a:pPr>
            <a:r>
              <a:rPr lang="en-US" sz="3200" b="1" dirty="0">
                <a:solidFill>
                  <a:schemeClr val="accent1">
                    <a:lumMod val="75000"/>
                  </a:schemeClr>
                </a:solidFill>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Data structures for a symbol table</a:t>
            </a:r>
          </a:p>
          <a:p>
            <a:pPr marL="457200" indent="-457200" algn="just">
              <a:lnSpc>
                <a:spcPct val="150000"/>
              </a:lnSpc>
              <a:buFont typeface="Wingdings" panose="05000000000000000000" pitchFamily="2" charset="2"/>
              <a:buChar char="ü"/>
            </a:pPr>
            <a:endParaRPr lang="en-US" sz="3200" b="1" dirty="0">
              <a:solidFill>
                <a:schemeClr val="accent1">
                  <a:lumMod val="75000"/>
                </a:schemeClr>
              </a:solidFill>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a:p>
            <a:pPr marL="457200" indent="-457200" algn="just">
              <a:lnSpc>
                <a:spcPct val="150000"/>
              </a:lnSpc>
              <a:buFont typeface="Wingdings" panose="05000000000000000000" pitchFamily="2" charset="2"/>
              <a:buChar char="ü"/>
            </a:pPr>
            <a:endParaRPr lang="en-US" sz="3200" b="1" dirty="0">
              <a:solidFill>
                <a:schemeClr val="accent1">
                  <a:lumMod val="75000"/>
                </a:schemeClr>
              </a:solidFill>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881377392"/>
      </p:ext>
    </p:extLst>
  </p:cSld>
  <p:clrMapOvr>
    <a:overrideClrMapping bg1="dk1" tx1="lt1" bg2="dk2" tx2="lt2" accent1="accent1" accent2="accent2" accent3="accent3" accent4="accent4" accent5="accent5" accent6="accent6" hlink="hlink" folHlink="folHlink"/>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150254" y="237845"/>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442913" indent="-442913" algn="l">
              <a:buFont typeface="Wingdings" panose="05000000000000000000" pitchFamily="2" charset="2"/>
              <a:buChar char="v"/>
            </a:pPr>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Storage Organization</a:t>
            </a:r>
          </a:p>
          <a:p>
            <a:pPr marL="442913" indent="-442913" algn="l">
              <a:buFont typeface="Wingdings" panose="05000000000000000000" pitchFamily="2" charset="2"/>
              <a:buChar char="v"/>
            </a:pPr>
            <a:endParaRPr lang="en-US" sz="10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a:p>
            <a:pPr marL="442913" indent="-442913" algn="l">
              <a:buFont typeface="Wingdings" panose="05000000000000000000" pitchFamily="2" charset="2"/>
              <a:buChar char="v"/>
            </a:pPr>
            <a:endParaRPr lang="en-US" sz="10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a:p>
            <a:pPr algn="l"/>
            <a:r>
              <a:rPr lang="en-US" sz="28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1. Subdivision of Runtime Memory</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544789"/>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buFont typeface="Wingdings" panose="05000000000000000000" pitchFamily="2" charset="2"/>
              <a:buChar char="ü"/>
              <a:defRPr/>
            </a:pPr>
            <a:r>
              <a:rPr lang="en-US" dirty="0">
                <a:solidFill>
                  <a:sysClr val="windowText" lastClr="000000"/>
                </a:solidFill>
                <a:latin typeface="Times New Roman" panose="02020603050405020304" pitchFamily="18" charset="0"/>
              </a:rPr>
              <a:t>The compiler demands for a block of memory to operating system.</a:t>
            </a:r>
          </a:p>
          <a:p>
            <a:pPr lvl="0" algn="just">
              <a:buFont typeface="Wingdings" panose="05000000000000000000" pitchFamily="2" charset="2"/>
              <a:buChar char="ü"/>
              <a:defRPr/>
            </a:pPr>
            <a:r>
              <a:rPr lang="en-US" dirty="0">
                <a:solidFill>
                  <a:sysClr val="windowText" lastClr="000000"/>
                </a:solidFill>
                <a:latin typeface="Times New Roman" panose="02020603050405020304" pitchFamily="18" charset="0"/>
              </a:rPr>
              <a:t>The compiler utilizes this block of memory executing the compiled program. This block of memory is called run time storage.</a:t>
            </a:r>
          </a:p>
          <a:p>
            <a:pPr lvl="0" algn="just">
              <a:buFont typeface="Wingdings" panose="05000000000000000000" pitchFamily="2" charset="2"/>
              <a:buChar char="ü"/>
              <a:defRPr/>
            </a:pPr>
            <a:r>
              <a:rPr lang="en-US" dirty="0">
                <a:solidFill>
                  <a:sysClr val="windowText" lastClr="000000"/>
                </a:solidFill>
                <a:latin typeface="Times New Roman" panose="02020603050405020304" pitchFamily="18" charset="0"/>
              </a:rPr>
              <a:t>The run time storage is subdivided to hold code and data such as, the generated target code and data objects.</a:t>
            </a:r>
          </a:p>
          <a:p>
            <a:pPr lvl="0" algn="just">
              <a:buFont typeface="Wingdings" panose="05000000000000000000" pitchFamily="2" charset="2"/>
              <a:buChar char="ü"/>
              <a:defRPr/>
            </a:pPr>
            <a:r>
              <a:rPr lang="en-US" dirty="0">
                <a:solidFill>
                  <a:sysClr val="windowText" lastClr="000000"/>
                </a:solidFill>
                <a:latin typeface="Times New Roman" panose="02020603050405020304" pitchFamily="18" charset="0"/>
              </a:rPr>
              <a:t>The size of generated code is fixed. Hence the target code occupies the determined area of the memory. </a:t>
            </a:r>
          </a:p>
          <a:p>
            <a:pPr lvl="0" algn="just">
              <a:buFont typeface="Wingdings" panose="05000000000000000000" pitchFamily="2" charset="2"/>
              <a:buChar char="ü"/>
              <a:defRPr/>
            </a:pPr>
            <a:r>
              <a:rPr lang="en-US" dirty="0">
                <a:solidFill>
                  <a:sysClr val="windowText" lastClr="000000"/>
                </a:solidFill>
                <a:latin typeface="Times New Roman" panose="02020603050405020304" pitchFamily="18" charset="0"/>
              </a:rPr>
              <a:t>The amount of memory required by the data objects is known at the compiled time and hence data objects also can be placed at the statically determined area of the memory.</a:t>
            </a:r>
            <a:endPar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endParaRPr>
          </a:p>
        </p:txBody>
      </p:sp>
    </p:spTree>
    <p:custDataLst>
      <p:tags r:id="rId2"/>
    </p:custDataLst>
    <p:extLst>
      <p:ext uri="{BB962C8B-B14F-4D97-AF65-F5344CB8AC3E}">
        <p14:creationId xmlns:p14="http://schemas.microsoft.com/office/powerpoint/2010/main" val="2740804338"/>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150254" y="53119"/>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28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1. Subdivision of Runtime Memory</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221672" y="2685463"/>
            <a:ext cx="11813146" cy="4091709"/>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buFont typeface="Wingdings" panose="05000000000000000000" pitchFamily="2" charset="2"/>
              <a:buChar char="ü"/>
              <a:defRPr/>
            </a:pPr>
            <a:endParaRPr lang="en-US" dirty="0">
              <a:solidFill>
                <a:sysClr val="windowText" lastClr="000000"/>
              </a:solidFill>
              <a:latin typeface="Times New Roman" panose="02020603050405020304" pitchFamily="18" charset="0"/>
            </a:endParaRPr>
          </a:p>
          <a:p>
            <a:pPr lvl="0" algn="just">
              <a:buFont typeface="Wingdings" panose="05000000000000000000" pitchFamily="2" charset="2"/>
              <a:buChar char="ü"/>
              <a:defRPr/>
            </a:pPr>
            <a:endParaRPr lang="en-US" dirty="0">
              <a:solidFill>
                <a:sysClr val="windowText" lastClr="000000"/>
              </a:solidFill>
              <a:latin typeface="Times New Roman" panose="02020603050405020304" pitchFamily="18" charset="0"/>
            </a:endParaRPr>
          </a:p>
          <a:p>
            <a:pPr lvl="0" algn="just">
              <a:buFont typeface="Wingdings" panose="05000000000000000000" pitchFamily="2" charset="2"/>
              <a:buChar char="ü"/>
              <a:defRPr/>
            </a:pPr>
            <a:endParaRPr lang="en-US" dirty="0">
              <a:solidFill>
                <a:sysClr val="windowText" lastClr="000000"/>
              </a:solidFill>
              <a:latin typeface="Times New Roman" panose="02020603050405020304" pitchFamily="18" charset="0"/>
            </a:endParaRPr>
          </a:p>
          <a:p>
            <a:pPr lvl="0" algn="just">
              <a:buFont typeface="Wingdings" panose="05000000000000000000" pitchFamily="2" charset="2"/>
              <a:buChar char="ü"/>
              <a:defRPr/>
            </a:pPr>
            <a:r>
              <a:rPr lang="en-US" dirty="0">
                <a:solidFill>
                  <a:sysClr val="windowText" lastClr="000000"/>
                </a:solidFill>
                <a:latin typeface="Times New Roman" panose="02020603050405020304" pitchFamily="18" charset="0"/>
              </a:rPr>
              <a:t>Stack is used to manage the active procedure.</a:t>
            </a:r>
          </a:p>
          <a:p>
            <a:pPr lvl="0" algn="just">
              <a:buFont typeface="Wingdings" panose="05000000000000000000" pitchFamily="2" charset="2"/>
              <a:buChar char="ü"/>
              <a:defRPr/>
            </a:pPr>
            <a:r>
              <a:rPr lang="en-US" dirty="0">
                <a:solidFill>
                  <a:sysClr val="windowText" lastClr="000000"/>
                </a:solidFill>
                <a:latin typeface="Times New Roman" panose="02020603050405020304" pitchFamily="18" charset="0"/>
              </a:rPr>
              <a:t>Heap area is the area of run time storage in which the other information is stored. </a:t>
            </a:r>
          </a:p>
          <a:p>
            <a:pPr lvl="0" algn="just">
              <a:buFont typeface="Wingdings" panose="05000000000000000000" pitchFamily="2" charset="2"/>
              <a:buChar char="ü"/>
              <a:defRPr/>
            </a:pPr>
            <a:endParaRPr lang="en-US" dirty="0">
              <a:solidFill>
                <a:sysClr val="windowText" lastClr="000000"/>
              </a:solidFill>
              <a:latin typeface="Times New Roman" panose="02020603050405020304" pitchFamily="18" charset="0"/>
            </a:endParaRPr>
          </a:p>
        </p:txBody>
      </p:sp>
      <p:graphicFrame>
        <p:nvGraphicFramePr>
          <p:cNvPr id="11" name="Table 10">
            <a:extLst>
              <a:ext uri="{FF2B5EF4-FFF2-40B4-BE49-F238E27FC236}">
                <a16:creationId xmlns:a16="http://schemas.microsoft.com/office/drawing/2014/main" id="{DD4DAD36-E905-407F-817A-19D42D07F683}"/>
              </a:ext>
            </a:extLst>
          </p:cNvPr>
          <p:cNvGraphicFramePr>
            <a:graphicFrameLocks noGrp="1"/>
          </p:cNvGraphicFramePr>
          <p:nvPr>
            <p:extLst>
              <p:ext uri="{D42A27DB-BD31-4B8C-83A1-F6EECF244321}">
                <p14:modId xmlns:p14="http://schemas.microsoft.com/office/powerpoint/2010/main" val="2212690702"/>
              </p:ext>
            </p:extLst>
          </p:nvPr>
        </p:nvGraphicFramePr>
        <p:xfrm>
          <a:off x="4888348" y="1436250"/>
          <a:ext cx="1981200" cy="1854200"/>
        </p:xfrm>
        <a:graphic>
          <a:graphicData uri="http://schemas.openxmlformats.org/drawingml/2006/table">
            <a:tbl>
              <a:tblPr firstRow="1" bandRow="1"/>
              <a:tblGrid>
                <a:gridCol w="1981200">
                  <a:extLst>
                    <a:ext uri="{9D8B030D-6E8A-4147-A177-3AD203B41FA5}">
                      <a16:colId xmlns:a16="http://schemas.microsoft.com/office/drawing/2014/main" val="20000"/>
                    </a:ext>
                  </a:extLst>
                </a:gridCol>
              </a:tblGrid>
              <a:tr h="370840">
                <a:tc>
                  <a:txBody>
                    <a:bodyPr/>
                    <a:lstStyle>
                      <a:lvl1pPr marL="0" algn="l" defTabSz="457200" rtl="0" eaLnBrk="1" latinLnBrk="0" hangingPunct="1">
                        <a:defRPr sz="1800" b="1" kern="1200">
                          <a:solidFill>
                            <a:schemeClr val="dk1"/>
                          </a:solidFill>
                          <a:latin typeface="Calibri"/>
                        </a:defRPr>
                      </a:lvl1pPr>
                      <a:lvl2pPr marL="457200" algn="l" defTabSz="457200" rtl="0" eaLnBrk="1" latinLnBrk="0" hangingPunct="1">
                        <a:defRPr sz="1800" b="1" kern="1200">
                          <a:solidFill>
                            <a:schemeClr val="dk1"/>
                          </a:solidFill>
                          <a:latin typeface="Calibri"/>
                        </a:defRPr>
                      </a:lvl2pPr>
                      <a:lvl3pPr marL="914400" algn="l" defTabSz="457200" rtl="0" eaLnBrk="1" latinLnBrk="0" hangingPunct="1">
                        <a:defRPr sz="1800" b="1" kern="1200">
                          <a:solidFill>
                            <a:schemeClr val="dk1"/>
                          </a:solidFill>
                          <a:latin typeface="Calibri"/>
                        </a:defRPr>
                      </a:lvl3pPr>
                      <a:lvl4pPr marL="1371600" algn="l" defTabSz="457200" rtl="0" eaLnBrk="1" latinLnBrk="0" hangingPunct="1">
                        <a:defRPr sz="1800" b="1" kern="1200">
                          <a:solidFill>
                            <a:schemeClr val="dk1"/>
                          </a:solidFill>
                          <a:latin typeface="Calibri"/>
                        </a:defRPr>
                      </a:lvl4pPr>
                      <a:lvl5pPr marL="1828800" algn="l" defTabSz="457200" rtl="0" eaLnBrk="1" latinLnBrk="0" hangingPunct="1">
                        <a:defRPr sz="1800" b="1" kern="1200">
                          <a:solidFill>
                            <a:schemeClr val="dk1"/>
                          </a:solidFill>
                          <a:latin typeface="Calibri"/>
                        </a:defRPr>
                      </a:lvl5pPr>
                      <a:lvl6pPr marL="2286000" algn="l" defTabSz="457200" rtl="0" eaLnBrk="1" latinLnBrk="0" hangingPunct="1">
                        <a:defRPr sz="1800" b="1" kern="1200">
                          <a:solidFill>
                            <a:schemeClr val="dk1"/>
                          </a:solidFill>
                          <a:latin typeface="Calibri"/>
                        </a:defRPr>
                      </a:lvl6pPr>
                      <a:lvl7pPr marL="2743200" algn="l" defTabSz="457200" rtl="0" eaLnBrk="1" latinLnBrk="0" hangingPunct="1">
                        <a:defRPr sz="1800" b="1" kern="1200">
                          <a:solidFill>
                            <a:schemeClr val="dk1"/>
                          </a:solidFill>
                          <a:latin typeface="Calibri"/>
                        </a:defRPr>
                      </a:lvl7pPr>
                      <a:lvl8pPr marL="3200400" algn="l" defTabSz="457200" rtl="0" eaLnBrk="1" latinLnBrk="0" hangingPunct="1">
                        <a:defRPr sz="1800" b="1" kern="1200">
                          <a:solidFill>
                            <a:schemeClr val="dk1"/>
                          </a:solidFill>
                          <a:latin typeface="Calibri"/>
                        </a:defRPr>
                      </a:lvl8pPr>
                      <a:lvl9pPr marL="3657600" algn="l" defTabSz="457200" rtl="0" eaLnBrk="1" latinLnBrk="0" hangingPunct="1">
                        <a:defRPr sz="1800" b="1" kern="1200">
                          <a:solidFill>
                            <a:schemeClr val="dk1"/>
                          </a:solidFill>
                          <a:latin typeface="Calibri"/>
                        </a:defRPr>
                      </a:lvl9pPr>
                    </a:lstStyle>
                    <a:p>
                      <a:pPr algn="ctr"/>
                      <a:r>
                        <a:rPr lang="en-US" b="0" dirty="0"/>
                        <a:t>Code area</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dirty="0"/>
                        <a:t>Static data area</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dirty="0"/>
                        <a:t>Stack</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endParaRPr 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dirty="0"/>
                        <a:t>Heap </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cxnSp>
        <p:nvCxnSpPr>
          <p:cNvPr id="12" name="Straight Arrow Connector 11">
            <a:extLst>
              <a:ext uri="{FF2B5EF4-FFF2-40B4-BE49-F238E27FC236}">
                <a16:creationId xmlns:a16="http://schemas.microsoft.com/office/drawing/2014/main" id="{151509F0-41F3-459D-99FF-3132F7C2309F}"/>
              </a:ext>
            </a:extLst>
          </p:cNvPr>
          <p:cNvCxnSpPr/>
          <p:nvPr/>
        </p:nvCxnSpPr>
        <p:spPr>
          <a:xfrm>
            <a:off x="6259948" y="2363350"/>
            <a:ext cx="0" cy="311150"/>
          </a:xfrm>
          <a:prstGeom prst="straightConnector1">
            <a:avLst/>
          </a:prstGeom>
          <a:noFill/>
          <a:ln w="22225" cap="flat" cmpd="sng" algn="ctr">
            <a:solidFill>
              <a:sysClr val="windowText" lastClr="000000"/>
            </a:solidFill>
            <a:prstDash val="solid"/>
            <a:tailEnd type="triangle"/>
          </a:ln>
          <a:effectLst/>
        </p:spPr>
      </p:cxnSp>
      <p:cxnSp>
        <p:nvCxnSpPr>
          <p:cNvPr id="14" name="Straight Arrow Connector 13">
            <a:extLst>
              <a:ext uri="{FF2B5EF4-FFF2-40B4-BE49-F238E27FC236}">
                <a16:creationId xmlns:a16="http://schemas.microsoft.com/office/drawing/2014/main" id="{1E2D6766-39BB-49F5-A456-C9A3A4148184}"/>
              </a:ext>
            </a:extLst>
          </p:cNvPr>
          <p:cNvCxnSpPr/>
          <p:nvPr/>
        </p:nvCxnSpPr>
        <p:spPr>
          <a:xfrm flipV="1">
            <a:off x="6259948" y="2769748"/>
            <a:ext cx="0" cy="304800"/>
          </a:xfrm>
          <a:prstGeom prst="straightConnector1">
            <a:avLst/>
          </a:prstGeom>
          <a:noFill/>
          <a:ln w="22225" cap="flat" cmpd="sng" algn="ctr">
            <a:solidFill>
              <a:sysClr val="windowText" lastClr="000000"/>
            </a:solidFill>
            <a:prstDash val="solid"/>
            <a:tailEnd type="triangle"/>
          </a:ln>
          <a:effectLst/>
        </p:spPr>
      </p:cxnSp>
      <p:sp>
        <p:nvSpPr>
          <p:cNvPr id="16" name="TextBox 15">
            <a:extLst>
              <a:ext uri="{FF2B5EF4-FFF2-40B4-BE49-F238E27FC236}">
                <a16:creationId xmlns:a16="http://schemas.microsoft.com/office/drawing/2014/main" id="{B090B8DF-D4DA-41AF-9FB7-490AEFEB9E81}"/>
              </a:ext>
            </a:extLst>
          </p:cNvPr>
          <p:cNvSpPr txBox="1"/>
          <p:nvPr/>
        </p:nvSpPr>
        <p:spPr>
          <a:xfrm>
            <a:off x="3103418" y="3422177"/>
            <a:ext cx="6206836" cy="338554"/>
          </a:xfrm>
          <a:prstGeom prst="rect">
            <a:avLst/>
          </a:prstGeom>
          <a:noFill/>
        </p:spPr>
        <p:txBody>
          <a:bodyPr wrap="square">
            <a:spAutoFit/>
          </a:bodyPr>
          <a:lstStyle/>
          <a:p>
            <a:r>
              <a:rPr lang="en-US" sz="1600" dirty="0">
                <a:solidFill>
                  <a:schemeClr val="bg1"/>
                </a:solidFill>
                <a:latin typeface="Times New Roman" panose="02020603050405020304" pitchFamily="18" charset="0"/>
                <a:cs typeface="Times New Roman" panose="02020603050405020304" pitchFamily="18" charset="0"/>
              </a:rPr>
              <a:t>Fig: Typical subdivision of run time memory into code and data areas</a:t>
            </a:r>
            <a:endParaRPr lang="en-IN" sz="1600" dirty="0">
              <a:solidFill>
                <a:schemeClr val="bg1"/>
              </a:solidFill>
              <a:latin typeface="Times New Roman" panose="02020603050405020304" pitchFamily="18" charset="0"/>
              <a:cs typeface="Times New Roman" panose="02020603050405020304" pitchFamily="18" charset="0"/>
            </a:endParaRPr>
          </a:p>
        </p:txBody>
      </p:sp>
    </p:spTree>
    <p:custDataLst>
      <p:tags r:id="rId2"/>
    </p:custDataLst>
    <p:extLst>
      <p:ext uri="{BB962C8B-B14F-4D97-AF65-F5344CB8AC3E}">
        <p14:creationId xmlns:p14="http://schemas.microsoft.com/office/powerpoint/2010/main" val="3860501876"/>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150254" y="-131600"/>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28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2. Activation Records (Most IMP)</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50254" y="607147"/>
            <a:ext cx="11813146" cy="1009219"/>
          </a:xfrm>
          <a:prstGeom prst="rect">
            <a:avLst/>
          </a:prstGeom>
        </p:spPr>
        <p:txBody>
          <a:bodyPr vert="horz" lIns="91440" tIns="45720" rIns="91440" bIns="45720" rtlCol="0">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buFont typeface="Wingdings" panose="05000000000000000000" pitchFamily="2" charset="2"/>
              <a:buChar char="ü"/>
              <a:defRPr/>
            </a:pPr>
            <a:r>
              <a:rPr lang="en-US" dirty="0">
                <a:solidFill>
                  <a:sysClr val="windowText" lastClr="000000"/>
                </a:solidFill>
                <a:latin typeface="Times New Roman" panose="02020603050405020304" pitchFamily="18" charset="0"/>
              </a:rPr>
              <a:t>The execution of a procedure is called its activation. </a:t>
            </a:r>
          </a:p>
          <a:p>
            <a:pPr lvl="0" algn="just">
              <a:buFont typeface="Wingdings" panose="05000000000000000000" pitchFamily="2" charset="2"/>
              <a:buChar char="ü"/>
              <a:defRPr/>
            </a:pPr>
            <a:r>
              <a:rPr lang="en-US" dirty="0">
                <a:solidFill>
                  <a:sysClr val="windowText" lastClr="000000"/>
                </a:solidFill>
                <a:latin typeface="Times New Roman" panose="02020603050405020304" pitchFamily="18" charset="0"/>
              </a:rPr>
              <a:t>An activation record contains all the necessary information required to call a procedure.</a:t>
            </a:r>
          </a:p>
          <a:p>
            <a:pPr lvl="0" algn="just">
              <a:buFont typeface="Wingdings" panose="05000000000000000000" pitchFamily="2" charset="2"/>
              <a:buChar char="ü"/>
              <a:defRPr/>
            </a:pPr>
            <a:r>
              <a:rPr lang="en-US" dirty="0">
                <a:solidFill>
                  <a:sysClr val="windowText" lastClr="000000"/>
                </a:solidFill>
                <a:latin typeface="Times New Roman" panose="02020603050405020304" pitchFamily="18" charset="0"/>
              </a:rPr>
              <a:t>Various field of activation record are as follows:</a:t>
            </a:r>
          </a:p>
          <a:p>
            <a:pPr lvl="0" algn="just">
              <a:buFont typeface="Wingdings" panose="05000000000000000000" pitchFamily="2" charset="2"/>
              <a:buChar char="ü"/>
              <a:defRPr/>
            </a:pPr>
            <a:endParaRPr lang="en-US" dirty="0">
              <a:solidFill>
                <a:sysClr val="windowText" lastClr="000000"/>
              </a:solidFill>
              <a:latin typeface="Times New Roman" panose="02020603050405020304" pitchFamily="18" charset="0"/>
            </a:endParaRPr>
          </a:p>
          <a:p>
            <a:pPr lvl="0" algn="just">
              <a:buFont typeface="Wingdings" panose="05000000000000000000" pitchFamily="2" charset="2"/>
              <a:buChar char="ü"/>
              <a:defRPr/>
            </a:pPr>
            <a:endParaRPr lang="en-US" dirty="0">
              <a:solidFill>
                <a:sysClr val="windowText" lastClr="000000"/>
              </a:solidFill>
              <a:latin typeface="Times New Roman" panose="02020603050405020304" pitchFamily="18" charset="0"/>
            </a:endParaRPr>
          </a:p>
        </p:txBody>
      </p:sp>
      <p:sp>
        <p:nvSpPr>
          <p:cNvPr id="17" name="Content Placeholder 2">
            <a:extLst>
              <a:ext uri="{FF2B5EF4-FFF2-40B4-BE49-F238E27FC236}">
                <a16:creationId xmlns:a16="http://schemas.microsoft.com/office/drawing/2014/main" id="{300B954B-C546-46C4-AA4B-75FF04C559DC}"/>
              </a:ext>
            </a:extLst>
          </p:cNvPr>
          <p:cNvSpPr txBox="1">
            <a:spLocks/>
          </p:cNvSpPr>
          <p:nvPr/>
        </p:nvSpPr>
        <p:spPr>
          <a:xfrm>
            <a:off x="150090" y="2149760"/>
            <a:ext cx="9557327" cy="5334000"/>
          </a:xfrm>
          <a:prstGeom prst="rect">
            <a:avLst/>
          </a:prstGeom>
        </p:spPr>
        <p:txBody>
          <a:bodyPr vert="horz" lIns="91440" tIns="45720" rIns="91440" bIns="45720" rtlCol="0">
            <a:normAutofit fontScale="92500"/>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1" fontAlgn="base" latinLnBrk="0" hangingPunct="1">
              <a:lnSpc>
                <a:spcPct val="114000"/>
              </a:lnSpc>
              <a:spcBef>
                <a:spcPct val="2000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rPr>
              <a:t>Temporary values</a:t>
            </a: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rPr>
              <a:t>: stores the values that arise in the evaluation of an expression.</a:t>
            </a:r>
          </a:p>
          <a:p>
            <a:pPr marL="342900" marR="0" lvl="0" indent="-342900" algn="just" defTabSz="914400" rtl="0" eaLnBrk="1" fontAlgn="base" latinLnBrk="0" hangingPunct="1">
              <a:lnSpc>
                <a:spcPct val="114000"/>
              </a:lnSpc>
              <a:spcBef>
                <a:spcPct val="2000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rPr>
              <a:t>Local variables:</a:t>
            </a: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rPr>
              <a:t> hold the data that is local to the execution of the procedure.</a:t>
            </a:r>
          </a:p>
          <a:p>
            <a:pPr marL="342900" marR="0" lvl="0" indent="-342900" algn="just" defTabSz="914400" rtl="0" eaLnBrk="1" fontAlgn="base" latinLnBrk="0" hangingPunct="1">
              <a:lnSpc>
                <a:spcPct val="114000"/>
              </a:lnSpc>
              <a:spcBef>
                <a:spcPct val="2000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rPr>
              <a:t>Machine status:</a:t>
            </a: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rPr>
              <a:t> holds the information about status of machine just before the function call.</a:t>
            </a:r>
          </a:p>
          <a:p>
            <a:pPr marL="342900" marR="0" lvl="0" indent="-342900" algn="just" defTabSz="914400" rtl="0" eaLnBrk="1" fontAlgn="base" latinLnBrk="0" hangingPunct="1">
              <a:lnSpc>
                <a:spcPct val="114000"/>
              </a:lnSpc>
              <a:spcBef>
                <a:spcPct val="2000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rPr>
              <a:t>Access link (optional):</a:t>
            </a: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rPr>
              <a:t> refers to non-local data held in other activation records.</a:t>
            </a:r>
          </a:p>
          <a:p>
            <a:pPr marL="342900" marR="0" lvl="0" indent="-342900" algn="just" defTabSz="914400" rtl="0" eaLnBrk="1" fontAlgn="base" latinLnBrk="0" hangingPunct="1">
              <a:lnSpc>
                <a:spcPct val="114000"/>
              </a:lnSpc>
              <a:spcBef>
                <a:spcPct val="2000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rPr>
              <a:t>Control link (optional):</a:t>
            </a: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rPr>
              <a:t> points to activation record of caller.</a:t>
            </a:r>
          </a:p>
          <a:p>
            <a:pPr marL="342900" marR="0" lvl="0" indent="-342900" algn="just" defTabSz="914400" rtl="0" eaLnBrk="1" fontAlgn="base" latinLnBrk="0" hangingPunct="1">
              <a:lnSpc>
                <a:spcPct val="114000"/>
              </a:lnSpc>
              <a:spcBef>
                <a:spcPct val="2000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rPr>
              <a:t>Actual parameters: </a:t>
            </a: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rPr>
              <a:t>This field holds the information about the actual parameters.</a:t>
            </a:r>
          </a:p>
          <a:p>
            <a:pPr marL="342900" marR="0" lvl="0" indent="-342900" algn="just" defTabSz="914400" rtl="0" eaLnBrk="1" fontAlgn="base" latinLnBrk="0" hangingPunct="1">
              <a:lnSpc>
                <a:spcPct val="114000"/>
              </a:lnSpc>
              <a:spcBef>
                <a:spcPct val="2000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ysClr val="windowText" lastClr="000000"/>
                </a:solidFill>
                <a:effectLst/>
                <a:uLnTx/>
                <a:uFillTx/>
                <a:latin typeface="Times New Roman" panose="02020603050405020304" pitchFamily="18" charset="0"/>
              </a:rPr>
              <a:t>Return value:</a:t>
            </a: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rPr>
              <a:t> used by the called procedure to return a value to calling procedure.</a:t>
            </a:r>
          </a:p>
          <a:p>
            <a:pPr marL="342900" marR="0" lvl="0" indent="-342900" algn="just" defTabSz="914400" rtl="0" eaLnBrk="1" fontAlgn="auto" latinLnBrk="0" hangingPunct="1">
              <a:lnSpc>
                <a:spcPct val="114000"/>
              </a:lnSpc>
              <a:spcBef>
                <a:spcPct val="20000"/>
              </a:spcBef>
              <a:spcAft>
                <a:spcPts val="0"/>
              </a:spcAft>
              <a:buClrTx/>
              <a:buSzTx/>
              <a:buFont typeface="Wingdings" panose="05000000000000000000" pitchFamily="2" charset="2"/>
              <a:buChar char="§"/>
              <a:tabLst/>
              <a:defRPr/>
            </a:pPr>
            <a:endPar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endParaRPr>
          </a:p>
        </p:txBody>
      </p:sp>
      <p:graphicFrame>
        <p:nvGraphicFramePr>
          <p:cNvPr id="18" name="Table 17">
            <a:extLst>
              <a:ext uri="{FF2B5EF4-FFF2-40B4-BE49-F238E27FC236}">
                <a16:creationId xmlns:a16="http://schemas.microsoft.com/office/drawing/2014/main" id="{79DC695A-5AD5-4015-A4C5-723FA30BA2CD}"/>
              </a:ext>
            </a:extLst>
          </p:cNvPr>
          <p:cNvGraphicFramePr>
            <a:graphicFrameLocks noGrp="1"/>
          </p:cNvGraphicFramePr>
          <p:nvPr>
            <p:extLst>
              <p:ext uri="{D42A27DB-BD31-4B8C-83A1-F6EECF244321}">
                <p14:modId xmlns:p14="http://schemas.microsoft.com/office/powerpoint/2010/main" val="2689590288"/>
              </p:ext>
            </p:extLst>
          </p:nvPr>
        </p:nvGraphicFramePr>
        <p:xfrm>
          <a:off x="9984509" y="2727036"/>
          <a:ext cx="2057400" cy="2773680"/>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tblGrid>
              <a:tr h="370840">
                <a:tc>
                  <a:txBody>
                    <a:bodyPr/>
                    <a:lstStyle>
                      <a:lvl1pPr marL="0" algn="l" defTabSz="457200" rtl="0" eaLnBrk="1" latinLnBrk="0" hangingPunct="1">
                        <a:defRPr sz="1800" b="1" kern="1200">
                          <a:solidFill>
                            <a:schemeClr val="dk1"/>
                          </a:solidFill>
                          <a:latin typeface="Calibri"/>
                        </a:defRPr>
                      </a:lvl1pPr>
                      <a:lvl2pPr marL="457200" algn="l" defTabSz="457200" rtl="0" eaLnBrk="1" latinLnBrk="0" hangingPunct="1">
                        <a:defRPr sz="1800" b="1" kern="1200">
                          <a:solidFill>
                            <a:schemeClr val="dk1"/>
                          </a:solidFill>
                          <a:latin typeface="Calibri"/>
                        </a:defRPr>
                      </a:lvl2pPr>
                      <a:lvl3pPr marL="914400" algn="l" defTabSz="457200" rtl="0" eaLnBrk="1" latinLnBrk="0" hangingPunct="1">
                        <a:defRPr sz="1800" b="1" kern="1200">
                          <a:solidFill>
                            <a:schemeClr val="dk1"/>
                          </a:solidFill>
                          <a:latin typeface="Calibri"/>
                        </a:defRPr>
                      </a:lvl3pPr>
                      <a:lvl4pPr marL="1371600" algn="l" defTabSz="457200" rtl="0" eaLnBrk="1" latinLnBrk="0" hangingPunct="1">
                        <a:defRPr sz="1800" b="1" kern="1200">
                          <a:solidFill>
                            <a:schemeClr val="dk1"/>
                          </a:solidFill>
                          <a:latin typeface="Calibri"/>
                        </a:defRPr>
                      </a:lvl4pPr>
                      <a:lvl5pPr marL="1828800" algn="l" defTabSz="457200" rtl="0" eaLnBrk="1" latinLnBrk="0" hangingPunct="1">
                        <a:defRPr sz="1800" b="1" kern="1200">
                          <a:solidFill>
                            <a:schemeClr val="dk1"/>
                          </a:solidFill>
                          <a:latin typeface="Calibri"/>
                        </a:defRPr>
                      </a:lvl5pPr>
                      <a:lvl6pPr marL="2286000" algn="l" defTabSz="457200" rtl="0" eaLnBrk="1" latinLnBrk="0" hangingPunct="1">
                        <a:defRPr sz="1800" b="1" kern="1200">
                          <a:solidFill>
                            <a:schemeClr val="dk1"/>
                          </a:solidFill>
                          <a:latin typeface="Calibri"/>
                        </a:defRPr>
                      </a:lvl6pPr>
                      <a:lvl7pPr marL="2743200" algn="l" defTabSz="457200" rtl="0" eaLnBrk="1" latinLnBrk="0" hangingPunct="1">
                        <a:defRPr sz="1800" b="1" kern="1200">
                          <a:solidFill>
                            <a:schemeClr val="dk1"/>
                          </a:solidFill>
                          <a:latin typeface="Calibri"/>
                        </a:defRPr>
                      </a:lvl7pPr>
                      <a:lvl8pPr marL="3200400" algn="l" defTabSz="457200" rtl="0" eaLnBrk="1" latinLnBrk="0" hangingPunct="1">
                        <a:defRPr sz="1800" b="1" kern="1200">
                          <a:solidFill>
                            <a:schemeClr val="dk1"/>
                          </a:solidFill>
                          <a:latin typeface="Calibri"/>
                        </a:defRPr>
                      </a:lvl8pPr>
                      <a:lvl9pPr marL="3657600" algn="l" defTabSz="457200" rtl="0" eaLnBrk="1" latinLnBrk="0" hangingPunct="1">
                        <a:defRPr sz="1800" b="1" kern="1200">
                          <a:solidFill>
                            <a:schemeClr val="dk1"/>
                          </a:solidFill>
                          <a:latin typeface="Calibri"/>
                        </a:defRPr>
                      </a:lvl9pPr>
                    </a:lstStyle>
                    <a:p>
                      <a:pPr algn="ctr"/>
                      <a:r>
                        <a:rPr lang="en-US" sz="2000" b="0" dirty="0">
                          <a:latin typeface="Times New Roman" panose="02020603050405020304" pitchFamily="18" charset="0"/>
                          <a:cs typeface="Times New Roman" panose="02020603050405020304" pitchFamily="18" charset="0"/>
                        </a:rPr>
                        <a:t>Temporary value</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sz="2000" b="0" dirty="0">
                          <a:latin typeface="Times New Roman" panose="02020603050405020304" pitchFamily="18" charset="0"/>
                          <a:cs typeface="Times New Roman" panose="02020603050405020304" pitchFamily="18" charset="0"/>
                        </a:rPr>
                        <a:t>Local variables</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sz="2000" b="0" dirty="0">
                          <a:latin typeface="Times New Roman" panose="02020603050405020304" pitchFamily="18" charset="0"/>
                          <a:cs typeface="Times New Roman" panose="02020603050405020304" pitchFamily="18" charset="0"/>
                        </a:rPr>
                        <a:t>Machine status</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sz="2000" b="0" dirty="0">
                          <a:latin typeface="Times New Roman" panose="02020603050405020304" pitchFamily="18" charset="0"/>
                          <a:cs typeface="Times New Roman" panose="02020603050405020304" pitchFamily="18" charset="0"/>
                        </a:rPr>
                        <a:t>Access link </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sz="2000" b="0" dirty="0">
                          <a:latin typeface="Times New Roman" panose="02020603050405020304" pitchFamily="18" charset="0"/>
                          <a:cs typeface="Times New Roman" panose="02020603050405020304" pitchFamily="18" charset="0"/>
                        </a:rPr>
                        <a:t>Control link </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sz="2000" b="0" dirty="0">
                          <a:latin typeface="Times New Roman" panose="02020603050405020304" pitchFamily="18" charset="0"/>
                          <a:cs typeface="Times New Roman" panose="02020603050405020304" pitchFamily="18" charset="0"/>
                        </a:rPr>
                        <a:t>Actual parameters</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r>
                        <a:rPr lang="en-US" sz="2000" b="0" dirty="0">
                          <a:latin typeface="Times New Roman" panose="02020603050405020304" pitchFamily="18" charset="0"/>
                          <a:cs typeface="Times New Roman" panose="02020603050405020304" pitchFamily="18" charset="0"/>
                        </a:rPr>
                        <a:t>Return value</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20" name="TextBox 19">
            <a:extLst>
              <a:ext uri="{FF2B5EF4-FFF2-40B4-BE49-F238E27FC236}">
                <a16:creationId xmlns:a16="http://schemas.microsoft.com/office/drawing/2014/main" id="{AF2B239A-DA0C-4483-911F-51E9E2E09202}"/>
              </a:ext>
            </a:extLst>
          </p:cNvPr>
          <p:cNvSpPr txBox="1"/>
          <p:nvPr/>
        </p:nvSpPr>
        <p:spPr>
          <a:xfrm>
            <a:off x="9827485" y="5664778"/>
            <a:ext cx="2715491" cy="369332"/>
          </a:xfrm>
          <a:prstGeom prst="rect">
            <a:avLst/>
          </a:prstGeom>
          <a:noFill/>
        </p:spPr>
        <p:txBody>
          <a:bodyPr wrap="square">
            <a:spAutoFit/>
          </a:bodyPr>
          <a:lstStyle/>
          <a:p>
            <a:r>
              <a:rPr lang="en-IN" dirty="0">
                <a:solidFill>
                  <a:schemeClr val="bg1"/>
                </a:solidFill>
                <a:latin typeface="Times New Roman" panose="02020603050405020304" pitchFamily="18" charset="0"/>
                <a:cs typeface="Times New Roman" panose="02020603050405020304" pitchFamily="18" charset="0"/>
              </a:rPr>
              <a:t>Fig. Activation Record</a:t>
            </a:r>
          </a:p>
        </p:txBody>
      </p:sp>
    </p:spTree>
    <p:custDataLst>
      <p:tags r:id="rId2"/>
    </p:custDataLst>
    <p:extLst>
      <p:ext uri="{BB962C8B-B14F-4D97-AF65-F5344CB8AC3E}">
        <p14:creationId xmlns:p14="http://schemas.microsoft.com/office/powerpoint/2010/main" val="4137572754"/>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down)">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150254" y="-131600"/>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28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3. Compile-Time Layout of Local Data</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50254" y="699507"/>
            <a:ext cx="11813146" cy="1009219"/>
          </a:xfrm>
          <a:prstGeom prst="rect">
            <a:avLst/>
          </a:prstGeom>
        </p:spPr>
        <p:txBody>
          <a:bodyPr vert="horz" lIns="91440" tIns="45720" rIns="91440" bIns="45720" rtlCol="0">
            <a:no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buFont typeface="Wingdings" panose="05000000000000000000" pitchFamily="2" charset="2"/>
              <a:buChar char="ü"/>
              <a:defRPr/>
            </a:pPr>
            <a:r>
              <a:rPr lang="en-US" dirty="0">
                <a:solidFill>
                  <a:sysClr val="windowText" lastClr="000000"/>
                </a:solidFill>
                <a:latin typeface="Times New Roman" panose="02020603050405020304" pitchFamily="18" charset="0"/>
              </a:rPr>
              <a:t>The amount of storage needed for a name is determined from its type.</a:t>
            </a:r>
          </a:p>
          <a:p>
            <a:pPr lvl="0" algn="just">
              <a:buFont typeface="Wingdings" panose="05000000000000000000" pitchFamily="2" charset="2"/>
              <a:buChar char="ü"/>
              <a:defRPr/>
            </a:pPr>
            <a:r>
              <a:rPr lang="en-US" dirty="0">
                <a:solidFill>
                  <a:sysClr val="windowText" lastClr="000000"/>
                </a:solidFill>
                <a:latin typeface="Times New Roman" panose="02020603050405020304" pitchFamily="18" charset="0"/>
              </a:rPr>
              <a:t>The field of local data is laid out as the declarations in a procedure are examined at compile time.</a:t>
            </a:r>
          </a:p>
          <a:p>
            <a:pPr lvl="0" algn="just">
              <a:buFont typeface="Wingdings" panose="05000000000000000000" pitchFamily="2" charset="2"/>
              <a:buChar char="ü"/>
              <a:defRPr/>
            </a:pPr>
            <a:r>
              <a:rPr lang="en-US" dirty="0">
                <a:solidFill>
                  <a:sysClr val="windowText" lastClr="000000"/>
                </a:solidFill>
                <a:latin typeface="Times New Roman" panose="02020603050405020304" pitchFamily="18" charset="0"/>
              </a:rPr>
              <a:t>Variable length data has been kept outside this field.</a:t>
            </a:r>
          </a:p>
          <a:p>
            <a:pPr lvl="0" algn="just">
              <a:buFont typeface="Wingdings" panose="05000000000000000000" pitchFamily="2" charset="2"/>
              <a:buChar char="ü"/>
              <a:defRPr/>
            </a:pPr>
            <a:r>
              <a:rPr lang="en-US" dirty="0">
                <a:solidFill>
                  <a:sysClr val="windowText" lastClr="000000"/>
                </a:solidFill>
                <a:latin typeface="Times New Roman" panose="02020603050405020304" pitchFamily="18" charset="0"/>
              </a:rPr>
              <a:t>We keep a count of the memory locations that have been allocated for previous declarations.</a:t>
            </a:r>
          </a:p>
          <a:p>
            <a:pPr lvl="0" algn="just">
              <a:buFont typeface="Wingdings" panose="05000000000000000000" pitchFamily="2" charset="2"/>
              <a:buChar char="ü"/>
              <a:defRPr/>
            </a:pPr>
            <a:r>
              <a:rPr lang="en-US" dirty="0">
                <a:solidFill>
                  <a:sysClr val="windowText" lastClr="000000"/>
                </a:solidFill>
                <a:latin typeface="Times New Roman" panose="02020603050405020304" pitchFamily="18" charset="0"/>
              </a:rPr>
              <a:t>From the count we determine a relative address of the storage for a local with respect to some position such as the beginning of the activation record.</a:t>
            </a:r>
          </a:p>
          <a:p>
            <a:pPr lvl="0" algn="just">
              <a:buFont typeface="Wingdings" panose="05000000000000000000" pitchFamily="2" charset="2"/>
              <a:buChar char="ü"/>
              <a:defRPr/>
            </a:pPr>
            <a:r>
              <a:rPr lang="en-US" dirty="0">
                <a:solidFill>
                  <a:sysClr val="windowText" lastClr="000000"/>
                </a:solidFill>
                <a:latin typeface="Times New Roman" panose="02020603050405020304" pitchFamily="18" charset="0"/>
              </a:rPr>
              <a:t>The storage layout for data objects is strongly influenced by the addressing constraints of the target machine.</a:t>
            </a:r>
          </a:p>
          <a:p>
            <a:pPr lvl="0" algn="just">
              <a:buFont typeface="Wingdings" panose="05000000000000000000" pitchFamily="2" charset="2"/>
              <a:buChar char="ü"/>
              <a:defRPr/>
            </a:pPr>
            <a:endParaRPr lang="en-US" dirty="0">
              <a:solidFill>
                <a:sysClr val="windowText" lastClr="000000"/>
              </a:solidFill>
              <a:latin typeface="Times New Roman" panose="02020603050405020304" pitchFamily="18" charset="0"/>
            </a:endParaRPr>
          </a:p>
          <a:p>
            <a:pPr lvl="0" algn="just">
              <a:buFont typeface="Wingdings" panose="05000000000000000000" pitchFamily="2" charset="2"/>
              <a:buChar char="ü"/>
              <a:defRPr/>
            </a:pPr>
            <a:endParaRPr lang="en-US" dirty="0">
              <a:solidFill>
                <a:sysClr val="windowText" lastClr="000000"/>
              </a:solidFill>
              <a:latin typeface="Times New Roman" panose="02020603050405020304" pitchFamily="18" charset="0"/>
            </a:endParaRPr>
          </a:p>
        </p:txBody>
      </p:sp>
    </p:spTree>
    <p:custDataLst>
      <p:tags r:id="rId2"/>
    </p:custDataLst>
    <p:extLst>
      <p:ext uri="{BB962C8B-B14F-4D97-AF65-F5344CB8AC3E}">
        <p14:creationId xmlns:p14="http://schemas.microsoft.com/office/powerpoint/2010/main" val="2991949733"/>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99290" y="-5876"/>
            <a:ext cx="11942456"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442913" indent="-442913" algn="l">
              <a:buFont typeface="Wingdings" panose="05000000000000000000" pitchFamily="2" charset="2"/>
              <a:buChar char="v"/>
            </a:pPr>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Difference between Static v/s Dynamic memory allocation</a:t>
            </a:r>
          </a:p>
        </p:txBody>
      </p:sp>
      <p:graphicFrame>
        <p:nvGraphicFramePr>
          <p:cNvPr id="10" name="Table 10">
            <a:extLst>
              <a:ext uri="{FF2B5EF4-FFF2-40B4-BE49-F238E27FC236}">
                <a16:creationId xmlns:a16="http://schemas.microsoft.com/office/drawing/2014/main" id="{C416B7C8-66B1-42BE-BCAB-5A7ADAE254E7}"/>
              </a:ext>
            </a:extLst>
          </p:cNvPr>
          <p:cNvGraphicFramePr>
            <a:graphicFrameLocks noGrp="1"/>
          </p:cNvGraphicFramePr>
          <p:nvPr>
            <p:extLst>
              <p:ext uri="{D42A27DB-BD31-4B8C-83A1-F6EECF244321}">
                <p14:modId xmlns:p14="http://schemas.microsoft.com/office/powerpoint/2010/main" val="2055038161"/>
              </p:ext>
            </p:extLst>
          </p:nvPr>
        </p:nvGraphicFramePr>
        <p:xfrm>
          <a:off x="99290" y="1013246"/>
          <a:ext cx="11993419" cy="5695806"/>
        </p:xfrm>
        <a:graphic>
          <a:graphicData uri="http://schemas.openxmlformats.org/drawingml/2006/table">
            <a:tbl>
              <a:tblPr firstRow="1" bandRow="1">
                <a:tableStyleId>{5C22544A-7EE6-4342-B048-85BDC9FD1C3A}</a:tableStyleId>
              </a:tblPr>
              <a:tblGrid>
                <a:gridCol w="933359">
                  <a:extLst>
                    <a:ext uri="{9D8B030D-6E8A-4147-A177-3AD203B41FA5}">
                      <a16:colId xmlns:a16="http://schemas.microsoft.com/office/drawing/2014/main" val="1428665360"/>
                    </a:ext>
                  </a:extLst>
                </a:gridCol>
                <a:gridCol w="5499497">
                  <a:extLst>
                    <a:ext uri="{9D8B030D-6E8A-4147-A177-3AD203B41FA5}">
                      <a16:colId xmlns:a16="http://schemas.microsoft.com/office/drawing/2014/main" val="2748296538"/>
                    </a:ext>
                  </a:extLst>
                </a:gridCol>
                <a:gridCol w="5560563">
                  <a:extLst>
                    <a:ext uri="{9D8B030D-6E8A-4147-A177-3AD203B41FA5}">
                      <a16:colId xmlns:a16="http://schemas.microsoft.com/office/drawing/2014/main" val="2726655588"/>
                    </a:ext>
                  </a:extLst>
                </a:gridCol>
              </a:tblGrid>
              <a:tr h="674981">
                <a:tc>
                  <a:txBody>
                    <a:bodyPr/>
                    <a:lstStyle/>
                    <a:p>
                      <a:pPr algn="ctr"/>
                      <a:r>
                        <a:rPr lang="en-IN" sz="2400" dirty="0">
                          <a:latin typeface="Times New Roman" panose="02020603050405020304" pitchFamily="18" charset="0"/>
                          <a:cs typeface="Times New Roman" panose="02020603050405020304" pitchFamily="18" charset="0"/>
                        </a:rPr>
                        <a:t>No.</a:t>
                      </a:r>
                    </a:p>
                  </a:txBody>
                  <a:tcPr anchor="ctr"/>
                </a:tc>
                <a:tc>
                  <a:txBody>
                    <a:bodyPr/>
                    <a:lstStyle/>
                    <a:p>
                      <a:pPr algn="ctr"/>
                      <a:r>
                        <a:rPr lang="en-US" sz="2400" b="1" kern="1200" dirty="0">
                          <a:solidFill>
                            <a:schemeClr val="lt1"/>
                          </a:solidFill>
                          <a:effectLst/>
                          <a:latin typeface="Times New Roman" panose="02020603050405020304" pitchFamily="18" charset="0"/>
                          <a:ea typeface="+mn-ea"/>
                          <a:cs typeface="Times New Roman" panose="02020603050405020304" pitchFamily="18" charset="0"/>
                        </a:rPr>
                        <a:t>Static Memory Allocation</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1" kern="1200" dirty="0">
                          <a:solidFill>
                            <a:schemeClr val="lt1"/>
                          </a:solidFill>
                          <a:effectLst/>
                          <a:latin typeface="Times New Roman" panose="02020603050405020304" pitchFamily="18" charset="0"/>
                          <a:ea typeface="+mn-ea"/>
                          <a:cs typeface="Times New Roman" panose="02020603050405020304" pitchFamily="18" charset="0"/>
                        </a:rPr>
                        <a:t>Dynamic Memory Allocation</a:t>
                      </a: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9371184"/>
                  </a:ext>
                </a:extLst>
              </a:tr>
              <a:tr h="674981">
                <a:tc>
                  <a:txBody>
                    <a:bodyPr/>
                    <a:lstStyle/>
                    <a:p>
                      <a:pPr algn="ctr"/>
                      <a:r>
                        <a:rPr lang="en-IN" sz="2400" b="1" dirty="0">
                          <a:latin typeface="Times New Roman" panose="02020603050405020304" pitchFamily="18" charset="0"/>
                          <a:cs typeface="Times New Roman" panose="02020603050405020304" pitchFamily="18" charset="0"/>
                        </a:rPr>
                        <a:t>1</a:t>
                      </a:r>
                    </a:p>
                  </a:txBody>
                  <a:tcPr anchor="ctr"/>
                </a:tc>
                <a:tc>
                  <a:txBody>
                    <a:bodyPr/>
                    <a:lstStyle/>
                    <a:p>
                      <a:pPr marL="34925" marR="29845" algn="just">
                        <a:lnSpc>
                          <a:spcPct val="105000"/>
                        </a:lnSpc>
                        <a:spcBef>
                          <a:spcPts val="265"/>
                        </a:spcBef>
                        <a:spcAft>
                          <a:spcPts val="0"/>
                        </a:spcAft>
                        <a:tabLst>
                          <a:tab pos="730885" algn="l"/>
                          <a:tab pos="988695" algn="l"/>
                          <a:tab pos="1715770" algn="l"/>
                          <a:tab pos="2284095" algn="l"/>
                        </a:tabLst>
                      </a:pPr>
                      <a:r>
                        <a:rPr lang="en-US" sz="2400" dirty="0">
                          <a:effectLst/>
                          <a:latin typeface="Times New Roman" panose="02020603050405020304" pitchFamily="18" charset="0"/>
                          <a:ea typeface="Arimo"/>
                          <a:cs typeface="Times New Roman" panose="02020603050405020304" pitchFamily="18" charset="0"/>
                        </a:rPr>
                        <a:t>Memory is allocated </a:t>
                      </a:r>
                      <a:r>
                        <a:rPr lang="en-US" sz="2400" spc="-15" dirty="0">
                          <a:effectLst/>
                          <a:latin typeface="Times New Roman" panose="02020603050405020304" pitchFamily="18" charset="0"/>
                          <a:ea typeface="Arimo"/>
                          <a:cs typeface="Times New Roman" panose="02020603050405020304" pitchFamily="18" charset="0"/>
                        </a:rPr>
                        <a:t>before </a:t>
                      </a:r>
                      <a:r>
                        <a:rPr lang="en-US" sz="2400" spc="-35" dirty="0">
                          <a:effectLst/>
                          <a:latin typeface="Times New Roman" panose="02020603050405020304" pitchFamily="18" charset="0"/>
                          <a:ea typeface="Arimo"/>
                          <a:cs typeface="Times New Roman" panose="02020603050405020304" pitchFamily="18" charset="0"/>
                        </a:rPr>
                        <a:t>the </a:t>
                      </a:r>
                      <a:r>
                        <a:rPr lang="en-US" sz="2400" dirty="0">
                          <a:effectLst/>
                          <a:latin typeface="Times New Roman" panose="02020603050405020304" pitchFamily="18" charset="0"/>
                          <a:ea typeface="Arimo"/>
                          <a:cs typeface="Times New Roman" panose="02020603050405020304" pitchFamily="18" charset="0"/>
                        </a:rPr>
                        <a:t>execution</a:t>
                      </a:r>
                      <a:r>
                        <a:rPr lang="en-US" sz="2400" spc="-125" dirty="0">
                          <a:effectLst/>
                          <a:latin typeface="Times New Roman" panose="02020603050405020304" pitchFamily="18" charset="0"/>
                          <a:ea typeface="Arimo"/>
                          <a:cs typeface="Times New Roman" panose="02020603050405020304" pitchFamily="18" charset="0"/>
                        </a:rPr>
                        <a:t> </a:t>
                      </a:r>
                      <a:r>
                        <a:rPr lang="en-US" sz="2400" dirty="0">
                          <a:effectLst/>
                          <a:latin typeface="Times New Roman" panose="02020603050405020304" pitchFamily="18" charset="0"/>
                          <a:ea typeface="Arimo"/>
                          <a:cs typeface="Times New Roman" panose="02020603050405020304" pitchFamily="18" charset="0"/>
                        </a:rPr>
                        <a:t>of</a:t>
                      </a:r>
                      <a:r>
                        <a:rPr lang="en-US" sz="2400" spc="-135" dirty="0">
                          <a:effectLst/>
                          <a:latin typeface="Times New Roman" panose="02020603050405020304" pitchFamily="18" charset="0"/>
                          <a:ea typeface="Arimo"/>
                          <a:cs typeface="Times New Roman" panose="02020603050405020304" pitchFamily="18" charset="0"/>
                        </a:rPr>
                        <a:t> </a:t>
                      </a:r>
                      <a:r>
                        <a:rPr lang="en-US" sz="2400" dirty="0">
                          <a:effectLst/>
                          <a:latin typeface="Times New Roman" panose="02020603050405020304" pitchFamily="18" charset="0"/>
                          <a:ea typeface="Arimo"/>
                          <a:cs typeface="Times New Roman" panose="02020603050405020304" pitchFamily="18" charset="0"/>
                        </a:rPr>
                        <a:t>the</a:t>
                      </a:r>
                      <a:r>
                        <a:rPr lang="en-US" sz="2400" spc="-135" dirty="0">
                          <a:effectLst/>
                          <a:latin typeface="Times New Roman" panose="02020603050405020304" pitchFamily="18" charset="0"/>
                          <a:ea typeface="Arimo"/>
                          <a:cs typeface="Times New Roman" panose="02020603050405020304" pitchFamily="18" charset="0"/>
                        </a:rPr>
                        <a:t> </a:t>
                      </a:r>
                      <a:r>
                        <a:rPr lang="en-US" sz="2400" spc="-15" dirty="0">
                          <a:effectLst/>
                          <a:latin typeface="Times New Roman" panose="02020603050405020304" pitchFamily="18" charset="0"/>
                          <a:ea typeface="Arimo"/>
                          <a:cs typeface="Times New Roman" panose="02020603050405020304" pitchFamily="18" charset="0"/>
                        </a:rPr>
                        <a:t>program</a:t>
                      </a:r>
                      <a:r>
                        <a:rPr lang="en-US" sz="2400" spc="-135" dirty="0">
                          <a:effectLst/>
                          <a:latin typeface="Times New Roman" panose="02020603050405020304" pitchFamily="18" charset="0"/>
                          <a:ea typeface="Arimo"/>
                          <a:cs typeface="Times New Roman" panose="02020603050405020304" pitchFamily="18" charset="0"/>
                        </a:rPr>
                        <a:t> </a:t>
                      </a:r>
                      <a:r>
                        <a:rPr lang="en-US" sz="2400" dirty="0">
                          <a:effectLst/>
                          <a:latin typeface="Times New Roman" panose="02020603050405020304" pitchFamily="18" charset="0"/>
                          <a:ea typeface="Arimo"/>
                          <a:cs typeface="Times New Roman" panose="02020603050405020304" pitchFamily="18" charset="0"/>
                        </a:rPr>
                        <a:t>begins.</a:t>
                      </a:r>
                      <a:endParaRPr lang="en-IN" sz="2000" dirty="0">
                        <a:effectLst/>
                        <a:latin typeface="Times New Roman" panose="02020603050405020304" pitchFamily="18" charset="0"/>
                        <a:ea typeface="Arimo"/>
                        <a:cs typeface="Times New Roman" panose="02020603050405020304" pitchFamily="18" charset="0"/>
                      </a:endParaRPr>
                    </a:p>
                  </a:txBody>
                  <a:tcPr marL="0" marR="0" marT="0" marB="0"/>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Memory is allocated during the execution of the program.</a:t>
                      </a:r>
                      <a:endParaRPr lang="en-IN" sz="2400" kern="1200" dirty="0">
                        <a:solidFill>
                          <a:schemeClr val="dk1"/>
                        </a:solidFill>
                        <a:effectLst/>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19533541"/>
                  </a:ext>
                </a:extLst>
              </a:tr>
              <a:tr h="674981">
                <a:tc>
                  <a:txBody>
                    <a:bodyPr/>
                    <a:lstStyle/>
                    <a:p>
                      <a:pPr algn="ctr"/>
                      <a:r>
                        <a:rPr lang="en-IN" sz="2400" b="1" dirty="0">
                          <a:latin typeface="Times New Roman" panose="02020603050405020304" pitchFamily="18" charset="0"/>
                          <a:cs typeface="Times New Roman" panose="02020603050405020304" pitchFamily="18" charset="0"/>
                        </a:rPr>
                        <a:t>2</a:t>
                      </a:r>
                    </a:p>
                  </a:txBody>
                  <a:tcPr anchor="ctr"/>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No memory allocation or de-allocation actions	are	performed	during execution.</a:t>
                      </a:r>
                      <a:endParaRPr lang="en-IN" sz="2400"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Memory Bindings are established and destroyed during the execution.</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181796778"/>
                  </a:ext>
                </a:extLst>
              </a:tr>
              <a:tr h="674981">
                <a:tc>
                  <a:txBody>
                    <a:bodyPr/>
                    <a:lstStyle/>
                    <a:p>
                      <a:pPr algn="ctr"/>
                      <a:r>
                        <a:rPr lang="en-IN" sz="2400" b="1" dirty="0">
                          <a:latin typeface="Times New Roman" panose="02020603050405020304" pitchFamily="18" charset="0"/>
                          <a:cs typeface="Times New Roman" panose="02020603050405020304" pitchFamily="18" charset="0"/>
                        </a:rPr>
                        <a:t>3</a:t>
                      </a:r>
                    </a:p>
                  </a:txBody>
                  <a:tcPr anchor="ctr"/>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Variables	remain permanently allocated.</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Allocated only when program unit is active.</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447074326"/>
                  </a:ext>
                </a:extLst>
              </a:tr>
              <a:tr h="674981">
                <a:tc>
                  <a:txBody>
                    <a:bodyPr/>
                    <a:lstStyle/>
                    <a:p>
                      <a:pPr algn="ctr"/>
                      <a:r>
                        <a:rPr lang="en-IN" sz="2400" b="1" dirty="0">
                          <a:latin typeface="Times New Roman" panose="02020603050405020304" pitchFamily="18" charset="0"/>
                          <a:cs typeface="Times New Roman" panose="02020603050405020304" pitchFamily="18" charset="0"/>
                        </a:rPr>
                        <a:t>4</a:t>
                      </a:r>
                    </a:p>
                  </a:txBody>
                  <a:tcPr anchor="ctr"/>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Implemented using stacks and heaps.</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Implemented using data segments.</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971595035"/>
                  </a:ext>
                </a:extLst>
              </a:tr>
              <a:tr h="674981">
                <a:tc>
                  <a:txBody>
                    <a:bodyPr/>
                    <a:lstStyle/>
                    <a:p>
                      <a:pPr algn="ctr"/>
                      <a:r>
                        <a:rPr lang="en-IN" sz="2400" b="1" dirty="0">
                          <a:latin typeface="Times New Roman" panose="02020603050405020304" pitchFamily="18" charset="0"/>
                          <a:cs typeface="Times New Roman" panose="02020603050405020304" pitchFamily="18" charset="0"/>
                        </a:rPr>
                        <a:t>5</a:t>
                      </a:r>
                    </a:p>
                  </a:txBody>
                  <a:tcPr anchor="ctr"/>
                </a:tc>
                <a:tc>
                  <a:txBody>
                    <a:bodyPr/>
                    <a:lstStyle/>
                    <a:p>
                      <a:pPr marL="34925" marR="29845" algn="just">
                        <a:lnSpc>
                          <a:spcPct val="105000"/>
                        </a:lnSpc>
                        <a:spcBef>
                          <a:spcPts val="265"/>
                        </a:spcBef>
                        <a:spcAft>
                          <a:spcPts val="0"/>
                        </a:spcAft>
                        <a:tabLst>
                          <a:tab pos="667385" algn="l"/>
                          <a:tab pos="942975" algn="l"/>
                          <a:tab pos="1593215" algn="l"/>
                          <a:tab pos="1906905" algn="l"/>
                        </a:tabLst>
                      </a:pPr>
                      <a:r>
                        <a:rPr lang="en-US" sz="2400" kern="1200" dirty="0">
                          <a:solidFill>
                            <a:schemeClr val="dk1"/>
                          </a:solidFill>
                          <a:effectLst/>
                          <a:latin typeface="Times New Roman" panose="02020603050405020304" pitchFamily="18" charset="0"/>
                          <a:ea typeface="+mn-ea"/>
                          <a:cs typeface="Times New Roman" panose="02020603050405020304" pitchFamily="18" charset="0"/>
                        </a:rPr>
                        <a:t>Pointer	is needed to accessing variables.</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No	need of dynamically allocated pointers.</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775450602"/>
                  </a:ext>
                </a:extLst>
              </a:tr>
              <a:tr h="674981">
                <a:tc>
                  <a:txBody>
                    <a:bodyPr/>
                    <a:lstStyle/>
                    <a:p>
                      <a:pPr algn="ctr"/>
                      <a:r>
                        <a:rPr lang="en-IN" sz="2400" b="1" dirty="0">
                          <a:latin typeface="Times New Roman" panose="02020603050405020304" pitchFamily="18" charset="0"/>
                          <a:cs typeface="Times New Roman" panose="02020603050405020304" pitchFamily="18" charset="0"/>
                        </a:rPr>
                        <a:t>6</a:t>
                      </a:r>
                    </a:p>
                  </a:txBody>
                  <a:tcPr anchor="ctr"/>
                </a:tc>
                <a:tc>
                  <a:txBody>
                    <a:bodyPr/>
                    <a:lstStyle/>
                    <a:p>
                      <a:pPr marL="34925" algn="just">
                        <a:spcBef>
                          <a:spcPts val="265"/>
                        </a:spcBef>
                        <a:spcAft>
                          <a:spcPts val="0"/>
                        </a:spcAft>
                      </a:pPr>
                      <a:r>
                        <a:rPr lang="en-US" sz="2400" kern="1200" dirty="0">
                          <a:solidFill>
                            <a:schemeClr val="dk1"/>
                          </a:solidFill>
                          <a:effectLst/>
                          <a:latin typeface="Times New Roman" panose="02020603050405020304" pitchFamily="18" charset="0"/>
                          <a:ea typeface="+mn-ea"/>
                          <a:cs typeface="Times New Roman" panose="02020603050405020304" pitchFamily="18" charset="0"/>
                        </a:rPr>
                        <a:t>Faster execution than dynamic.</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Slower execution than static</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854317767"/>
                  </a:ext>
                </a:extLst>
              </a:tr>
              <a:tr h="674981">
                <a:tc>
                  <a:txBody>
                    <a:bodyPr/>
                    <a:lstStyle/>
                    <a:p>
                      <a:pPr algn="ctr"/>
                      <a:r>
                        <a:rPr lang="en-IN" sz="2400" b="1" dirty="0">
                          <a:latin typeface="Times New Roman" panose="02020603050405020304" pitchFamily="18" charset="0"/>
                          <a:cs typeface="Times New Roman" panose="02020603050405020304" pitchFamily="18" charset="0"/>
                        </a:rPr>
                        <a:t>7</a:t>
                      </a:r>
                    </a:p>
                  </a:txBody>
                  <a:tcPr anchor="ctr"/>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More memory space required.</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2400" kern="1200" dirty="0">
                          <a:solidFill>
                            <a:schemeClr val="dk1"/>
                          </a:solidFill>
                          <a:effectLst/>
                          <a:latin typeface="Times New Roman" panose="02020603050405020304" pitchFamily="18" charset="0"/>
                          <a:ea typeface="+mn-ea"/>
                          <a:cs typeface="Times New Roman" panose="02020603050405020304" pitchFamily="18" charset="0"/>
                        </a:rPr>
                        <a:t>Less memory space required.</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603273562"/>
                  </a:ext>
                </a:extLst>
              </a:tr>
            </a:tbl>
          </a:graphicData>
        </a:graphic>
      </p:graphicFrame>
    </p:spTree>
    <p:custDataLst>
      <p:tags r:id="rId2"/>
    </p:custDataLst>
    <p:extLst>
      <p:ext uri="{BB962C8B-B14F-4D97-AF65-F5344CB8AC3E}">
        <p14:creationId xmlns:p14="http://schemas.microsoft.com/office/powerpoint/2010/main" val="3042789329"/>
      </p:ext>
    </p:extLst>
  </p:cSld>
  <p:clrMapOvr>
    <a:overrideClrMapping bg1="dk1" tx1="lt1" bg2="dk2" tx2="lt2" accent1="accent1" accent2="accent2" accent3="accent3" accent4="accent4" accent5="accent5" accent6="accent6" hlink="hlink" folHlink="folHlink"/>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99290" y="53116"/>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442913" indent="-442913" algn="l">
              <a:buFont typeface="Wingdings" panose="05000000000000000000" pitchFamily="2" charset="2"/>
              <a:buChar char="v"/>
            </a:pPr>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Parameter passing methods</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There are two types of parameters, Formal parameters &amp; Actual parameters.</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And based on these parameters there are various parameter passing methods, the common methods are:</a:t>
            </a:r>
          </a:p>
          <a:p>
            <a:pPr marL="895350" lvl="0" indent="-514350" algn="just">
              <a:buFont typeface="+mj-lt"/>
              <a:buAutoNum type="arabicPeriod"/>
              <a:defRPr/>
            </a:pPr>
            <a:r>
              <a:rPr lang="en-US" sz="2800" dirty="0">
                <a:solidFill>
                  <a:sysClr val="windowText" lastClr="000000"/>
                </a:solidFill>
                <a:latin typeface="Times New Roman" panose="02020603050405020304" pitchFamily="18" charset="0"/>
              </a:rPr>
              <a:t> Call by value</a:t>
            </a:r>
          </a:p>
          <a:p>
            <a:pPr marL="895350" lvl="0" indent="-514350" algn="just">
              <a:buFont typeface="+mj-lt"/>
              <a:buAutoNum type="arabicPeriod"/>
              <a:defRPr/>
            </a:pPr>
            <a:r>
              <a:rPr lang="en-US" sz="2800" dirty="0">
                <a:solidFill>
                  <a:sysClr val="windowText" lastClr="000000"/>
                </a:solidFill>
                <a:latin typeface="Times New Roman" panose="02020603050405020304" pitchFamily="18" charset="0"/>
              </a:rPr>
              <a:t> Call by reference</a:t>
            </a:r>
          </a:p>
          <a:p>
            <a:pPr marL="895350" lvl="0" indent="-514350" algn="just">
              <a:buFont typeface="+mj-lt"/>
              <a:buAutoNum type="arabicPeriod"/>
              <a:defRPr/>
            </a:pPr>
            <a:r>
              <a:rPr lang="en-US" sz="2800" dirty="0">
                <a:solidFill>
                  <a:sysClr val="windowText" lastClr="000000"/>
                </a:solidFill>
                <a:latin typeface="Times New Roman" panose="02020603050405020304" pitchFamily="18" charset="0"/>
              </a:rPr>
              <a:t> Copy restore</a:t>
            </a:r>
          </a:p>
          <a:p>
            <a:pPr marL="895350" lvl="0" indent="-514350" algn="just">
              <a:buFont typeface="+mj-lt"/>
              <a:buAutoNum type="arabicPeriod"/>
              <a:defRPr/>
            </a:pPr>
            <a:r>
              <a:rPr lang="en-US" sz="2800" dirty="0">
                <a:solidFill>
                  <a:sysClr val="windowText" lastClr="000000"/>
                </a:solidFill>
                <a:latin typeface="Times New Roman" panose="02020603050405020304" pitchFamily="18" charset="0"/>
              </a:rPr>
              <a:t> Call by name</a:t>
            </a:r>
          </a:p>
          <a:p>
            <a:pPr lvl="0" algn="just">
              <a:buFont typeface="Wingdings" panose="05000000000000000000" pitchFamily="2" charset="2"/>
              <a:buChar char="ü"/>
              <a:defRPr/>
            </a:pPr>
            <a:endParaRPr lang="en-US" sz="400" dirty="0">
              <a:solidFill>
                <a:sysClr val="windowText" lastClr="000000"/>
              </a:solidFill>
              <a:latin typeface="Times New Roman" panose="02020603050405020304" pitchFamily="18" charset="0"/>
            </a:endParaRPr>
          </a:p>
          <a:p>
            <a:pPr marL="0" lvl="0" indent="0" algn="just">
              <a:buNone/>
              <a:defRPr/>
            </a:pPr>
            <a:endParaRPr lang="en-US" sz="400" dirty="0">
              <a:solidFill>
                <a:sysClr val="windowText" lastClr="000000"/>
              </a:solidFill>
              <a:latin typeface="Times New Roman" panose="02020603050405020304" pitchFamily="18" charset="0"/>
            </a:endParaRPr>
          </a:p>
        </p:txBody>
      </p:sp>
    </p:spTree>
    <p:custDataLst>
      <p:tags r:id="rId2"/>
    </p:custDataLst>
    <p:extLst>
      <p:ext uri="{BB962C8B-B14F-4D97-AF65-F5344CB8AC3E}">
        <p14:creationId xmlns:p14="http://schemas.microsoft.com/office/powerpoint/2010/main" val="1106826156"/>
      </p:ext>
    </p:extLst>
  </p:cSld>
  <p:clrMapOvr>
    <a:overrideClrMapping bg1="dk1" tx1="lt1" bg2="dk2" tx2="lt2" accent1="accent1" accent2="accent2" accent3="accent3" accent4="accent4" accent5="accent5" accent6="accent6" hlink="hlink" folHlink="folHlink"/>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99290" y="53116"/>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1. Call by Value</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This is the simplest method of parameter passing.</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The call by value method of passing arguments to a function </a:t>
            </a:r>
            <a:r>
              <a:rPr lang="en-US" sz="2800" dirty="0">
                <a:solidFill>
                  <a:srgbClr val="FF0000"/>
                </a:solidFill>
                <a:latin typeface="Times New Roman" panose="02020603050405020304" pitchFamily="18" charset="0"/>
              </a:rPr>
              <a:t>copies the actual value of an argument into the formal parameter of the function.</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The operations on formal parameters do not change the values of a parameter.</a:t>
            </a:r>
          </a:p>
          <a:p>
            <a:pPr lvl="0" algn="just">
              <a:buFont typeface="Wingdings" panose="05000000000000000000" pitchFamily="2" charset="2"/>
              <a:buChar char="ü"/>
              <a:defRPr/>
            </a:pPr>
            <a:endParaRPr lang="en-US" sz="400" dirty="0">
              <a:solidFill>
                <a:sysClr val="windowText" lastClr="000000"/>
              </a:solidFill>
              <a:latin typeface="Times New Roman" panose="02020603050405020304" pitchFamily="18" charset="0"/>
            </a:endParaRPr>
          </a:p>
          <a:p>
            <a:pPr marL="0" lvl="0" indent="0" algn="just">
              <a:buNone/>
              <a:defRPr/>
            </a:pPr>
            <a:endParaRPr lang="en-US" sz="400" dirty="0">
              <a:solidFill>
                <a:sysClr val="windowText" lastClr="000000"/>
              </a:solidFill>
              <a:latin typeface="Times New Roman" panose="02020603050405020304" pitchFamily="18" charset="0"/>
            </a:endParaRPr>
          </a:p>
        </p:txBody>
      </p:sp>
    </p:spTree>
    <p:custDataLst>
      <p:tags r:id="rId2"/>
    </p:custDataLst>
    <p:extLst>
      <p:ext uri="{BB962C8B-B14F-4D97-AF65-F5344CB8AC3E}">
        <p14:creationId xmlns:p14="http://schemas.microsoft.com/office/powerpoint/2010/main" val="2844712151"/>
      </p:ext>
    </p:extLst>
  </p:cSld>
  <p:clrMapOvr>
    <a:overrideClrMapping bg1="dk1" tx1="lt1" bg2="dk2" tx2="lt2" accent1="accent1" accent2="accent2" accent3="accent3" accent4="accent4" accent5="accent5" accent6="accent6" hlink="hlink" folHlink="folHlink"/>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99290" y="53116"/>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2. Call by Reference</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This method is also called as call by address or call by location.</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The call by reference method of passing arguments to a function </a:t>
            </a:r>
            <a:r>
              <a:rPr lang="en-US" sz="2800" dirty="0">
                <a:solidFill>
                  <a:srgbClr val="FF0000"/>
                </a:solidFill>
                <a:latin typeface="Times New Roman" panose="02020603050405020304" pitchFamily="18" charset="0"/>
              </a:rPr>
              <a:t>copies the address of an argument into the formal parameter. </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Inside the function, the address is used to access the actual argument used in the call. </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It means the changes made to the parameter affect the passed argument.</a:t>
            </a:r>
          </a:p>
          <a:p>
            <a:pPr lvl="0" algn="just">
              <a:buFont typeface="Wingdings" panose="05000000000000000000" pitchFamily="2" charset="2"/>
              <a:buChar char="ü"/>
              <a:defRPr/>
            </a:pPr>
            <a:endParaRPr lang="en-US" sz="400" dirty="0">
              <a:solidFill>
                <a:sysClr val="windowText" lastClr="000000"/>
              </a:solidFill>
              <a:latin typeface="Times New Roman" panose="02020603050405020304" pitchFamily="18" charset="0"/>
            </a:endParaRPr>
          </a:p>
          <a:p>
            <a:pPr marL="0" lvl="0" indent="0" algn="just">
              <a:buNone/>
              <a:defRPr/>
            </a:pPr>
            <a:endParaRPr lang="en-US" sz="400" dirty="0">
              <a:solidFill>
                <a:sysClr val="windowText" lastClr="000000"/>
              </a:solidFill>
              <a:latin typeface="Times New Roman" panose="02020603050405020304" pitchFamily="18" charset="0"/>
            </a:endParaRPr>
          </a:p>
        </p:txBody>
      </p:sp>
    </p:spTree>
    <p:custDataLst>
      <p:tags r:id="rId2"/>
    </p:custDataLst>
    <p:extLst>
      <p:ext uri="{BB962C8B-B14F-4D97-AF65-F5344CB8AC3E}">
        <p14:creationId xmlns:p14="http://schemas.microsoft.com/office/powerpoint/2010/main" val="1705182186"/>
      </p:ext>
    </p:extLst>
  </p:cSld>
  <p:clrMapOvr>
    <a:overrideClrMapping bg1="dk1" tx1="lt1" bg2="dk2" tx2="lt2" accent1="accent1" accent2="accent2" accent3="accent3" accent4="accent4" accent5="accent5" accent6="accent6" hlink="hlink" folHlink="folHlink"/>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99290" y="53116"/>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3. Copy Restore</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This method is a hybrid between call by value and call by reference. </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This method is also known as copy-in-copy-out or values result.</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The calling procedure calculates the value of actual parameter and it then copied to activation record for the called procedure.</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During execution of called procedure, the actual parameters value is not affected.</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If the actual parameter has L-value then at return the value of formal parameter is copied to actual parameter.</a:t>
            </a:r>
          </a:p>
          <a:p>
            <a:pPr lvl="0" algn="just">
              <a:buFont typeface="Wingdings" panose="05000000000000000000" pitchFamily="2" charset="2"/>
              <a:buChar char="ü"/>
              <a:defRPr/>
            </a:pPr>
            <a:endParaRPr lang="en-US" sz="400" dirty="0">
              <a:solidFill>
                <a:sysClr val="windowText" lastClr="000000"/>
              </a:solidFill>
              <a:latin typeface="Times New Roman" panose="02020603050405020304" pitchFamily="18" charset="0"/>
            </a:endParaRPr>
          </a:p>
          <a:p>
            <a:pPr marL="0" lvl="0" indent="0" algn="just">
              <a:buNone/>
              <a:defRPr/>
            </a:pPr>
            <a:endParaRPr lang="en-US" sz="400" dirty="0">
              <a:solidFill>
                <a:sysClr val="windowText" lastClr="000000"/>
              </a:solidFill>
              <a:latin typeface="Times New Roman" panose="02020603050405020304" pitchFamily="18" charset="0"/>
            </a:endParaRPr>
          </a:p>
        </p:txBody>
      </p:sp>
    </p:spTree>
    <p:custDataLst>
      <p:tags r:id="rId2"/>
    </p:custDataLst>
    <p:extLst>
      <p:ext uri="{BB962C8B-B14F-4D97-AF65-F5344CB8AC3E}">
        <p14:creationId xmlns:p14="http://schemas.microsoft.com/office/powerpoint/2010/main" val="1471329422"/>
      </p:ext>
    </p:extLst>
  </p:cSld>
  <p:clrMapOvr>
    <a:overrideClrMapping bg1="dk1" tx1="lt1" bg2="dk2" tx2="lt2" accent1="accent1" accent2="accent2" accent3="accent3" accent4="accent4" accent5="accent5" accent6="accent6" hlink="hlink" folHlink="folHlink"/>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99290" y="53116"/>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4. Call by Name</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This is less popular method of parameter passing.</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Procedure is treated like macro. </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The procedure body is substituted for call in caller with actual parameters substituted for formals.</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The local names of called procedure and names of calling procedure are distinct.</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The actual parameters can be surrounded by parenthesis to preserve their integrity.</a:t>
            </a:r>
          </a:p>
          <a:p>
            <a:pPr lvl="0" algn="just">
              <a:buFont typeface="Wingdings" panose="05000000000000000000" pitchFamily="2" charset="2"/>
              <a:buChar char="ü"/>
              <a:defRPr/>
            </a:pPr>
            <a:endParaRPr lang="en-US" sz="400" dirty="0">
              <a:solidFill>
                <a:sysClr val="windowText" lastClr="000000"/>
              </a:solidFill>
              <a:latin typeface="Times New Roman" panose="02020603050405020304" pitchFamily="18" charset="0"/>
            </a:endParaRPr>
          </a:p>
          <a:p>
            <a:pPr marL="0" lvl="0" indent="0" algn="just">
              <a:buNone/>
              <a:defRPr/>
            </a:pPr>
            <a:endParaRPr lang="en-US" sz="400" dirty="0">
              <a:solidFill>
                <a:sysClr val="windowText" lastClr="000000"/>
              </a:solidFill>
              <a:latin typeface="Times New Roman" panose="02020603050405020304" pitchFamily="18" charset="0"/>
            </a:endParaRPr>
          </a:p>
        </p:txBody>
      </p:sp>
    </p:spTree>
    <p:custDataLst>
      <p:tags r:id="rId2"/>
    </p:custDataLst>
    <p:extLst>
      <p:ext uri="{BB962C8B-B14F-4D97-AF65-F5344CB8AC3E}">
        <p14:creationId xmlns:p14="http://schemas.microsoft.com/office/powerpoint/2010/main" val="3213505344"/>
      </p:ext>
    </p:extLst>
  </p:cSld>
  <p:clrMapOvr>
    <a:overrideClrMapping bg1="dk1" tx1="lt1" bg2="dk2" tx2="lt2" accent1="accent1" accent2="accent2" accent3="accent3" accent4="accent4" accent5="accent5" accent6="accent6" hlink="hlink" folHlink="folHlink"/>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99290" y="-2302"/>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571500" indent="-571500" algn="l">
              <a:buFont typeface="Wingdings" panose="05000000000000000000" pitchFamily="2" charset="2"/>
              <a:buChar char="v"/>
            </a:pPr>
            <a:r>
              <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Data structures for a symbol table</a:t>
            </a: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buNone/>
              <a:defRPr/>
            </a:pPr>
            <a:r>
              <a:rPr lang="en-US" sz="2800" b="1" dirty="0">
                <a:solidFill>
                  <a:schemeClr val="bg2">
                    <a:lumMod val="75000"/>
                  </a:schemeClr>
                </a:solidFill>
                <a:latin typeface="Times New Roman" panose="02020603050405020304" pitchFamily="18" charset="0"/>
              </a:rPr>
              <a:t>1. List Data structure</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The name can be stored with the help of starting index and length of each name.</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Linear list is a simplest kind of mechanism to implement the symbol table.</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In this method an </a:t>
            </a:r>
            <a:r>
              <a:rPr lang="en-US" sz="2800" dirty="0">
                <a:solidFill>
                  <a:srgbClr val="FF0000"/>
                </a:solidFill>
                <a:latin typeface="Times New Roman" panose="02020603050405020304" pitchFamily="18" charset="0"/>
              </a:rPr>
              <a:t>array is used to store names and associated information.</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New names can be added in the order as they arrive.</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The list data structure using array is given below:</a:t>
            </a:r>
          </a:p>
          <a:p>
            <a:pPr lvl="0" algn="just">
              <a:buFont typeface="Wingdings" panose="05000000000000000000" pitchFamily="2" charset="2"/>
              <a:buChar char="ü"/>
              <a:defRPr/>
            </a:pPr>
            <a:endParaRPr lang="en-US" sz="400" dirty="0">
              <a:solidFill>
                <a:sysClr val="windowText" lastClr="000000"/>
              </a:solidFill>
              <a:latin typeface="Times New Roman" panose="02020603050405020304" pitchFamily="18" charset="0"/>
            </a:endParaRPr>
          </a:p>
          <a:p>
            <a:pPr marL="0" lvl="0" indent="0" algn="just">
              <a:buNone/>
              <a:defRPr/>
            </a:pPr>
            <a:endParaRPr lang="en-US" sz="400" dirty="0">
              <a:solidFill>
                <a:sysClr val="windowText" lastClr="000000"/>
              </a:solidFill>
              <a:latin typeface="Times New Roman" panose="02020603050405020304" pitchFamily="18" charset="0"/>
            </a:endParaRPr>
          </a:p>
        </p:txBody>
      </p:sp>
      <p:graphicFrame>
        <p:nvGraphicFramePr>
          <p:cNvPr id="5" name="Table 4">
            <a:extLst>
              <a:ext uri="{FF2B5EF4-FFF2-40B4-BE49-F238E27FC236}">
                <a16:creationId xmlns:a16="http://schemas.microsoft.com/office/drawing/2014/main" id="{A89C19A2-DACF-416B-9020-D0D3B4C9F07E}"/>
              </a:ext>
            </a:extLst>
          </p:cNvPr>
          <p:cNvGraphicFramePr>
            <a:graphicFrameLocks noGrp="1"/>
          </p:cNvGraphicFramePr>
          <p:nvPr>
            <p:extLst>
              <p:ext uri="{D42A27DB-BD31-4B8C-83A1-F6EECF244321}">
                <p14:modId xmlns:p14="http://schemas.microsoft.com/office/powerpoint/2010/main" val="2654945232"/>
              </p:ext>
            </p:extLst>
          </p:nvPr>
        </p:nvGraphicFramePr>
        <p:xfrm>
          <a:off x="8818418" y="4569691"/>
          <a:ext cx="2769978" cy="1854200"/>
        </p:xfrm>
        <a:graphic>
          <a:graphicData uri="http://schemas.openxmlformats.org/drawingml/2006/table">
            <a:tbl>
              <a:tblPr firstRow="1" bandRow="1">
                <a:tableStyleId>{D7AC3CCA-C797-4891-BE02-D94E43425B78}</a:tableStyleId>
              </a:tblPr>
              <a:tblGrid>
                <a:gridCol w="1151573">
                  <a:extLst>
                    <a:ext uri="{9D8B030D-6E8A-4147-A177-3AD203B41FA5}">
                      <a16:colId xmlns:a16="http://schemas.microsoft.com/office/drawing/2014/main" val="20000"/>
                    </a:ext>
                  </a:extLst>
                </a:gridCol>
                <a:gridCol w="1618405">
                  <a:extLst>
                    <a:ext uri="{9D8B030D-6E8A-4147-A177-3AD203B41FA5}">
                      <a16:colId xmlns:a16="http://schemas.microsoft.com/office/drawing/2014/main" val="20001"/>
                    </a:ext>
                  </a:extLst>
                </a:gridCol>
              </a:tblGrid>
              <a:tr h="370840">
                <a:tc>
                  <a:txBody>
                    <a:bodyPr/>
                    <a:lstStyle/>
                    <a:p>
                      <a:pPr marL="177800" marR="0" algn="ctr">
                        <a:lnSpc>
                          <a:spcPct val="115000"/>
                        </a:lnSpc>
                        <a:spcBef>
                          <a:spcPts val="0"/>
                        </a:spcBef>
                        <a:spcAft>
                          <a:spcPts val="0"/>
                        </a:spcAft>
                      </a:pPr>
                      <a:r>
                        <a:rPr lang="en-US" sz="1800" b="0" dirty="0">
                          <a:effectLst/>
                          <a:latin typeface="Times New Roman" panose="02020603050405020304" pitchFamily="18" charset="0"/>
                          <a:cs typeface="Times New Roman" panose="02020603050405020304" pitchFamily="18" charset="0"/>
                        </a:rPr>
                        <a:t>Name 1</a:t>
                      </a:r>
                      <a:endParaRPr lang="en-US"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noFill/>
                  </a:tcPr>
                </a:tc>
                <a:tc>
                  <a:txBody>
                    <a:bodyPr/>
                    <a:lstStyle/>
                    <a:p>
                      <a:pPr marL="215900" marR="0" algn="ctr">
                        <a:lnSpc>
                          <a:spcPct val="115000"/>
                        </a:lnSpc>
                        <a:spcBef>
                          <a:spcPts val="0"/>
                        </a:spcBef>
                        <a:spcAft>
                          <a:spcPts val="0"/>
                        </a:spcAft>
                      </a:pPr>
                      <a:r>
                        <a:rPr lang="en-US" sz="1800" b="0" dirty="0">
                          <a:effectLst/>
                          <a:latin typeface="Times New Roman" panose="02020603050405020304" pitchFamily="18" charset="0"/>
                          <a:cs typeface="Times New Roman" panose="02020603050405020304" pitchFamily="18" charset="0"/>
                        </a:rPr>
                        <a:t>Info 1</a:t>
                      </a:r>
                      <a:endParaRPr lang="en-US"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noFill/>
                  </a:tcPr>
                </a:tc>
                <a:extLst>
                  <a:ext uri="{0D108BD9-81ED-4DB2-BD59-A6C34878D82A}">
                    <a16:rowId xmlns:a16="http://schemas.microsoft.com/office/drawing/2014/main" val="10000"/>
                  </a:ext>
                </a:extLst>
              </a:tr>
              <a:tr h="370840">
                <a:tc>
                  <a:txBody>
                    <a:bodyPr/>
                    <a:lstStyle/>
                    <a:p>
                      <a:pPr marL="17780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Name 2</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noFill/>
                  </a:tcPr>
                </a:tc>
                <a:tc>
                  <a:txBody>
                    <a:bodyPr/>
                    <a:lstStyle/>
                    <a:p>
                      <a:pPr marL="21590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Info 2</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noFill/>
                  </a:tcPr>
                </a:tc>
                <a:extLst>
                  <a:ext uri="{0D108BD9-81ED-4DB2-BD59-A6C34878D82A}">
                    <a16:rowId xmlns:a16="http://schemas.microsoft.com/office/drawing/2014/main" val="10001"/>
                  </a:ext>
                </a:extLst>
              </a:tr>
              <a:tr h="370840">
                <a:tc>
                  <a:txBody>
                    <a:bodyPr/>
                    <a:lstStyle/>
                    <a:p>
                      <a:pPr marL="17780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Name 3</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noFill/>
                  </a:tcPr>
                </a:tc>
                <a:tc>
                  <a:txBody>
                    <a:bodyPr/>
                    <a:lstStyle/>
                    <a:p>
                      <a:pPr marL="21590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Info 3</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noFill/>
                  </a:tcPr>
                </a:tc>
                <a:extLst>
                  <a:ext uri="{0D108BD9-81ED-4DB2-BD59-A6C34878D82A}">
                    <a16:rowId xmlns:a16="http://schemas.microsoft.com/office/drawing/2014/main" val="10002"/>
                  </a:ext>
                </a:extLst>
              </a:tr>
              <a:tr h="370840">
                <a:tc>
                  <a:txBody>
                    <a:bodyPr/>
                    <a:lstStyle/>
                    <a:p>
                      <a:pPr algn="ctr"/>
                      <a:endParaRPr lang="en-US" sz="1800">
                        <a:latin typeface="Times New Roman" panose="02020603050405020304" pitchFamily="18" charset="0"/>
                        <a:cs typeface="Times New Roman" panose="02020603050405020304" pitchFamily="18" charset="0"/>
                      </a:endParaRPr>
                    </a:p>
                  </a:txBody>
                  <a:tcPr>
                    <a:noFill/>
                  </a:tcPr>
                </a:tc>
                <a:tc>
                  <a:txBody>
                    <a:bodyPr/>
                    <a:lstStyle/>
                    <a:p>
                      <a:pPr algn="ctr"/>
                      <a:endParaRPr lang="en-US" sz="1800" dirty="0">
                        <a:latin typeface="Times New Roman" panose="02020603050405020304" pitchFamily="18" charset="0"/>
                        <a:cs typeface="Times New Roman" panose="02020603050405020304" pitchFamily="18" charset="0"/>
                      </a:endParaRPr>
                    </a:p>
                  </a:txBody>
                  <a:tcPr>
                    <a:noFill/>
                  </a:tcPr>
                </a:tc>
                <a:extLst>
                  <a:ext uri="{0D108BD9-81ED-4DB2-BD59-A6C34878D82A}">
                    <a16:rowId xmlns:a16="http://schemas.microsoft.com/office/drawing/2014/main" val="10003"/>
                  </a:ext>
                </a:extLst>
              </a:tr>
              <a:tr h="370840">
                <a:tc>
                  <a:txBody>
                    <a:bodyPr/>
                    <a:lstStyle/>
                    <a:p>
                      <a:pPr marL="17780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Name n</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noFill/>
                  </a:tcPr>
                </a:tc>
                <a:tc>
                  <a:txBody>
                    <a:bodyPr/>
                    <a:lstStyle/>
                    <a:p>
                      <a:pPr marL="21590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Info n</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noFill/>
                  </a:tcPr>
                </a:tc>
                <a:extLst>
                  <a:ext uri="{0D108BD9-81ED-4DB2-BD59-A6C34878D82A}">
                    <a16:rowId xmlns:a16="http://schemas.microsoft.com/office/drawing/2014/main" val="10004"/>
                  </a:ext>
                </a:extLst>
              </a:tr>
            </a:tbl>
          </a:graphicData>
        </a:graphic>
      </p:graphicFrame>
      <p:sp>
        <p:nvSpPr>
          <p:cNvPr id="9" name="TextBox 8">
            <a:extLst>
              <a:ext uri="{FF2B5EF4-FFF2-40B4-BE49-F238E27FC236}">
                <a16:creationId xmlns:a16="http://schemas.microsoft.com/office/drawing/2014/main" id="{21DC98CB-943C-494A-9287-D665C281F6A5}"/>
              </a:ext>
            </a:extLst>
          </p:cNvPr>
          <p:cNvSpPr txBox="1"/>
          <p:nvPr/>
        </p:nvSpPr>
        <p:spPr>
          <a:xfrm>
            <a:off x="5551055" y="6488668"/>
            <a:ext cx="6243782" cy="369332"/>
          </a:xfrm>
          <a:prstGeom prst="rect">
            <a:avLst/>
          </a:prstGeom>
          <a:noFill/>
        </p:spPr>
        <p:txBody>
          <a:bodyPr wrap="square">
            <a:spAutoFit/>
          </a:bodyPr>
          <a:lstStyle/>
          <a:p>
            <a:pPr marL="3083560" algn="ctr">
              <a:spcBef>
                <a:spcPts val="10"/>
              </a:spcBef>
              <a:spcAft>
                <a:spcPts val="0"/>
              </a:spcAft>
            </a:pPr>
            <a:r>
              <a:rPr lang="en-US" sz="1800" b="1" dirty="0">
                <a:solidFill>
                  <a:schemeClr val="bg1"/>
                </a:solidFill>
                <a:effectLst/>
                <a:latin typeface="Times New Roman" panose="02020603050405020304" pitchFamily="18" charset="0"/>
                <a:ea typeface="Arimo"/>
                <a:cs typeface="Times New Roman" panose="02020603050405020304" pitchFamily="18" charset="0"/>
              </a:rPr>
              <a:t>Fig. List data structure</a:t>
            </a:r>
            <a:endParaRPr lang="en-IN" sz="2400" dirty="0">
              <a:solidFill>
                <a:schemeClr val="bg1"/>
              </a:solidFill>
              <a:effectLst/>
              <a:latin typeface="Times New Roman" panose="02020603050405020304" pitchFamily="18" charset="0"/>
              <a:ea typeface="Arimo"/>
              <a:cs typeface="Times New Roman" panose="02020603050405020304" pitchFamily="18" charset="0"/>
            </a:endParaRPr>
          </a:p>
        </p:txBody>
      </p:sp>
    </p:spTree>
    <p:custDataLst>
      <p:tags r:id="rId2"/>
    </p:custDataLst>
    <p:extLst>
      <p:ext uri="{BB962C8B-B14F-4D97-AF65-F5344CB8AC3E}">
        <p14:creationId xmlns:p14="http://schemas.microsoft.com/office/powerpoint/2010/main" val="1726174665"/>
      </p:ext>
    </p:extLst>
  </p:cSld>
  <p:clrMapOvr>
    <a:overrideClrMapping bg1="dk1" tx1="lt1" bg2="dk2" tx2="lt2" accent1="accent1" accent2="accent2" accent3="accent3" accent4="accent4" accent5="accent5" accent6="accent6" hlink="hlink" folHlink="folHlink"/>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99290" y="-2302"/>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571500" indent="-571500" algn="l">
              <a:buFont typeface="Wingdings" panose="05000000000000000000" pitchFamily="2" charset="2"/>
              <a:buChar char="v"/>
            </a:pPr>
            <a:r>
              <a:rPr lang="en-US" sz="3600" b="1">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Data structures for a symbol table</a:t>
            </a:r>
            <a:endPar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lnSpcReduction="10000"/>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buNone/>
              <a:defRPr/>
            </a:pPr>
            <a:r>
              <a:rPr lang="en-US" sz="2800" b="1" dirty="0">
                <a:solidFill>
                  <a:schemeClr val="bg2">
                    <a:lumMod val="75000"/>
                  </a:schemeClr>
                </a:solidFill>
                <a:latin typeface="Times New Roman" panose="02020603050405020304" pitchFamily="18" charset="0"/>
              </a:rPr>
              <a:t>2. Self organizing list</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To retrieve the information about some name we start from beginning of array and go on searching up to available pointer. If we reach at pointer available without finding a name we </a:t>
            </a:r>
            <a:r>
              <a:rPr lang="en-US" sz="2800" dirty="0" smtClean="0">
                <a:solidFill>
                  <a:sysClr val="windowText" lastClr="000000"/>
                </a:solidFill>
                <a:latin typeface="Times New Roman" panose="02020603050405020304" pitchFamily="18" charset="0"/>
              </a:rPr>
              <a:t>get </a:t>
            </a:r>
            <a:r>
              <a:rPr lang="en-US" sz="2800" dirty="0">
                <a:solidFill>
                  <a:sysClr val="windowText" lastClr="000000"/>
                </a:solidFill>
                <a:latin typeface="Times New Roman" panose="02020603050405020304" pitchFamily="18" charset="0"/>
              </a:rPr>
              <a:t>an error "use of undeclared name". We search the records in the order pointed by the link of link field. This symbol table implementation is using linked list. A link field is added to each record.</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The pointer “First” is maintained to point to first record of the symbol table.</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The reference to these names can be Name 3, Name 1, Name 4, and Name 2.</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When the name is referenced or created it is moved to the front of the list.</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The most frequently referred names will tend to be front of the list. Hence time to most referred names will be the least.</a:t>
            </a:r>
          </a:p>
          <a:p>
            <a:pPr lvl="0" algn="just">
              <a:buFont typeface="Wingdings" panose="05000000000000000000" pitchFamily="2" charset="2"/>
              <a:buChar char="ü"/>
              <a:defRPr/>
            </a:pPr>
            <a:endParaRPr lang="en-US" sz="2800" dirty="0">
              <a:solidFill>
                <a:sysClr val="windowText" lastClr="000000"/>
              </a:solidFill>
              <a:latin typeface="Times New Roman" panose="02020603050405020304" pitchFamily="18" charset="0"/>
            </a:endParaRPr>
          </a:p>
          <a:p>
            <a:pPr lvl="0" algn="just">
              <a:buFont typeface="Wingdings" panose="05000000000000000000" pitchFamily="2" charset="2"/>
              <a:buChar char="ü"/>
              <a:defRPr/>
            </a:pPr>
            <a:endParaRPr lang="en-US" sz="400" dirty="0">
              <a:solidFill>
                <a:sysClr val="windowText" lastClr="000000"/>
              </a:solidFill>
              <a:latin typeface="Times New Roman" panose="02020603050405020304" pitchFamily="18" charset="0"/>
            </a:endParaRPr>
          </a:p>
          <a:p>
            <a:pPr marL="0" lvl="0" indent="0" algn="just">
              <a:buNone/>
              <a:defRPr/>
            </a:pPr>
            <a:endParaRPr lang="en-US" sz="400" dirty="0">
              <a:solidFill>
                <a:sysClr val="windowText" lastClr="000000"/>
              </a:solidFill>
              <a:latin typeface="Times New Roman" panose="02020603050405020304" pitchFamily="18" charset="0"/>
            </a:endParaRPr>
          </a:p>
        </p:txBody>
      </p:sp>
    </p:spTree>
    <p:custDataLst>
      <p:tags r:id="rId2"/>
    </p:custDataLst>
    <p:extLst>
      <p:ext uri="{BB962C8B-B14F-4D97-AF65-F5344CB8AC3E}">
        <p14:creationId xmlns:p14="http://schemas.microsoft.com/office/powerpoint/2010/main" val="4240965641"/>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down)">
                                      <p:cBhvr>
                                        <p:cTn id="7" dur="500"/>
                                        <p:tgtEl>
                                          <p:spTgt spid="7">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wipe(down)">
                                      <p:cBhvr>
                                        <p:cTn id="10" dur="500"/>
                                        <p:tgtEl>
                                          <p:spTgt spid="7">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wipe(down)">
                                      <p:cBhvr>
                                        <p:cTn id="13" dur="500"/>
                                        <p:tgtEl>
                                          <p:spTgt spid="7">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wipe(down)">
                                      <p:cBhvr>
                                        <p:cTn id="16" dur="500"/>
                                        <p:tgtEl>
                                          <p:spTgt spid="7">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animEffect transition="in" filter="wipe(down)">
                                      <p:cBhvr>
                                        <p:cTn id="19" dur="500"/>
                                        <p:tgtEl>
                                          <p:spTgt spid="7">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0" nodeType="clickEffect">
                                  <p:stCondLst>
                                    <p:cond delay="0"/>
                                  </p:stCondLst>
                                  <p:childTnLst>
                                    <p:set>
                                      <p:cBhvr>
                                        <p:cTn id="23" dur="1" fill="hold">
                                          <p:stCondLst>
                                            <p:cond delay="0"/>
                                          </p:stCondLst>
                                        </p:cTn>
                                        <p:tgtEl>
                                          <p:spTgt spid="7">
                                            <p:txEl>
                                              <p:pRg st="0" end="0"/>
                                            </p:txEl>
                                          </p:spTgt>
                                        </p:tgtEl>
                                        <p:attrNameLst>
                                          <p:attrName>style.visibility</p:attrName>
                                        </p:attrNameLst>
                                      </p:cBhvr>
                                      <p:to>
                                        <p:strVal val="hidden"/>
                                      </p:to>
                                    </p:set>
                                  </p:childTnLst>
                                </p:cTn>
                              </p:par>
                              <p:par>
                                <p:cTn id="24" presetID="1" presetClass="exit" presetSubtype="0" fill="hold" grpId="0" nodeType="withEffect">
                                  <p:stCondLst>
                                    <p:cond delay="0"/>
                                  </p:stCondLst>
                                  <p:childTnLst>
                                    <p:set>
                                      <p:cBhvr>
                                        <p:cTn id="25" dur="1" fill="hold">
                                          <p:stCondLst>
                                            <p:cond delay="0"/>
                                          </p:stCondLst>
                                        </p:cTn>
                                        <p:tgtEl>
                                          <p:spTgt spid="7">
                                            <p:txEl>
                                              <p:pRg st="1" end="1"/>
                                            </p:txEl>
                                          </p:spTgt>
                                        </p:tgtEl>
                                        <p:attrNameLst>
                                          <p:attrName>style.visibility</p:attrName>
                                        </p:attrNameLst>
                                      </p:cBhvr>
                                      <p:to>
                                        <p:strVal val="hidden"/>
                                      </p:to>
                                    </p:set>
                                  </p:childTnLst>
                                </p:cTn>
                              </p:par>
                              <p:par>
                                <p:cTn id="26" presetID="1" presetClass="exit" presetSubtype="0" fill="hold" grpId="0" nodeType="withEffect">
                                  <p:stCondLst>
                                    <p:cond delay="0"/>
                                  </p:stCondLst>
                                  <p:childTnLst>
                                    <p:set>
                                      <p:cBhvr>
                                        <p:cTn id="27" dur="1" fill="hold">
                                          <p:stCondLst>
                                            <p:cond delay="0"/>
                                          </p:stCondLst>
                                        </p:cTn>
                                        <p:tgtEl>
                                          <p:spTgt spid="7">
                                            <p:txEl>
                                              <p:pRg st="2" end="2"/>
                                            </p:txEl>
                                          </p:spTgt>
                                        </p:tgtEl>
                                        <p:attrNameLst>
                                          <p:attrName>style.visibility</p:attrName>
                                        </p:attrNameLst>
                                      </p:cBhvr>
                                      <p:to>
                                        <p:strVal val="hidden"/>
                                      </p:to>
                                    </p:set>
                                  </p:childTnLst>
                                </p:cTn>
                              </p:par>
                              <p:par>
                                <p:cTn id="28" presetID="1" presetClass="exit" presetSubtype="0" fill="hold" grpId="0" nodeType="withEffect">
                                  <p:stCondLst>
                                    <p:cond delay="0"/>
                                  </p:stCondLst>
                                  <p:childTnLst>
                                    <p:set>
                                      <p:cBhvr>
                                        <p:cTn id="29" dur="1" fill="hold">
                                          <p:stCondLst>
                                            <p:cond delay="0"/>
                                          </p:stCondLst>
                                        </p:cTn>
                                        <p:tgtEl>
                                          <p:spTgt spid="7">
                                            <p:txEl>
                                              <p:pRg st="3" end="3"/>
                                            </p:txEl>
                                          </p:spTgt>
                                        </p:tgtEl>
                                        <p:attrNameLst>
                                          <p:attrName>style.visibility</p:attrName>
                                        </p:attrNameLst>
                                      </p:cBhvr>
                                      <p:to>
                                        <p:strVal val="hidden"/>
                                      </p:to>
                                    </p:set>
                                  </p:childTnLst>
                                </p:cTn>
                              </p:par>
                              <p:par>
                                <p:cTn id="30" presetID="1" presetClass="exit" presetSubtype="0" fill="hold" grpId="0" nodeType="withEffect">
                                  <p:stCondLst>
                                    <p:cond delay="0"/>
                                  </p:stCondLst>
                                  <p:childTnLst>
                                    <p:set>
                                      <p:cBhvr>
                                        <p:cTn id="31" dur="1" fill="hold">
                                          <p:stCondLst>
                                            <p:cond delay="0"/>
                                          </p:stCondLst>
                                        </p:cTn>
                                        <p:tgtEl>
                                          <p:spTgt spid="7">
                                            <p:txEl>
                                              <p:pRg st="4" end="4"/>
                                            </p:txEl>
                                          </p:spTgt>
                                        </p:tgtEl>
                                        <p:attrNameLst>
                                          <p:attrName>style.visibility</p:attrName>
                                        </p:attrNameLst>
                                      </p:cBhvr>
                                      <p:to>
                                        <p:strVal val="hidden"/>
                                      </p:to>
                                    </p:set>
                                  </p:childTnLst>
                                </p:cTn>
                              </p:par>
                              <p:par>
                                <p:cTn id="32" presetID="1" presetClass="exit" presetSubtype="0" fill="hold" grpId="0" nodeType="withEffect">
                                  <p:stCondLst>
                                    <p:cond delay="0"/>
                                  </p:stCondLst>
                                  <p:childTnLst>
                                    <p:set>
                                      <p:cBhvr>
                                        <p:cTn id="33" dur="1" fill="hold">
                                          <p:stCondLst>
                                            <p:cond delay="0"/>
                                          </p:stCondLst>
                                        </p:cTn>
                                        <p:tgtEl>
                                          <p:spTgt spid="7">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99290" y="-2302"/>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571500" indent="-571500" algn="l">
              <a:buFont typeface="Wingdings" panose="05000000000000000000" pitchFamily="2" charset="2"/>
              <a:buChar char="v"/>
            </a:pPr>
            <a:r>
              <a:rPr lang="en-US" sz="3600" b="1">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Data structures for a symbol table</a:t>
            </a:r>
            <a:endPar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buNone/>
              <a:defRPr/>
            </a:pPr>
            <a:r>
              <a:rPr lang="en-US" sz="2800" b="1" dirty="0">
                <a:solidFill>
                  <a:schemeClr val="bg2">
                    <a:lumMod val="75000"/>
                  </a:schemeClr>
                </a:solidFill>
                <a:latin typeface="Times New Roman" panose="02020603050405020304" pitchFamily="18" charset="0"/>
              </a:rPr>
              <a:t>2. Self organizing list</a:t>
            </a:r>
          </a:p>
          <a:p>
            <a:pPr lvl="0" algn="just">
              <a:buFont typeface="Wingdings" panose="05000000000000000000" pitchFamily="2" charset="2"/>
              <a:buChar char="ü"/>
              <a:defRPr/>
            </a:pPr>
            <a:endParaRPr lang="en-US" sz="2800" dirty="0">
              <a:solidFill>
                <a:sysClr val="windowText" lastClr="000000"/>
              </a:solidFill>
              <a:latin typeface="Times New Roman" panose="02020603050405020304" pitchFamily="18" charset="0"/>
            </a:endParaRPr>
          </a:p>
          <a:p>
            <a:pPr lvl="0" algn="just">
              <a:buFont typeface="Wingdings" panose="05000000000000000000" pitchFamily="2" charset="2"/>
              <a:buChar char="ü"/>
              <a:defRPr/>
            </a:pPr>
            <a:endParaRPr lang="en-US" sz="400" dirty="0">
              <a:solidFill>
                <a:sysClr val="windowText" lastClr="000000"/>
              </a:solidFill>
              <a:latin typeface="Times New Roman" panose="02020603050405020304" pitchFamily="18" charset="0"/>
            </a:endParaRPr>
          </a:p>
          <a:p>
            <a:pPr marL="0" lvl="0" indent="0" algn="just">
              <a:buNone/>
              <a:defRPr/>
            </a:pPr>
            <a:endParaRPr lang="en-US" sz="400" dirty="0">
              <a:solidFill>
                <a:sysClr val="windowText" lastClr="000000"/>
              </a:solidFill>
              <a:latin typeface="Times New Roman" panose="02020603050405020304" pitchFamily="18" charset="0"/>
            </a:endParaRPr>
          </a:p>
        </p:txBody>
      </p:sp>
      <p:sp>
        <p:nvSpPr>
          <p:cNvPr id="16" name="Rectangle 2">
            <a:extLst>
              <a:ext uri="{FF2B5EF4-FFF2-40B4-BE49-F238E27FC236}">
                <a16:creationId xmlns:a16="http://schemas.microsoft.com/office/drawing/2014/main" id="{51542FCE-D8BD-4724-9DF7-FF218587A528}"/>
              </a:ext>
            </a:extLst>
          </p:cNvPr>
          <p:cNvSpPr>
            <a:spLocks noChangeArrowheads="1"/>
          </p:cNvSpPr>
          <p:nvPr/>
        </p:nvSpPr>
        <p:spPr bwMode="auto">
          <a:xfrm>
            <a:off x="3912352" y="2545837"/>
            <a:ext cx="750336" cy="31115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defTabSz="914400"/>
            <a:r>
              <a:rPr lang="en-US" dirty="0">
                <a:solidFill>
                  <a:srgbClr val="FF0000"/>
                </a:solidFill>
                <a:latin typeface="Calibri"/>
              </a:rPr>
              <a:t>First</a:t>
            </a:r>
          </a:p>
        </p:txBody>
      </p:sp>
      <p:graphicFrame>
        <p:nvGraphicFramePr>
          <p:cNvPr id="17" name="Table 16">
            <a:extLst>
              <a:ext uri="{FF2B5EF4-FFF2-40B4-BE49-F238E27FC236}">
                <a16:creationId xmlns:a16="http://schemas.microsoft.com/office/drawing/2014/main" id="{B714479A-6517-4D61-9C4A-0FCF263ABB86}"/>
              </a:ext>
            </a:extLst>
          </p:cNvPr>
          <p:cNvGraphicFramePr>
            <a:graphicFrameLocks noGrp="1"/>
          </p:cNvGraphicFramePr>
          <p:nvPr>
            <p:extLst>
              <p:ext uri="{D42A27DB-BD31-4B8C-83A1-F6EECF244321}">
                <p14:modId xmlns:p14="http://schemas.microsoft.com/office/powerpoint/2010/main" val="1910668887"/>
              </p:ext>
            </p:extLst>
          </p:nvPr>
        </p:nvGraphicFramePr>
        <p:xfrm>
          <a:off x="5073448" y="2545837"/>
          <a:ext cx="2595331" cy="1854200"/>
        </p:xfrm>
        <a:graphic>
          <a:graphicData uri="http://schemas.openxmlformats.org/drawingml/2006/table">
            <a:tbl>
              <a:tblPr firstRow="1" bandRow="1"/>
              <a:tblGrid>
                <a:gridCol w="969962">
                  <a:extLst>
                    <a:ext uri="{9D8B030D-6E8A-4147-A177-3AD203B41FA5}">
                      <a16:colId xmlns:a16="http://schemas.microsoft.com/office/drawing/2014/main" val="20000"/>
                    </a:ext>
                  </a:extLst>
                </a:gridCol>
                <a:gridCol w="816166">
                  <a:extLst>
                    <a:ext uri="{9D8B030D-6E8A-4147-A177-3AD203B41FA5}">
                      <a16:colId xmlns:a16="http://schemas.microsoft.com/office/drawing/2014/main" val="20001"/>
                    </a:ext>
                  </a:extLst>
                </a:gridCol>
                <a:gridCol w="809203">
                  <a:extLst>
                    <a:ext uri="{9D8B030D-6E8A-4147-A177-3AD203B41FA5}">
                      <a16:colId xmlns:a16="http://schemas.microsoft.com/office/drawing/2014/main" val="20002"/>
                    </a:ext>
                  </a:extLst>
                </a:gridCol>
              </a:tblGrid>
              <a:tr h="370840">
                <a:tc>
                  <a:txBody>
                    <a:bodyPr/>
                    <a:lstStyle>
                      <a:lvl1pPr marL="0" algn="l" defTabSz="457200" rtl="0" eaLnBrk="1" latinLnBrk="0" hangingPunct="1">
                        <a:defRPr sz="1800" b="1" kern="1200">
                          <a:solidFill>
                            <a:schemeClr val="dk1"/>
                          </a:solidFill>
                          <a:latin typeface="Calibri"/>
                        </a:defRPr>
                      </a:lvl1pPr>
                      <a:lvl2pPr marL="457200" algn="l" defTabSz="457200" rtl="0" eaLnBrk="1" latinLnBrk="0" hangingPunct="1">
                        <a:defRPr sz="1800" b="1" kern="1200">
                          <a:solidFill>
                            <a:schemeClr val="dk1"/>
                          </a:solidFill>
                          <a:latin typeface="Calibri"/>
                        </a:defRPr>
                      </a:lvl2pPr>
                      <a:lvl3pPr marL="914400" algn="l" defTabSz="457200" rtl="0" eaLnBrk="1" latinLnBrk="0" hangingPunct="1">
                        <a:defRPr sz="1800" b="1" kern="1200">
                          <a:solidFill>
                            <a:schemeClr val="dk1"/>
                          </a:solidFill>
                          <a:latin typeface="Calibri"/>
                        </a:defRPr>
                      </a:lvl3pPr>
                      <a:lvl4pPr marL="1371600" algn="l" defTabSz="457200" rtl="0" eaLnBrk="1" latinLnBrk="0" hangingPunct="1">
                        <a:defRPr sz="1800" b="1" kern="1200">
                          <a:solidFill>
                            <a:schemeClr val="dk1"/>
                          </a:solidFill>
                          <a:latin typeface="Calibri"/>
                        </a:defRPr>
                      </a:lvl4pPr>
                      <a:lvl5pPr marL="1828800" algn="l" defTabSz="457200" rtl="0" eaLnBrk="1" latinLnBrk="0" hangingPunct="1">
                        <a:defRPr sz="1800" b="1" kern="1200">
                          <a:solidFill>
                            <a:schemeClr val="dk1"/>
                          </a:solidFill>
                          <a:latin typeface="Calibri"/>
                        </a:defRPr>
                      </a:lvl5pPr>
                      <a:lvl6pPr marL="2286000" algn="l" defTabSz="457200" rtl="0" eaLnBrk="1" latinLnBrk="0" hangingPunct="1">
                        <a:defRPr sz="1800" b="1" kern="1200">
                          <a:solidFill>
                            <a:schemeClr val="dk1"/>
                          </a:solidFill>
                          <a:latin typeface="Calibri"/>
                        </a:defRPr>
                      </a:lvl6pPr>
                      <a:lvl7pPr marL="2743200" algn="l" defTabSz="457200" rtl="0" eaLnBrk="1" latinLnBrk="0" hangingPunct="1">
                        <a:defRPr sz="1800" b="1" kern="1200">
                          <a:solidFill>
                            <a:schemeClr val="dk1"/>
                          </a:solidFill>
                          <a:latin typeface="Calibri"/>
                        </a:defRPr>
                      </a:lvl7pPr>
                      <a:lvl8pPr marL="3200400" algn="l" defTabSz="457200" rtl="0" eaLnBrk="1" latinLnBrk="0" hangingPunct="1">
                        <a:defRPr sz="1800" b="1" kern="1200">
                          <a:solidFill>
                            <a:schemeClr val="dk1"/>
                          </a:solidFill>
                          <a:latin typeface="Calibri"/>
                        </a:defRPr>
                      </a:lvl8pPr>
                      <a:lvl9pPr marL="3657600" algn="l" defTabSz="457200" rtl="0" eaLnBrk="1" latinLnBrk="0" hangingPunct="1">
                        <a:defRPr sz="1800" b="1" kern="1200">
                          <a:solidFill>
                            <a:schemeClr val="dk1"/>
                          </a:solidFill>
                          <a:latin typeface="Calibri"/>
                        </a:defRPr>
                      </a:lvl9pPr>
                    </a:lstStyle>
                    <a:p>
                      <a:pPr marL="177800" marR="0" algn="ctr">
                        <a:lnSpc>
                          <a:spcPct val="115000"/>
                        </a:lnSpc>
                        <a:spcBef>
                          <a:spcPts val="0"/>
                        </a:spcBef>
                        <a:spcAft>
                          <a:spcPts val="0"/>
                        </a:spcAft>
                      </a:pPr>
                      <a:r>
                        <a:rPr lang="en-US" sz="1800" b="0" dirty="0">
                          <a:effectLst/>
                        </a:rPr>
                        <a:t>Name 1</a:t>
                      </a:r>
                      <a:endParaRPr lang="en-U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b="1" kern="1200">
                          <a:solidFill>
                            <a:schemeClr val="dk1"/>
                          </a:solidFill>
                          <a:latin typeface="Calibri"/>
                        </a:defRPr>
                      </a:lvl1pPr>
                      <a:lvl2pPr marL="457200" algn="l" defTabSz="457200" rtl="0" eaLnBrk="1" latinLnBrk="0" hangingPunct="1">
                        <a:defRPr sz="1800" b="1" kern="1200">
                          <a:solidFill>
                            <a:schemeClr val="dk1"/>
                          </a:solidFill>
                          <a:latin typeface="Calibri"/>
                        </a:defRPr>
                      </a:lvl2pPr>
                      <a:lvl3pPr marL="914400" algn="l" defTabSz="457200" rtl="0" eaLnBrk="1" latinLnBrk="0" hangingPunct="1">
                        <a:defRPr sz="1800" b="1" kern="1200">
                          <a:solidFill>
                            <a:schemeClr val="dk1"/>
                          </a:solidFill>
                          <a:latin typeface="Calibri"/>
                        </a:defRPr>
                      </a:lvl3pPr>
                      <a:lvl4pPr marL="1371600" algn="l" defTabSz="457200" rtl="0" eaLnBrk="1" latinLnBrk="0" hangingPunct="1">
                        <a:defRPr sz="1800" b="1" kern="1200">
                          <a:solidFill>
                            <a:schemeClr val="dk1"/>
                          </a:solidFill>
                          <a:latin typeface="Calibri"/>
                        </a:defRPr>
                      </a:lvl4pPr>
                      <a:lvl5pPr marL="1828800" algn="l" defTabSz="457200" rtl="0" eaLnBrk="1" latinLnBrk="0" hangingPunct="1">
                        <a:defRPr sz="1800" b="1" kern="1200">
                          <a:solidFill>
                            <a:schemeClr val="dk1"/>
                          </a:solidFill>
                          <a:latin typeface="Calibri"/>
                        </a:defRPr>
                      </a:lvl5pPr>
                      <a:lvl6pPr marL="2286000" algn="l" defTabSz="457200" rtl="0" eaLnBrk="1" latinLnBrk="0" hangingPunct="1">
                        <a:defRPr sz="1800" b="1" kern="1200">
                          <a:solidFill>
                            <a:schemeClr val="dk1"/>
                          </a:solidFill>
                          <a:latin typeface="Calibri"/>
                        </a:defRPr>
                      </a:lvl6pPr>
                      <a:lvl7pPr marL="2743200" algn="l" defTabSz="457200" rtl="0" eaLnBrk="1" latinLnBrk="0" hangingPunct="1">
                        <a:defRPr sz="1800" b="1" kern="1200">
                          <a:solidFill>
                            <a:schemeClr val="dk1"/>
                          </a:solidFill>
                          <a:latin typeface="Calibri"/>
                        </a:defRPr>
                      </a:lvl7pPr>
                      <a:lvl8pPr marL="3200400" algn="l" defTabSz="457200" rtl="0" eaLnBrk="1" latinLnBrk="0" hangingPunct="1">
                        <a:defRPr sz="1800" b="1" kern="1200">
                          <a:solidFill>
                            <a:schemeClr val="dk1"/>
                          </a:solidFill>
                          <a:latin typeface="Calibri"/>
                        </a:defRPr>
                      </a:lvl8pPr>
                      <a:lvl9pPr marL="3657600" algn="l" defTabSz="457200" rtl="0" eaLnBrk="1" latinLnBrk="0" hangingPunct="1">
                        <a:defRPr sz="1800" b="1" kern="1200">
                          <a:solidFill>
                            <a:schemeClr val="dk1"/>
                          </a:solidFill>
                          <a:latin typeface="Calibri"/>
                        </a:defRPr>
                      </a:lvl9pPr>
                    </a:lstStyle>
                    <a:p>
                      <a:pPr marL="215900" marR="0" algn="ctr">
                        <a:lnSpc>
                          <a:spcPct val="115000"/>
                        </a:lnSpc>
                        <a:spcBef>
                          <a:spcPts val="0"/>
                        </a:spcBef>
                        <a:spcAft>
                          <a:spcPts val="0"/>
                        </a:spcAft>
                      </a:pPr>
                      <a:r>
                        <a:rPr lang="en-US" sz="1800" b="0" dirty="0">
                          <a:effectLst/>
                        </a:rPr>
                        <a:t>Info 1</a:t>
                      </a:r>
                      <a:endParaRPr lang="en-U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b="1" kern="1200">
                          <a:solidFill>
                            <a:schemeClr val="dk1"/>
                          </a:solidFill>
                          <a:latin typeface="Calibri"/>
                        </a:defRPr>
                      </a:lvl1pPr>
                      <a:lvl2pPr marL="457200" algn="l" defTabSz="457200" rtl="0" eaLnBrk="1" latinLnBrk="0" hangingPunct="1">
                        <a:defRPr sz="1800" b="1" kern="1200">
                          <a:solidFill>
                            <a:schemeClr val="dk1"/>
                          </a:solidFill>
                          <a:latin typeface="Calibri"/>
                        </a:defRPr>
                      </a:lvl2pPr>
                      <a:lvl3pPr marL="914400" algn="l" defTabSz="457200" rtl="0" eaLnBrk="1" latinLnBrk="0" hangingPunct="1">
                        <a:defRPr sz="1800" b="1" kern="1200">
                          <a:solidFill>
                            <a:schemeClr val="dk1"/>
                          </a:solidFill>
                          <a:latin typeface="Calibri"/>
                        </a:defRPr>
                      </a:lvl3pPr>
                      <a:lvl4pPr marL="1371600" algn="l" defTabSz="457200" rtl="0" eaLnBrk="1" latinLnBrk="0" hangingPunct="1">
                        <a:defRPr sz="1800" b="1" kern="1200">
                          <a:solidFill>
                            <a:schemeClr val="dk1"/>
                          </a:solidFill>
                          <a:latin typeface="Calibri"/>
                        </a:defRPr>
                      </a:lvl4pPr>
                      <a:lvl5pPr marL="1828800" algn="l" defTabSz="457200" rtl="0" eaLnBrk="1" latinLnBrk="0" hangingPunct="1">
                        <a:defRPr sz="1800" b="1" kern="1200">
                          <a:solidFill>
                            <a:schemeClr val="dk1"/>
                          </a:solidFill>
                          <a:latin typeface="Calibri"/>
                        </a:defRPr>
                      </a:lvl5pPr>
                      <a:lvl6pPr marL="2286000" algn="l" defTabSz="457200" rtl="0" eaLnBrk="1" latinLnBrk="0" hangingPunct="1">
                        <a:defRPr sz="1800" b="1" kern="1200">
                          <a:solidFill>
                            <a:schemeClr val="dk1"/>
                          </a:solidFill>
                          <a:latin typeface="Calibri"/>
                        </a:defRPr>
                      </a:lvl6pPr>
                      <a:lvl7pPr marL="2743200" algn="l" defTabSz="457200" rtl="0" eaLnBrk="1" latinLnBrk="0" hangingPunct="1">
                        <a:defRPr sz="1800" b="1" kern="1200">
                          <a:solidFill>
                            <a:schemeClr val="dk1"/>
                          </a:solidFill>
                          <a:latin typeface="Calibri"/>
                        </a:defRPr>
                      </a:lvl7pPr>
                      <a:lvl8pPr marL="3200400" algn="l" defTabSz="457200" rtl="0" eaLnBrk="1" latinLnBrk="0" hangingPunct="1">
                        <a:defRPr sz="1800" b="1" kern="1200">
                          <a:solidFill>
                            <a:schemeClr val="dk1"/>
                          </a:solidFill>
                          <a:latin typeface="Calibri"/>
                        </a:defRPr>
                      </a:lvl8pPr>
                      <a:lvl9pPr marL="3657600" algn="l" defTabSz="457200" rtl="0" eaLnBrk="1" latinLnBrk="0" hangingPunct="1">
                        <a:defRPr sz="1800" b="1" kern="1200">
                          <a:solidFill>
                            <a:schemeClr val="dk1"/>
                          </a:solidFill>
                          <a:latin typeface="Calibri"/>
                        </a:defRPr>
                      </a:lvl9pPr>
                    </a:lstStyle>
                    <a:p>
                      <a:pPr marL="215900" marR="0" algn="ctr">
                        <a:lnSpc>
                          <a:spcPct val="115000"/>
                        </a:lnSpc>
                        <a:spcBef>
                          <a:spcPts val="0"/>
                        </a:spcBef>
                        <a:spcAft>
                          <a:spcPts val="0"/>
                        </a:spcAft>
                      </a:pPr>
                      <a:endParaRPr lang="en-U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177800" marR="0" algn="ctr">
                        <a:lnSpc>
                          <a:spcPct val="115000"/>
                        </a:lnSpc>
                        <a:spcBef>
                          <a:spcPts val="0"/>
                        </a:spcBef>
                        <a:spcAft>
                          <a:spcPts val="0"/>
                        </a:spcAft>
                      </a:pPr>
                      <a:r>
                        <a:rPr lang="en-US" sz="1800" dirty="0">
                          <a:effectLst/>
                        </a:rPr>
                        <a:t>Name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215900" marR="0" algn="ctr">
                        <a:lnSpc>
                          <a:spcPct val="115000"/>
                        </a:lnSpc>
                        <a:spcBef>
                          <a:spcPts val="0"/>
                        </a:spcBef>
                        <a:spcAft>
                          <a:spcPts val="0"/>
                        </a:spcAft>
                      </a:pPr>
                      <a:r>
                        <a:rPr lang="en-US" sz="1800" dirty="0">
                          <a:effectLst/>
                        </a:rPr>
                        <a:t>Info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215900" marR="0" algn="ctr">
                        <a:lnSpc>
                          <a:spcPct val="115000"/>
                        </a:lnSpc>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177800" marR="0" algn="ctr">
                        <a:lnSpc>
                          <a:spcPct val="115000"/>
                        </a:lnSpc>
                        <a:spcBef>
                          <a:spcPts val="0"/>
                        </a:spcBef>
                        <a:spcAft>
                          <a:spcPts val="0"/>
                        </a:spcAft>
                      </a:pPr>
                      <a:r>
                        <a:rPr lang="en-US" sz="1800" dirty="0">
                          <a:effectLst/>
                        </a:rPr>
                        <a:t>Name 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215900" marR="0" algn="ctr">
                        <a:lnSpc>
                          <a:spcPct val="115000"/>
                        </a:lnSpc>
                        <a:spcBef>
                          <a:spcPts val="0"/>
                        </a:spcBef>
                        <a:spcAft>
                          <a:spcPts val="0"/>
                        </a:spcAft>
                      </a:pPr>
                      <a:r>
                        <a:rPr lang="en-US" sz="1800" dirty="0">
                          <a:effectLst/>
                        </a:rPr>
                        <a:t>Info 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215900" marR="0" algn="ctr">
                        <a:lnSpc>
                          <a:spcPct val="115000"/>
                        </a:lnSpc>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endParaRPr lang="en-US" sz="18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endParaRPr lang="en-US" sz="18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algn="ctr"/>
                      <a:endParaRPr lang="en-US" sz="18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177800" marR="0" algn="ctr">
                        <a:lnSpc>
                          <a:spcPct val="115000"/>
                        </a:lnSpc>
                        <a:spcBef>
                          <a:spcPts val="0"/>
                        </a:spcBef>
                        <a:spcAft>
                          <a:spcPts val="0"/>
                        </a:spcAft>
                      </a:pPr>
                      <a:r>
                        <a:rPr lang="en-US" sz="1800" dirty="0">
                          <a:effectLst/>
                        </a:rPr>
                        <a:t>Name 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215900" marR="0" algn="ctr">
                        <a:lnSpc>
                          <a:spcPct val="115000"/>
                        </a:lnSpc>
                        <a:spcBef>
                          <a:spcPts val="0"/>
                        </a:spcBef>
                        <a:spcAft>
                          <a:spcPts val="0"/>
                        </a:spcAft>
                      </a:pPr>
                      <a:r>
                        <a:rPr lang="en-US" sz="1800" dirty="0">
                          <a:effectLst/>
                        </a:rPr>
                        <a:t>Info 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457200" rtl="0" eaLnBrk="1" latinLnBrk="0" hangingPunct="1">
                        <a:defRPr sz="1800" kern="1200">
                          <a:solidFill>
                            <a:schemeClr val="dk1"/>
                          </a:solidFill>
                          <a:latin typeface="Calibri"/>
                        </a:defRPr>
                      </a:lvl1pPr>
                      <a:lvl2pPr marL="457200" algn="l" defTabSz="457200" rtl="0" eaLnBrk="1" latinLnBrk="0" hangingPunct="1">
                        <a:defRPr sz="1800" kern="1200">
                          <a:solidFill>
                            <a:schemeClr val="dk1"/>
                          </a:solidFill>
                          <a:latin typeface="Calibri"/>
                        </a:defRPr>
                      </a:lvl2pPr>
                      <a:lvl3pPr marL="914400" algn="l" defTabSz="457200" rtl="0" eaLnBrk="1" latinLnBrk="0" hangingPunct="1">
                        <a:defRPr sz="1800" kern="1200">
                          <a:solidFill>
                            <a:schemeClr val="dk1"/>
                          </a:solidFill>
                          <a:latin typeface="Calibri"/>
                        </a:defRPr>
                      </a:lvl3pPr>
                      <a:lvl4pPr marL="1371600" algn="l" defTabSz="457200" rtl="0" eaLnBrk="1" latinLnBrk="0" hangingPunct="1">
                        <a:defRPr sz="1800" kern="1200">
                          <a:solidFill>
                            <a:schemeClr val="dk1"/>
                          </a:solidFill>
                          <a:latin typeface="Calibri"/>
                        </a:defRPr>
                      </a:lvl4pPr>
                      <a:lvl5pPr marL="1828800" algn="l" defTabSz="457200" rtl="0" eaLnBrk="1" latinLnBrk="0" hangingPunct="1">
                        <a:defRPr sz="1800" kern="1200">
                          <a:solidFill>
                            <a:schemeClr val="dk1"/>
                          </a:solidFill>
                          <a:latin typeface="Calibri"/>
                        </a:defRPr>
                      </a:lvl5pPr>
                      <a:lvl6pPr marL="2286000" algn="l" defTabSz="457200" rtl="0" eaLnBrk="1" latinLnBrk="0" hangingPunct="1">
                        <a:defRPr sz="1800" kern="1200">
                          <a:solidFill>
                            <a:schemeClr val="dk1"/>
                          </a:solidFill>
                          <a:latin typeface="Calibri"/>
                        </a:defRPr>
                      </a:lvl6pPr>
                      <a:lvl7pPr marL="2743200" algn="l" defTabSz="457200" rtl="0" eaLnBrk="1" latinLnBrk="0" hangingPunct="1">
                        <a:defRPr sz="1800" kern="1200">
                          <a:solidFill>
                            <a:schemeClr val="dk1"/>
                          </a:solidFill>
                          <a:latin typeface="Calibri"/>
                        </a:defRPr>
                      </a:lvl7pPr>
                      <a:lvl8pPr marL="3200400" algn="l" defTabSz="457200" rtl="0" eaLnBrk="1" latinLnBrk="0" hangingPunct="1">
                        <a:defRPr sz="1800" kern="1200">
                          <a:solidFill>
                            <a:schemeClr val="dk1"/>
                          </a:solidFill>
                          <a:latin typeface="Calibri"/>
                        </a:defRPr>
                      </a:lvl8pPr>
                      <a:lvl9pPr marL="3657600" algn="l" defTabSz="457200" rtl="0" eaLnBrk="1" latinLnBrk="0" hangingPunct="1">
                        <a:defRPr sz="1800" kern="1200">
                          <a:solidFill>
                            <a:schemeClr val="dk1"/>
                          </a:solidFill>
                          <a:latin typeface="Calibri"/>
                        </a:defRPr>
                      </a:lvl9pPr>
                    </a:lstStyle>
                    <a:p>
                      <a:pPr marL="215900" marR="0" algn="ctr">
                        <a:lnSpc>
                          <a:spcPct val="115000"/>
                        </a:lnSpc>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350" marR="635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cxnSp>
        <p:nvCxnSpPr>
          <p:cNvPr id="18" name="Straight Arrow Connector 17">
            <a:extLst>
              <a:ext uri="{FF2B5EF4-FFF2-40B4-BE49-F238E27FC236}">
                <a16:creationId xmlns:a16="http://schemas.microsoft.com/office/drawing/2014/main" id="{6EA77C09-5C63-4562-9F66-C37600CA5DA5}"/>
              </a:ext>
            </a:extLst>
          </p:cNvPr>
          <p:cNvCxnSpPr/>
          <p:nvPr/>
        </p:nvCxnSpPr>
        <p:spPr>
          <a:xfrm>
            <a:off x="4463848" y="2701412"/>
            <a:ext cx="609600" cy="0"/>
          </a:xfrm>
          <a:prstGeom prst="straightConnector1">
            <a:avLst/>
          </a:prstGeom>
          <a:noFill/>
          <a:ln w="25400" cap="flat" cmpd="sng" algn="ctr">
            <a:solidFill>
              <a:srgbClr val="FF0000"/>
            </a:solidFill>
            <a:prstDash val="solid"/>
            <a:tailEnd type="triangle"/>
          </a:ln>
          <a:effectLst/>
        </p:spPr>
      </p:cxnSp>
      <p:cxnSp>
        <p:nvCxnSpPr>
          <p:cNvPr id="19" name="Straight Arrow Connector 18">
            <a:extLst>
              <a:ext uri="{FF2B5EF4-FFF2-40B4-BE49-F238E27FC236}">
                <a16:creationId xmlns:a16="http://schemas.microsoft.com/office/drawing/2014/main" id="{703BFD6C-D5C0-4ACA-829F-AB31935F8A54}"/>
              </a:ext>
            </a:extLst>
          </p:cNvPr>
          <p:cNvCxnSpPr/>
          <p:nvPr/>
        </p:nvCxnSpPr>
        <p:spPr>
          <a:xfrm>
            <a:off x="7668779" y="3458649"/>
            <a:ext cx="300269" cy="0"/>
          </a:xfrm>
          <a:prstGeom prst="straightConnector1">
            <a:avLst/>
          </a:prstGeom>
          <a:noFill/>
          <a:ln w="25400" cap="flat" cmpd="sng" algn="ctr">
            <a:solidFill>
              <a:srgbClr val="4F81BD">
                <a:shade val="95000"/>
                <a:satMod val="105000"/>
              </a:srgbClr>
            </a:solidFill>
            <a:prstDash val="solid"/>
            <a:headEnd type="arrow"/>
            <a:tailEnd type="none"/>
          </a:ln>
          <a:effectLst/>
        </p:spPr>
      </p:cxnSp>
      <p:cxnSp>
        <p:nvCxnSpPr>
          <p:cNvPr id="20" name="Straight Connector 19">
            <a:extLst>
              <a:ext uri="{FF2B5EF4-FFF2-40B4-BE49-F238E27FC236}">
                <a16:creationId xmlns:a16="http://schemas.microsoft.com/office/drawing/2014/main" id="{903B8805-690C-453D-BCF2-61BB14DD16C4}"/>
              </a:ext>
            </a:extLst>
          </p:cNvPr>
          <p:cNvCxnSpPr/>
          <p:nvPr/>
        </p:nvCxnSpPr>
        <p:spPr>
          <a:xfrm flipV="1">
            <a:off x="7969048" y="2701412"/>
            <a:ext cx="0" cy="771525"/>
          </a:xfrm>
          <a:prstGeom prst="line">
            <a:avLst/>
          </a:prstGeom>
          <a:noFill/>
          <a:ln w="25400" cap="flat" cmpd="sng" algn="ctr">
            <a:solidFill>
              <a:srgbClr val="4F81BD">
                <a:shade val="95000"/>
                <a:satMod val="105000"/>
              </a:srgbClr>
            </a:solidFill>
            <a:prstDash val="solid"/>
          </a:ln>
          <a:effectLst/>
        </p:spPr>
      </p:cxnSp>
      <p:cxnSp>
        <p:nvCxnSpPr>
          <p:cNvPr id="21" name="Straight Connector 20">
            <a:extLst>
              <a:ext uri="{FF2B5EF4-FFF2-40B4-BE49-F238E27FC236}">
                <a16:creationId xmlns:a16="http://schemas.microsoft.com/office/drawing/2014/main" id="{CBA76D9D-1C28-4699-A5B0-1DBA4B0EC227}"/>
              </a:ext>
            </a:extLst>
          </p:cNvPr>
          <p:cNvCxnSpPr/>
          <p:nvPr/>
        </p:nvCxnSpPr>
        <p:spPr>
          <a:xfrm flipH="1">
            <a:off x="7668779" y="2701412"/>
            <a:ext cx="300269" cy="0"/>
          </a:xfrm>
          <a:prstGeom prst="line">
            <a:avLst/>
          </a:prstGeom>
          <a:noFill/>
          <a:ln w="25400" cap="flat" cmpd="sng" algn="ctr">
            <a:solidFill>
              <a:srgbClr val="4F81BD">
                <a:shade val="95000"/>
                <a:satMod val="105000"/>
              </a:srgbClr>
            </a:solidFill>
            <a:prstDash val="solid"/>
          </a:ln>
          <a:effectLst/>
        </p:spPr>
      </p:cxnSp>
      <p:sp>
        <p:nvSpPr>
          <p:cNvPr id="22" name="TextBox 21">
            <a:extLst>
              <a:ext uri="{FF2B5EF4-FFF2-40B4-BE49-F238E27FC236}">
                <a16:creationId xmlns:a16="http://schemas.microsoft.com/office/drawing/2014/main" id="{DCEBE210-4699-4522-9CC5-BE83AA8194A9}"/>
              </a:ext>
            </a:extLst>
          </p:cNvPr>
          <p:cNvSpPr txBox="1"/>
          <p:nvPr/>
        </p:nvSpPr>
        <p:spPr>
          <a:xfrm>
            <a:off x="2047568" y="4462471"/>
            <a:ext cx="6248400" cy="369332"/>
          </a:xfrm>
          <a:prstGeom prst="rect">
            <a:avLst/>
          </a:prstGeom>
          <a:noFill/>
        </p:spPr>
        <p:txBody>
          <a:bodyPr wrap="square">
            <a:spAutoFit/>
          </a:bodyPr>
          <a:lstStyle/>
          <a:p>
            <a:pPr marL="3083560"/>
            <a:r>
              <a:rPr lang="en-US" sz="1800" b="1" dirty="0">
                <a:solidFill>
                  <a:schemeClr val="bg1"/>
                </a:solidFill>
                <a:effectLst/>
                <a:latin typeface="Times New Roman" panose="02020603050405020304" pitchFamily="18" charset="0"/>
                <a:ea typeface="Arimo"/>
                <a:cs typeface="Times New Roman" panose="02020603050405020304" pitchFamily="18" charset="0"/>
              </a:rPr>
              <a:t>Fig. Self organizing list</a:t>
            </a:r>
            <a:endParaRPr lang="en-IN" sz="2400" dirty="0">
              <a:solidFill>
                <a:schemeClr val="bg1"/>
              </a:solidFill>
              <a:effectLst/>
              <a:latin typeface="Times New Roman" panose="02020603050405020304" pitchFamily="18" charset="0"/>
              <a:ea typeface="Arimo"/>
              <a:cs typeface="Times New Roman" panose="02020603050405020304" pitchFamily="18" charset="0"/>
            </a:endParaRPr>
          </a:p>
        </p:txBody>
      </p:sp>
    </p:spTree>
    <p:custDataLst>
      <p:tags r:id="rId2"/>
    </p:custDataLst>
    <p:extLst>
      <p:ext uri="{BB962C8B-B14F-4D97-AF65-F5344CB8AC3E}">
        <p14:creationId xmlns:p14="http://schemas.microsoft.com/office/powerpoint/2010/main" val="2148136586"/>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down)">
                                      <p:cBhvr>
                                        <p:cTn id="11" dur="500"/>
                                        <p:tgtEl>
                                          <p:spTgt spid="17"/>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wipe(down)">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P spid="16" grpId="0" animBg="1"/>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99290" y="-2302"/>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571500" indent="-571500" algn="l">
              <a:buFont typeface="Wingdings" panose="05000000000000000000" pitchFamily="2" charset="2"/>
              <a:buChar char="v"/>
            </a:pPr>
            <a:r>
              <a:rPr lang="en-US" sz="3600" b="1">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Data structures for a symbol table</a:t>
            </a:r>
            <a:endPar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buNone/>
              <a:defRPr/>
            </a:pPr>
            <a:r>
              <a:rPr lang="en-US" sz="2800" b="1" dirty="0">
                <a:solidFill>
                  <a:schemeClr val="bg2">
                    <a:lumMod val="75000"/>
                  </a:schemeClr>
                </a:solidFill>
                <a:latin typeface="Times New Roman" panose="02020603050405020304" pitchFamily="18" charset="0"/>
              </a:rPr>
              <a:t>3. Binary Tree</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When the organization symbol table is by means of binary tree, the node structure will as follows:</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The left child field stores the address of previous symbol.</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Right child field stores the address of next symbol. </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The symbol field is used to store the name of the symbols.</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Information field is used to give information about the symbol.</a:t>
            </a:r>
          </a:p>
          <a:p>
            <a:pPr lvl="0" algn="just">
              <a:buFont typeface="Wingdings" panose="05000000000000000000" pitchFamily="2" charset="2"/>
              <a:buChar char="ü"/>
              <a:defRPr/>
            </a:pPr>
            <a:endParaRPr lang="en-US" sz="400" dirty="0">
              <a:solidFill>
                <a:sysClr val="windowText" lastClr="000000"/>
              </a:solidFill>
              <a:latin typeface="Times New Roman" panose="02020603050405020304" pitchFamily="18" charset="0"/>
            </a:endParaRPr>
          </a:p>
          <a:p>
            <a:pPr marL="0" lvl="0" indent="0" algn="just">
              <a:buNone/>
              <a:defRPr/>
            </a:pPr>
            <a:endParaRPr lang="en-US" sz="400" dirty="0">
              <a:solidFill>
                <a:sysClr val="windowText" lastClr="000000"/>
              </a:solidFill>
              <a:latin typeface="Times New Roman" panose="02020603050405020304" pitchFamily="18" charset="0"/>
            </a:endParaRPr>
          </a:p>
        </p:txBody>
      </p:sp>
      <p:pic>
        <p:nvPicPr>
          <p:cNvPr id="3" name="Picture 2">
            <a:extLst>
              <a:ext uri="{FF2B5EF4-FFF2-40B4-BE49-F238E27FC236}">
                <a16:creationId xmlns:a16="http://schemas.microsoft.com/office/drawing/2014/main" id="{C6ADA528-4ABC-4872-8A85-BA4A5BD52469}"/>
              </a:ext>
            </a:extLst>
          </p:cNvPr>
          <p:cNvPicPr>
            <a:picLocks noChangeAspect="1"/>
          </p:cNvPicPr>
          <p:nvPr/>
        </p:nvPicPr>
        <p:blipFill>
          <a:blip r:embed="rId4"/>
          <a:stretch>
            <a:fillRect/>
          </a:stretch>
        </p:blipFill>
        <p:spPr>
          <a:xfrm>
            <a:off x="2885010" y="5345865"/>
            <a:ext cx="6127011" cy="493819"/>
          </a:xfrm>
          <a:prstGeom prst="rect">
            <a:avLst/>
          </a:prstGeom>
        </p:spPr>
      </p:pic>
    </p:spTree>
    <p:custDataLst>
      <p:tags r:id="rId2"/>
    </p:custDataLst>
    <p:extLst>
      <p:ext uri="{BB962C8B-B14F-4D97-AF65-F5344CB8AC3E}">
        <p14:creationId xmlns:p14="http://schemas.microsoft.com/office/powerpoint/2010/main" val="1339542053"/>
      </p:ext>
    </p:extLst>
  </p:cSld>
  <p:clrMapOvr>
    <a:overrideClrMapping bg1="dk1" tx1="lt1" bg2="dk2" tx2="lt2" accent1="accent1" accent2="accent2" accent3="accent3" accent4="accent4" accent5="accent5" accent6="accent6" hlink="hlink" folHlink="folHlink"/>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99290" y="-2302"/>
            <a:ext cx="10260623" cy="89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571500" indent="-571500" algn="l">
              <a:buFont typeface="Wingdings" panose="05000000000000000000" pitchFamily="2" charset="2"/>
              <a:buChar char="v"/>
            </a:pPr>
            <a:r>
              <a:rPr lang="en-US" sz="3600" b="1">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Data structures for a symbol table</a:t>
            </a:r>
            <a:endParaRPr lang="en-US" sz="3600" b="1" dirty="0">
              <a:solidFill>
                <a:schemeClr val="accent5">
                  <a:lumMod val="75000"/>
                </a:schemeClr>
              </a:solidFill>
              <a:effectLst>
                <a:outerShdw blurRad="38100" dist="38100" dir="2700000" algn="tl">
                  <a:srgbClr val="000000">
                    <a:alpha val="43137"/>
                  </a:srgbClr>
                </a:outerShdw>
              </a:effectLst>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F49F008B-6C4E-4818-AB13-94A2D6160B57}"/>
              </a:ext>
            </a:extLst>
          </p:cNvPr>
          <p:cNvSpPr txBox="1">
            <a:spLocks/>
          </p:cNvSpPr>
          <p:nvPr/>
        </p:nvSpPr>
        <p:spPr>
          <a:xfrm>
            <a:off x="189427" y="1018316"/>
            <a:ext cx="11813146" cy="563273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buNone/>
              <a:defRPr/>
            </a:pPr>
            <a:r>
              <a:rPr lang="en-US" sz="2800" b="1" dirty="0">
                <a:solidFill>
                  <a:schemeClr val="bg2">
                    <a:lumMod val="75000"/>
                  </a:schemeClr>
                </a:solidFill>
                <a:latin typeface="Times New Roman" panose="02020603050405020304" pitchFamily="18" charset="0"/>
              </a:rPr>
              <a:t>4. Hash table</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In hashing scheme two tables are maintained-a hash table and symbol table.</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The hash table consists of k entries from 0,1 to k-1. These entries are basically pointers to symbol table pointing to the names of symbol table.</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To determine whether the 'Name' is in symbol table, we use a hash function 'h' such that h(name) will result any integer between 0 to k-1. We can search any name by position=h(name).</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Using this position we can obtain the exact locations of name in symbol table.</a:t>
            </a:r>
          </a:p>
          <a:p>
            <a:pPr lvl="0" algn="just">
              <a:buFont typeface="Wingdings" panose="05000000000000000000" pitchFamily="2" charset="2"/>
              <a:buChar char="ü"/>
              <a:defRPr/>
            </a:pPr>
            <a:r>
              <a:rPr lang="en-US" sz="2800" dirty="0">
                <a:solidFill>
                  <a:sysClr val="windowText" lastClr="000000"/>
                </a:solidFill>
                <a:latin typeface="Times New Roman" panose="02020603050405020304" pitchFamily="18" charset="0"/>
              </a:rPr>
              <a:t>Advantage of hashing is quick search is possible and the disadvantage is that hashing is complicated to implement. </a:t>
            </a:r>
          </a:p>
          <a:p>
            <a:pPr lvl="0" algn="just">
              <a:buFont typeface="Wingdings" panose="05000000000000000000" pitchFamily="2" charset="2"/>
              <a:buChar char="ü"/>
              <a:defRPr/>
            </a:pPr>
            <a:endParaRPr lang="en-US" sz="400" dirty="0">
              <a:solidFill>
                <a:sysClr val="windowText" lastClr="000000"/>
              </a:solidFill>
              <a:latin typeface="Times New Roman" panose="02020603050405020304" pitchFamily="18" charset="0"/>
            </a:endParaRPr>
          </a:p>
          <a:p>
            <a:pPr marL="0" lvl="0" indent="0" algn="just">
              <a:buNone/>
              <a:defRPr/>
            </a:pPr>
            <a:endParaRPr lang="en-US" sz="400" dirty="0">
              <a:solidFill>
                <a:sysClr val="windowText" lastClr="000000"/>
              </a:solidFill>
              <a:latin typeface="Times New Roman" panose="02020603050405020304" pitchFamily="18" charset="0"/>
            </a:endParaRPr>
          </a:p>
        </p:txBody>
      </p:sp>
    </p:spTree>
    <p:custDataLst>
      <p:tags r:id="rId2"/>
    </p:custDataLst>
    <p:extLst>
      <p:ext uri="{BB962C8B-B14F-4D97-AF65-F5344CB8AC3E}">
        <p14:creationId xmlns:p14="http://schemas.microsoft.com/office/powerpoint/2010/main" val="2746802623"/>
      </p:ext>
    </p:extLst>
  </p:cSld>
  <p:clrMapOvr>
    <a:overrideClrMapping bg1="dk1" tx1="lt1" bg2="dk2" tx2="lt2" accent1="accent1" accent2="accent2" accent3="accent3" accent4="accent4" accent5="accent5" accent6="accent6" hlink="hlink" folHlink="folHlink"/>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28600" y="228600"/>
            <a:ext cx="11813146" cy="766482"/>
          </a:xfrm>
          <a:prstGeom prst="rect">
            <a:avLst/>
          </a:prstGeom>
        </p:spPr>
        <p:txBody>
          <a:bodyPr/>
          <a:lstStyle/>
          <a:p>
            <a:pPr algn="ctr">
              <a:spcBef>
                <a:spcPct val="0"/>
              </a:spcBef>
              <a:defRPr/>
            </a:pPr>
            <a:r>
              <a:rPr lang="en-US" sz="4000" b="1"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  </a:t>
            </a:r>
            <a:endParaRPr kumimoji="0" lang="en-US" sz="4000" b="1" i="0" u="none" strike="noStrike" kern="1200" cap="all" spc="0" normalizeH="0" baseline="0" noProof="0" dirty="0">
              <a:ln w="3175" cmpd="sng">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p:nvSpPr>
        <p:spPr bwMode="auto">
          <a:xfrm>
            <a:off x="3761065" y="2746967"/>
            <a:ext cx="5835517" cy="908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5400" b="1" dirty="0">
                <a:solidFill>
                  <a:schemeClr val="accent5">
                    <a:lumMod val="75000"/>
                  </a:schemeClr>
                </a:solidFill>
                <a:uFill>
                  <a:solidFill>
                    <a:srgbClr val="000000"/>
                  </a:solidFill>
                </a:uFill>
                <a:latin typeface="Times New Roman" panose="02020603050405020304" pitchFamily="18" charset="0"/>
                <a:ea typeface="Verdana" panose="020B0604030504040204" pitchFamily="34" charset="0"/>
                <a:cs typeface="Times New Roman" panose="02020603050405020304" pitchFamily="18" charset="0"/>
              </a:rPr>
              <a:t>THANK YOU</a:t>
            </a:r>
          </a:p>
        </p:txBody>
      </p:sp>
    </p:spTree>
    <p:extLst>
      <p:ext uri="{BB962C8B-B14F-4D97-AF65-F5344CB8AC3E}">
        <p14:creationId xmlns:p14="http://schemas.microsoft.com/office/powerpoint/2010/main" val="2057084335"/>
      </p:ext>
    </p:extLst>
  </p:cSld>
  <p:clrMapOvr>
    <a:overrideClrMapping bg1="dk1" tx1="lt1" bg2="dk2" tx2="lt2" accent1="accent1" accent2="accent2" accent3="accent3" accent4="accent4" accent5="accent5" accent6="accent6" hlink="hlink" folHlink="folHlink"/>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7.2|3.6|21.7|8.4|6.8"/>
</p:tagLst>
</file>

<file path=ppt/tags/tag2.xml><?xml version="1.0" encoding="utf-8"?>
<p:tagLst xmlns:a="http://schemas.openxmlformats.org/drawingml/2006/main" xmlns:r="http://schemas.openxmlformats.org/officeDocument/2006/relationships" xmlns:p="http://schemas.openxmlformats.org/presentationml/2006/main">
  <p:tag name="TIMING" val="|63.7|4.9"/>
</p:tagLst>
</file>

<file path=ppt/tags/tag3.xml><?xml version="1.0" encoding="utf-8"?>
<p:tagLst xmlns:a="http://schemas.openxmlformats.org/drawingml/2006/main" xmlns:r="http://schemas.openxmlformats.org/officeDocument/2006/relationships" xmlns:p="http://schemas.openxmlformats.org/presentationml/2006/main">
  <p:tag name="TIMING" val="|10.9|0.2|0.1|0.1|0.1|0.7|1.2|0.4|16.5|0.5|82.4"/>
</p:tagLst>
</file>

<file path=ppt/tags/tag4.xml><?xml version="1.0" encoding="utf-8"?>
<p:tagLst xmlns:a="http://schemas.openxmlformats.org/drawingml/2006/main" xmlns:r="http://schemas.openxmlformats.org/officeDocument/2006/relationships" xmlns:p="http://schemas.openxmlformats.org/presentationml/2006/main">
  <p:tag name="TIMING" val="|1.9|0.2|0.2|0.4|0.8|0.3"/>
</p:tagLst>
</file>

<file path=ppt/tags/tag5.xml><?xml version="1.0" encoding="utf-8"?>
<p:tagLst xmlns:a="http://schemas.openxmlformats.org/drawingml/2006/main" xmlns:r="http://schemas.openxmlformats.org/officeDocument/2006/relationships" xmlns:p="http://schemas.openxmlformats.org/presentationml/2006/main">
  <p:tag name="TIMING" val="|3.7|1.7|37.6|21.3"/>
</p:tagLst>
</file>

<file path=ppt/tags/tag6.xml><?xml version="1.0" encoding="utf-8"?>
<p:tagLst xmlns:a="http://schemas.openxmlformats.org/drawingml/2006/main" xmlns:r="http://schemas.openxmlformats.org/officeDocument/2006/relationships" xmlns:p="http://schemas.openxmlformats.org/presentationml/2006/main">
  <p:tag name="TIMING" val="|4.5|0.5|6.1|1.8"/>
</p:tagLst>
</file>

<file path=ppt/tags/tag7.xml><?xml version="1.0" encoding="utf-8"?>
<p:tagLst xmlns:a="http://schemas.openxmlformats.org/drawingml/2006/main" xmlns:r="http://schemas.openxmlformats.org/officeDocument/2006/relationships" xmlns:p="http://schemas.openxmlformats.org/presentationml/2006/main">
  <p:tag name="TIMING" val="|4.5|0.5|6.1|1.8"/>
</p:tagLst>
</file>

<file path=ppt/tags/tag8.xml><?xml version="1.0" encoding="utf-8"?>
<p:tagLst xmlns:a="http://schemas.openxmlformats.org/drawingml/2006/main" xmlns:r="http://schemas.openxmlformats.org/officeDocument/2006/relationships" xmlns:p="http://schemas.openxmlformats.org/presentationml/2006/main">
  <p:tag name="TIMING" val="|4.5|0.5|6.1|1.8"/>
</p:tagLst>
</file>

<file path=ppt/tags/tag9.xml><?xml version="1.0" encoding="utf-8"?>
<p:tagLst xmlns:a="http://schemas.openxmlformats.org/drawingml/2006/main" xmlns:r="http://schemas.openxmlformats.org/officeDocument/2006/relationships" xmlns:p="http://schemas.openxmlformats.org/presentationml/2006/main">
  <p:tag name="TIMING" val="|4.5|0.5|6.1|1.8"/>
</p:tagLst>
</file>

<file path=ppt/tags/tag10.xml><?xml version="1.0" encoding="utf-8"?>
<p:tagLst xmlns:a="http://schemas.openxmlformats.org/drawingml/2006/main" xmlns:r="http://schemas.openxmlformats.org/officeDocument/2006/relationships" xmlns:p="http://schemas.openxmlformats.org/presentationml/2006/main">
  <p:tag name="TIMING" val="|4.5|0.5|6.1|1.8"/>
</p:tagLst>
</file>

<file path=ppt/tags/tag11.xml><?xml version="1.0" encoding="utf-8"?>
<p:tagLst xmlns:a="http://schemas.openxmlformats.org/drawingml/2006/main" xmlns:r="http://schemas.openxmlformats.org/officeDocument/2006/relationships" xmlns:p="http://schemas.openxmlformats.org/presentationml/2006/main">
  <p:tag name="TIMING" val="|4.5|0.5|6.1|1.8"/>
</p:tagLst>
</file>

<file path=ppt/tags/tag12.xml><?xml version="1.0" encoding="utf-8"?>
<p:tagLst xmlns:a="http://schemas.openxmlformats.org/drawingml/2006/main" xmlns:r="http://schemas.openxmlformats.org/officeDocument/2006/relationships" xmlns:p="http://schemas.openxmlformats.org/presentationml/2006/main">
  <p:tag name="TIMING" val="|0.9|39.5|0.4|21|0.4"/>
</p:tagLst>
</file>

<file path=ppt/tags/tag13.xml><?xml version="1.0" encoding="utf-8"?>
<p:tagLst xmlns:a="http://schemas.openxmlformats.org/drawingml/2006/main" xmlns:r="http://schemas.openxmlformats.org/officeDocument/2006/relationships" xmlns:p="http://schemas.openxmlformats.org/presentationml/2006/main">
  <p:tag name="TIMING" val="|0.9|39.5|0.4|21|0.4"/>
</p:tagLst>
</file>

<file path=ppt/tags/tag14.xml><?xml version="1.0" encoding="utf-8"?>
<p:tagLst xmlns:a="http://schemas.openxmlformats.org/drawingml/2006/main" xmlns:r="http://schemas.openxmlformats.org/officeDocument/2006/relationships" xmlns:p="http://schemas.openxmlformats.org/presentationml/2006/main">
  <p:tag name="TIMING" val="|4.5|0.5|6.1|1.8"/>
</p:tagLst>
</file>

<file path=ppt/tags/tag15.xml><?xml version="1.0" encoding="utf-8"?>
<p:tagLst xmlns:a="http://schemas.openxmlformats.org/drawingml/2006/main" xmlns:r="http://schemas.openxmlformats.org/officeDocument/2006/relationships" xmlns:p="http://schemas.openxmlformats.org/presentationml/2006/main">
  <p:tag name="TIMING" val="|4.5|0.5|6.1|1.8"/>
</p:tagLst>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2.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3.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4.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5.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6.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7.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8.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9.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0.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1.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2.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3.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4.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5.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6.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ppt/theme/themeOverride17.xml><?xml version="1.0" encoding="utf-8"?>
<a:themeOverride xmlns:a="http://schemas.openxmlformats.org/drawingml/2006/main">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themeOverride>
</file>

<file path=docProps/app.xml><?xml version="1.0" encoding="utf-8"?>
<Properties xmlns="http://schemas.openxmlformats.org/officeDocument/2006/extended-properties" xmlns:vt="http://schemas.openxmlformats.org/officeDocument/2006/docPropsVTypes">
  <Template/>
  <TotalTime>6539618</TotalTime>
  <Words>1224</Words>
  <Application>Microsoft Office PowerPoint</Application>
  <PresentationFormat>Widescreen</PresentationFormat>
  <Paragraphs>173</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Arimo</vt:lpstr>
      <vt:lpstr>Calibri</vt:lpstr>
      <vt:lpstr>Century Gothic</vt:lpstr>
      <vt:lpstr>Times New Roman</vt:lpstr>
      <vt:lpstr>Verdana</vt:lpstr>
      <vt:lpstr>Wingdings</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Ritz</dc:creator>
  <cp:lastModifiedBy>CHARUSAT</cp:lastModifiedBy>
  <cp:revision>379</cp:revision>
  <dcterms:created xsi:type="dcterms:W3CDTF">2014-09-12T02:12:56Z</dcterms:created>
  <dcterms:modified xsi:type="dcterms:W3CDTF">2025-03-18T07:32:00Z</dcterms:modified>
</cp:coreProperties>
</file>