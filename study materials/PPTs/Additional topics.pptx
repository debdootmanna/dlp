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99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1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9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2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3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8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88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3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92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38E54-C698-4407-9E58-21AE95B7752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EB123-7856-4DED-AE49-B9CD0BF33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Key Terminologies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>of </a:t>
            </a:r>
            <a:br>
              <a:rPr lang="en-IN" b="1" dirty="0" smtClean="0"/>
            </a:br>
            <a:r>
              <a:rPr lang="en-IN" b="1" dirty="0" smtClean="0"/>
              <a:t>Design of Language Processor</a:t>
            </a:r>
            <a:endParaRPr lang="en-IN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262910" y="4073092"/>
            <a:ext cx="9144000" cy="1655762"/>
          </a:xfrm>
        </p:spPr>
        <p:txBody>
          <a:bodyPr/>
          <a:lstStyle/>
          <a:p>
            <a:pPr algn="r"/>
            <a:r>
              <a:rPr lang="en-US" dirty="0" smtClean="0"/>
              <a:t>Prepared by: </a:t>
            </a:r>
            <a:r>
              <a:rPr lang="en-US" dirty="0" err="1" smtClean="0"/>
              <a:t>Srushti</a:t>
            </a:r>
            <a:r>
              <a:rPr lang="en-US" dirty="0" smtClean="0"/>
              <a:t> </a:t>
            </a:r>
            <a:r>
              <a:rPr lang="en-US" dirty="0" err="1" smtClean="0"/>
              <a:t>Gajjar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05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Token vs Pattern vs Lexeme</a:t>
            </a:r>
            <a:endParaRPr lang="en-IN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55716"/>
              </p:ext>
            </p:extLst>
          </p:nvPr>
        </p:nvGraphicFramePr>
        <p:xfrm>
          <a:off x="745836" y="1939737"/>
          <a:ext cx="10515600" cy="2316480"/>
        </p:xfrm>
        <a:graphic>
          <a:graphicData uri="http://schemas.openxmlformats.org/drawingml/2006/table">
            <a:tbl>
              <a:tblPr/>
              <a:tblGrid>
                <a:gridCol w="1831109">
                  <a:extLst>
                    <a:ext uri="{9D8B030D-6E8A-4147-A177-3AD203B41FA5}">
                      <a16:colId xmlns:a16="http://schemas.microsoft.com/office/drawing/2014/main" val="1726628407"/>
                    </a:ext>
                  </a:extLst>
                </a:gridCol>
                <a:gridCol w="4729019">
                  <a:extLst>
                    <a:ext uri="{9D8B030D-6E8A-4147-A177-3AD203B41FA5}">
                      <a16:colId xmlns:a16="http://schemas.microsoft.com/office/drawing/2014/main" val="4046372742"/>
                    </a:ext>
                  </a:extLst>
                </a:gridCol>
                <a:gridCol w="3955472">
                  <a:extLst>
                    <a:ext uri="{9D8B030D-6E8A-4147-A177-3AD203B41FA5}">
                      <a16:colId xmlns:a16="http://schemas.microsoft.com/office/drawing/2014/main" val="2960213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200" b="1" dirty="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637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1" dirty="0"/>
                        <a:t>Token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Category/type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id, number, 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2399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1" dirty="0"/>
                        <a:t>Pattern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Rule for forming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`letter(letter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184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1"/>
                        <a:t>Lexeme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Actual text from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count, x, total1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756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29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 1: Simple Statement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 count = 10;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44234"/>
              </p:ext>
            </p:extLst>
          </p:nvPr>
        </p:nvGraphicFramePr>
        <p:xfrm>
          <a:off x="838200" y="2904014"/>
          <a:ext cx="4768273" cy="3108960"/>
        </p:xfrm>
        <a:graphic>
          <a:graphicData uri="http://schemas.openxmlformats.org/drawingml/2006/table">
            <a:tbl>
              <a:tblPr/>
              <a:tblGrid>
                <a:gridCol w="2219036">
                  <a:extLst>
                    <a:ext uri="{9D8B030D-6E8A-4147-A177-3AD203B41FA5}">
                      <a16:colId xmlns:a16="http://schemas.microsoft.com/office/drawing/2014/main" val="1565316128"/>
                    </a:ext>
                  </a:extLst>
                </a:gridCol>
                <a:gridCol w="2549237">
                  <a:extLst>
                    <a:ext uri="{9D8B030D-6E8A-4147-A177-3AD203B41FA5}">
                      <a16:colId xmlns:a16="http://schemas.microsoft.com/office/drawing/2014/main" val="3676066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/>
                        <a:t>Lexeme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817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 err="1"/>
                        <a:t>int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6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59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assign-op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038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29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semicolon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596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27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 2: Identifier Lexeme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Pattern for identifier: [a-</a:t>
            </a: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zA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-Z_][a-zA-Z0-9_]*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Valid lexemes:</a:t>
            </a:r>
          </a:p>
          <a:p>
            <a:r>
              <a:rPr lang="en-IN" dirty="0" smtClean="0"/>
              <a:t>x</a:t>
            </a:r>
          </a:p>
          <a:p>
            <a:r>
              <a:rPr lang="en-IN" dirty="0" smtClean="0"/>
              <a:t>sum</a:t>
            </a:r>
          </a:p>
          <a:p>
            <a:r>
              <a:rPr lang="en-IN" dirty="0" smtClean="0"/>
              <a:t>total_1</a:t>
            </a:r>
          </a:p>
          <a:p>
            <a:r>
              <a:rPr lang="en-IN" dirty="0" smtClean="0"/>
              <a:t>_temp</a:t>
            </a:r>
          </a:p>
          <a:p>
            <a:pPr marL="0" indent="0">
              <a:buNone/>
            </a:pPr>
            <a:r>
              <a:rPr lang="en-IN" b="1" dirty="0" smtClean="0"/>
              <a:t>Invalid lexemes:</a:t>
            </a:r>
          </a:p>
          <a:p>
            <a:r>
              <a:rPr lang="en-IN" dirty="0" smtClean="0"/>
              <a:t>1sum   (starts with digit)</a:t>
            </a:r>
          </a:p>
          <a:p>
            <a:r>
              <a:rPr lang="en-IN" dirty="0" smtClean="0"/>
              <a:t>@</a:t>
            </a:r>
            <a:r>
              <a:rPr lang="en-IN" dirty="0" err="1" smtClean="0"/>
              <a:t>val</a:t>
            </a:r>
            <a:r>
              <a:rPr lang="en-IN" dirty="0" smtClean="0"/>
              <a:t>   (invalid symbol)</a:t>
            </a:r>
          </a:p>
        </p:txBody>
      </p:sp>
    </p:spTree>
    <p:extLst>
      <p:ext uri="{BB962C8B-B14F-4D97-AF65-F5344CB8AC3E}">
        <p14:creationId xmlns:p14="http://schemas.microsoft.com/office/powerpoint/2010/main" val="115337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 3: Same Token, Different Lexemes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853334"/>
            <a:ext cx="10515600" cy="48522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Token: id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Possible lexemes:</a:t>
            </a:r>
            <a:endParaRPr lang="en-IN" b="1" dirty="0"/>
          </a:p>
          <a:p>
            <a:r>
              <a:rPr lang="en-IN" dirty="0" smtClean="0"/>
              <a:t>a</a:t>
            </a:r>
          </a:p>
          <a:p>
            <a:r>
              <a:rPr lang="en-IN" dirty="0" smtClean="0"/>
              <a:t>result</a:t>
            </a:r>
          </a:p>
          <a:p>
            <a:r>
              <a:rPr lang="en-IN" dirty="0" smtClean="0"/>
              <a:t>score2</a:t>
            </a:r>
          </a:p>
          <a:p>
            <a:r>
              <a:rPr lang="en-IN" dirty="0" smtClean="0"/>
              <a:t>Velocity</a:t>
            </a:r>
          </a:p>
          <a:p>
            <a:pPr marL="0" indent="0">
              <a:buNone/>
            </a:pPr>
            <a:r>
              <a:rPr lang="en-US" b="1" u="sng" dirty="0" smtClean="0"/>
              <a:t>Notes:</a:t>
            </a:r>
            <a:endParaRPr lang="en-IN" b="1" u="sng" dirty="0"/>
          </a:p>
          <a:p>
            <a:r>
              <a:rPr lang="en-US" dirty="0" smtClean="0"/>
              <a:t>Token is the same (id),️ </a:t>
            </a:r>
          </a:p>
          <a:p>
            <a:r>
              <a:rPr lang="en-US" dirty="0" smtClean="0"/>
              <a:t>Lexemes are different (actual names).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81574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 4: Keyword Lexeme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853334"/>
            <a:ext cx="10515600" cy="4852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if (a &gt; b)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031349"/>
              </p:ext>
            </p:extLst>
          </p:nvPr>
        </p:nvGraphicFramePr>
        <p:xfrm>
          <a:off x="838200" y="2772858"/>
          <a:ext cx="4417291" cy="2590800"/>
        </p:xfrm>
        <a:graphic>
          <a:graphicData uri="http://schemas.openxmlformats.org/drawingml/2006/table">
            <a:tbl>
              <a:tblPr/>
              <a:tblGrid>
                <a:gridCol w="2226993">
                  <a:extLst>
                    <a:ext uri="{9D8B030D-6E8A-4147-A177-3AD203B41FA5}">
                      <a16:colId xmlns:a16="http://schemas.microsoft.com/office/drawing/2014/main" val="796100010"/>
                    </a:ext>
                  </a:extLst>
                </a:gridCol>
                <a:gridCol w="2190298">
                  <a:extLst>
                    <a:ext uri="{9D8B030D-6E8A-4147-A177-3AD203B41FA5}">
                      <a16:colId xmlns:a16="http://schemas.microsoft.com/office/drawing/2014/main" val="1466841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/>
                        <a:t>Lexeme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730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52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77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relop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93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464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19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Summary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853334"/>
            <a:ext cx="10515600" cy="4852266"/>
          </a:xfrm>
        </p:spPr>
        <p:txBody>
          <a:bodyPr>
            <a:normAutofit/>
          </a:bodyPr>
          <a:lstStyle/>
          <a:p>
            <a:r>
              <a:rPr lang="en-US" dirty="0" smtClean="0"/>
              <a:t>Token → Category</a:t>
            </a:r>
          </a:p>
          <a:p>
            <a:r>
              <a:rPr lang="en-US" dirty="0" smtClean="0"/>
              <a:t>Pattern → Rule</a:t>
            </a:r>
          </a:p>
          <a:p>
            <a:r>
              <a:rPr lang="en-US" dirty="0" smtClean="0"/>
              <a:t>Lexeme → Reality (what you type)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70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a Symbol Table?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</a:t>
            </a:r>
            <a:r>
              <a:rPr lang="en-US" b="1" dirty="0" smtClean="0"/>
              <a:t>symbol table </a:t>
            </a:r>
            <a:r>
              <a:rPr lang="en-US" dirty="0" smtClean="0"/>
              <a:t>is a </a:t>
            </a:r>
            <a:r>
              <a:rPr lang="en-US" b="1" dirty="0" smtClean="0"/>
              <a:t>data structure </a:t>
            </a:r>
            <a:r>
              <a:rPr lang="en-US" dirty="0" smtClean="0"/>
              <a:t>used by the compiler to </a:t>
            </a:r>
            <a:r>
              <a:rPr lang="en-US" b="1" dirty="0" smtClean="0"/>
              <a:t>store information about identifiers</a:t>
            </a:r>
            <a:r>
              <a:rPr lang="en-US" dirty="0" smtClean="0"/>
              <a:t> (variables, functions, constants, etc.) found in the source program.</a:t>
            </a:r>
          </a:p>
          <a:p>
            <a:pPr algn="just"/>
            <a:r>
              <a:rPr lang="en-US" dirty="0" smtClean="0"/>
              <a:t>It is </a:t>
            </a:r>
            <a:r>
              <a:rPr lang="en-US" b="1" dirty="0" smtClean="0"/>
              <a:t>created </a:t>
            </a:r>
            <a:r>
              <a:rPr lang="en-US" dirty="0" smtClean="0"/>
              <a:t>and </a:t>
            </a:r>
            <a:r>
              <a:rPr lang="en-US" b="1" dirty="0" smtClean="0"/>
              <a:t>updated </a:t>
            </a:r>
            <a:r>
              <a:rPr lang="en-US" dirty="0" smtClean="0"/>
              <a:t>mainly during </a:t>
            </a:r>
            <a:r>
              <a:rPr lang="en-US" b="1" dirty="0" smtClean="0"/>
              <a:t>lexical analysis </a:t>
            </a:r>
            <a:r>
              <a:rPr lang="en-US" dirty="0" smtClean="0"/>
              <a:t>and used by later phases (syntax, semantic analysis, code generation).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26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365125"/>
            <a:ext cx="11970327" cy="1325563"/>
          </a:xfrm>
        </p:spPr>
        <p:txBody>
          <a:bodyPr/>
          <a:lstStyle/>
          <a:p>
            <a:pPr algn="ctr"/>
            <a:r>
              <a:rPr lang="en-US" b="1" dirty="0" smtClean="0"/>
              <a:t>Why is a Symbol Table Needed in Lexical Analysis?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When the lexical analyzer finds an </a:t>
            </a:r>
            <a:r>
              <a:rPr lang="en-US" b="1" dirty="0" smtClean="0"/>
              <a:t>identifier lexeme</a:t>
            </a:r>
            <a:r>
              <a:rPr lang="en-US" dirty="0" smtClean="0"/>
              <a:t>, it must:</a:t>
            </a:r>
          </a:p>
          <a:p>
            <a:r>
              <a:rPr lang="en-US" dirty="0" smtClean="0"/>
              <a:t>Check whether it already exists in the symbol table</a:t>
            </a:r>
          </a:p>
          <a:p>
            <a:r>
              <a:rPr lang="en-US" dirty="0" smtClean="0"/>
              <a:t>If not, </a:t>
            </a:r>
            <a:r>
              <a:rPr lang="en-US" b="1" dirty="0" smtClean="0"/>
              <a:t>insert it</a:t>
            </a:r>
            <a:endParaRPr lang="en-US" dirty="0" smtClean="0"/>
          </a:p>
          <a:p>
            <a:r>
              <a:rPr lang="en-US" dirty="0" smtClean="0"/>
              <a:t>Return a </a:t>
            </a:r>
            <a:r>
              <a:rPr lang="en-US" b="1" dirty="0" smtClean="0"/>
              <a:t>pointer/reference</a:t>
            </a:r>
            <a:r>
              <a:rPr lang="en-US" dirty="0" smtClean="0"/>
              <a:t> to that symbol table entry as the token attribute.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11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883"/>
            <a:ext cx="10515600" cy="1325563"/>
          </a:xfrm>
        </p:spPr>
        <p:txBody>
          <a:bodyPr/>
          <a:lstStyle/>
          <a:p>
            <a:r>
              <a:rPr lang="en-US" b="1" dirty="0" smtClean="0"/>
              <a:t>Simple Example Program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51147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float b;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 = 10;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 = a + 5;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83186"/>
              </p:ext>
            </p:extLst>
          </p:nvPr>
        </p:nvGraphicFramePr>
        <p:xfrm>
          <a:off x="4350326" y="1670051"/>
          <a:ext cx="6890328" cy="4849091"/>
        </p:xfrm>
        <a:graphic>
          <a:graphicData uri="http://schemas.openxmlformats.org/drawingml/2006/table">
            <a:tbl>
              <a:tblPr/>
              <a:tblGrid>
                <a:gridCol w="1745672">
                  <a:extLst>
                    <a:ext uri="{9D8B030D-6E8A-4147-A177-3AD203B41FA5}">
                      <a16:colId xmlns:a16="http://schemas.microsoft.com/office/drawing/2014/main" val="2054618859"/>
                    </a:ext>
                  </a:extLst>
                </a:gridCol>
                <a:gridCol w="2142836">
                  <a:extLst>
                    <a:ext uri="{9D8B030D-6E8A-4147-A177-3AD203B41FA5}">
                      <a16:colId xmlns:a16="http://schemas.microsoft.com/office/drawing/2014/main" val="86448549"/>
                    </a:ext>
                  </a:extLst>
                </a:gridCol>
                <a:gridCol w="3001820">
                  <a:extLst>
                    <a:ext uri="{9D8B030D-6E8A-4147-A177-3AD203B41FA5}">
                      <a16:colId xmlns:a16="http://schemas.microsoft.com/office/drawing/2014/main" val="1448862837"/>
                    </a:ext>
                  </a:extLst>
                </a:gridCol>
              </a:tblGrid>
              <a:tr h="654317">
                <a:tc>
                  <a:txBody>
                    <a:bodyPr/>
                    <a:lstStyle/>
                    <a:p>
                      <a:r>
                        <a:rPr lang="en-IN" sz="2400" b="1"/>
                        <a:t>Lexeme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101276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 err="1"/>
                        <a:t>int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54719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842828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901362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022805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ptr</a:t>
                      </a:r>
                      <a:r>
                        <a:rPr lang="en-IN" sz="2400" dirty="0"/>
                        <a:t>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272318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value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804651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362644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43564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value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38658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73346" y="1307780"/>
            <a:ext cx="58838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/>
              <a:t>Tokens Generated by Lexical Analyzer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7941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883"/>
            <a:ext cx="10515600" cy="1325563"/>
          </a:xfrm>
        </p:spPr>
        <p:txBody>
          <a:bodyPr/>
          <a:lstStyle/>
          <a:p>
            <a:r>
              <a:rPr lang="en-US" b="1" dirty="0" smtClean="0"/>
              <a:t>Simple Example Program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364" y="1825625"/>
            <a:ext cx="387003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float b;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 = 10;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 = a + 5;</a:t>
            </a:r>
          </a:p>
          <a:p>
            <a:pPr marL="0" indent="0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 smtClean="0"/>
              <a:t>Identifiers a and b are stored once and reused.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035053"/>
              </p:ext>
            </p:extLst>
          </p:nvPr>
        </p:nvGraphicFramePr>
        <p:xfrm>
          <a:off x="4608944" y="1654535"/>
          <a:ext cx="6890328" cy="4849091"/>
        </p:xfrm>
        <a:graphic>
          <a:graphicData uri="http://schemas.openxmlformats.org/drawingml/2006/table">
            <a:tbl>
              <a:tblPr/>
              <a:tblGrid>
                <a:gridCol w="1745672">
                  <a:extLst>
                    <a:ext uri="{9D8B030D-6E8A-4147-A177-3AD203B41FA5}">
                      <a16:colId xmlns:a16="http://schemas.microsoft.com/office/drawing/2014/main" val="2054618859"/>
                    </a:ext>
                  </a:extLst>
                </a:gridCol>
                <a:gridCol w="2142836">
                  <a:extLst>
                    <a:ext uri="{9D8B030D-6E8A-4147-A177-3AD203B41FA5}">
                      <a16:colId xmlns:a16="http://schemas.microsoft.com/office/drawing/2014/main" val="86448549"/>
                    </a:ext>
                  </a:extLst>
                </a:gridCol>
                <a:gridCol w="3001820">
                  <a:extLst>
                    <a:ext uri="{9D8B030D-6E8A-4147-A177-3AD203B41FA5}">
                      <a16:colId xmlns:a16="http://schemas.microsoft.com/office/drawing/2014/main" val="1448862837"/>
                    </a:ext>
                  </a:extLst>
                </a:gridCol>
              </a:tblGrid>
              <a:tr h="654317">
                <a:tc>
                  <a:txBody>
                    <a:bodyPr/>
                    <a:lstStyle/>
                    <a:p>
                      <a:r>
                        <a:rPr lang="en-IN" sz="2400" b="1" dirty="0"/>
                        <a:t>Lexeme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101276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 err="1"/>
                        <a:t>int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54719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842828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keyword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901362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022805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ptr</a:t>
                      </a:r>
                      <a:r>
                        <a:rPr lang="en-IN" sz="2400" dirty="0"/>
                        <a:t>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272318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value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804651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362644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ptr → ST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43564"/>
                  </a:ext>
                </a:extLst>
              </a:tr>
              <a:tr h="466086">
                <a:tc>
                  <a:txBody>
                    <a:bodyPr/>
                    <a:lstStyle/>
                    <a:p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value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38658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92183" y="1107325"/>
            <a:ext cx="5883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Tokens Generated by Lexical Analyzer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2558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883"/>
            <a:ext cx="10515600" cy="1325563"/>
          </a:xfrm>
        </p:spPr>
        <p:txBody>
          <a:bodyPr/>
          <a:lstStyle/>
          <a:p>
            <a:r>
              <a:rPr lang="en-US" b="1" dirty="0" smtClean="0"/>
              <a:t>Simple Example Program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718128" y="1483446"/>
            <a:ext cx="10515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Symbol Table After Lexical Analysis</a:t>
            </a:r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r>
              <a:rPr lang="en-US" sz="2800" b="1" dirty="0" smtClean="0"/>
              <a:t>Attribute of id token → pointer to this table entry</a:t>
            </a:r>
            <a:endParaRPr lang="en-IN" sz="2800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147720"/>
              </p:ext>
            </p:extLst>
          </p:nvPr>
        </p:nvGraphicFramePr>
        <p:xfrm>
          <a:off x="718128" y="2168799"/>
          <a:ext cx="10515600" cy="1371600"/>
        </p:xfrm>
        <a:graphic>
          <a:graphicData uri="http://schemas.openxmlformats.org/drawingml/2006/table">
            <a:tbl>
              <a:tblPr/>
              <a:tblGrid>
                <a:gridCol w="1489363">
                  <a:extLst>
                    <a:ext uri="{9D8B030D-6E8A-4147-A177-3AD203B41FA5}">
                      <a16:colId xmlns:a16="http://schemas.microsoft.com/office/drawing/2014/main" val="2324627705"/>
                    </a:ext>
                  </a:extLst>
                </a:gridCol>
                <a:gridCol w="2041236">
                  <a:extLst>
                    <a:ext uri="{9D8B030D-6E8A-4147-A177-3AD203B41FA5}">
                      <a16:colId xmlns:a16="http://schemas.microsoft.com/office/drawing/2014/main" val="3631574329"/>
                    </a:ext>
                  </a:extLst>
                </a:gridCol>
                <a:gridCol w="2290618">
                  <a:extLst>
                    <a:ext uri="{9D8B030D-6E8A-4147-A177-3AD203B41FA5}">
                      <a16:colId xmlns:a16="http://schemas.microsoft.com/office/drawing/2014/main" val="52020218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232543014"/>
                    </a:ext>
                  </a:extLst>
                </a:gridCol>
                <a:gridCol w="2967183">
                  <a:extLst>
                    <a:ext uri="{9D8B030D-6E8A-4147-A177-3AD203B41FA5}">
                      <a16:colId xmlns:a16="http://schemas.microsoft.com/office/drawing/2014/main" val="1114376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smtClean="0"/>
                        <a:t>Name</a:t>
                      </a:r>
                      <a:endParaRPr lang="en-IN" sz="2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smtClean="0"/>
                        <a:t>Type</a:t>
                      </a:r>
                      <a:endParaRPr lang="en-IN" sz="2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smtClean="0"/>
                        <a:t>Data Type</a:t>
                      </a:r>
                      <a:endParaRPr lang="en-IN" sz="2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smtClean="0"/>
                        <a:t>Scope</a:t>
                      </a:r>
                      <a:endParaRPr lang="en-IN" sz="2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smtClean="0"/>
                        <a:t>Memory Location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68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smtClean="0"/>
                        <a:t>a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identifier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int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global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1001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30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smtClean="0"/>
                        <a:t>b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identifier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float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smtClean="0"/>
                        <a:t>global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1005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982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88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How Lexical Analyzer Uses Symbol Table (Step-by-Step)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610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Step 1: Encounter a</a:t>
            </a:r>
            <a:endParaRPr lang="en-IN" b="1" dirty="0"/>
          </a:p>
          <a:p>
            <a:pPr marL="0" indent="0">
              <a:buNone/>
            </a:pP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 a;</a:t>
            </a:r>
          </a:p>
          <a:p>
            <a:r>
              <a:rPr lang="en-US" dirty="0" smtClean="0"/>
              <a:t>a not found in the symbol table</a:t>
            </a:r>
          </a:p>
          <a:p>
            <a:r>
              <a:rPr lang="en-US" dirty="0" smtClean="0"/>
              <a:t>Insert new entry</a:t>
            </a:r>
          </a:p>
          <a:p>
            <a:r>
              <a:rPr lang="en-US" dirty="0" smtClean="0"/>
              <a:t>Return token: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&lt;id, </a:t>
            </a:r>
            <a:r>
              <a:rPr lang="en-IN" dirty="0" err="1" smtClean="0"/>
              <a:t>pointer_to_a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299200" y="1887105"/>
            <a:ext cx="5461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 smtClean="0"/>
              <a:t>Step 2: Encounter Again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 = 10;</a:t>
            </a:r>
          </a:p>
          <a:p>
            <a:r>
              <a:rPr lang="en-US" dirty="0" smtClean="0"/>
              <a:t>a already exists</a:t>
            </a:r>
          </a:p>
          <a:p>
            <a:r>
              <a:rPr lang="en-US" dirty="0" smtClean="0"/>
              <a:t>Do NOT create a new entry</a:t>
            </a:r>
          </a:p>
          <a:p>
            <a:r>
              <a:rPr lang="en-US" dirty="0" smtClean="0"/>
              <a:t>Return the  same pointer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683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Example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4693517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E = M * C * C;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 smtClean="0"/>
              <a:t>Tokens Returned : 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 smtClean="0"/>
              <a:t>&lt;id, </a:t>
            </a:r>
            <a:r>
              <a:rPr lang="en-IN" b="1" dirty="0" err="1" smtClean="0"/>
              <a:t>ptr</a:t>
            </a:r>
            <a:r>
              <a:rPr lang="en-IN" b="1" dirty="0" smtClean="0"/>
              <a:t>(E)&gt;</a:t>
            </a:r>
          </a:p>
          <a:p>
            <a:pPr marL="0" indent="0">
              <a:buNone/>
            </a:pPr>
            <a:r>
              <a:rPr lang="en-IN" b="1" dirty="0" smtClean="0"/>
              <a:t>&lt;assign-op&gt;</a:t>
            </a:r>
          </a:p>
          <a:p>
            <a:pPr marL="0" indent="0">
              <a:buNone/>
            </a:pPr>
            <a:r>
              <a:rPr lang="en-IN" b="1" dirty="0" smtClean="0"/>
              <a:t>&lt;id, </a:t>
            </a:r>
            <a:r>
              <a:rPr lang="en-IN" b="1" dirty="0" err="1" smtClean="0"/>
              <a:t>ptr</a:t>
            </a:r>
            <a:r>
              <a:rPr lang="en-IN" b="1" dirty="0" smtClean="0"/>
              <a:t>(M)&gt;</a:t>
            </a:r>
          </a:p>
          <a:p>
            <a:pPr marL="0" indent="0">
              <a:buNone/>
            </a:pPr>
            <a:r>
              <a:rPr lang="en-IN" b="1" dirty="0" smtClean="0"/>
              <a:t>&lt;</a:t>
            </a:r>
            <a:r>
              <a:rPr lang="en-IN" b="1" dirty="0" err="1" smtClean="0"/>
              <a:t>mult</a:t>
            </a:r>
            <a:r>
              <a:rPr lang="en-IN" b="1" dirty="0" smtClean="0"/>
              <a:t>-op&gt;</a:t>
            </a:r>
          </a:p>
          <a:p>
            <a:pPr marL="0" indent="0">
              <a:buNone/>
            </a:pPr>
            <a:r>
              <a:rPr lang="en-IN" b="1" dirty="0" smtClean="0"/>
              <a:t>&lt;id, </a:t>
            </a:r>
            <a:r>
              <a:rPr lang="en-IN" b="1" dirty="0" err="1" smtClean="0"/>
              <a:t>ptr</a:t>
            </a:r>
            <a:r>
              <a:rPr lang="en-IN" b="1" dirty="0" smtClean="0"/>
              <a:t>(C)&gt;</a:t>
            </a:r>
          </a:p>
          <a:p>
            <a:pPr marL="0" indent="0">
              <a:buNone/>
            </a:pPr>
            <a:r>
              <a:rPr lang="en-IN" b="1" dirty="0" smtClean="0"/>
              <a:t>&lt;</a:t>
            </a:r>
            <a:r>
              <a:rPr lang="en-IN" b="1" dirty="0" err="1" smtClean="0"/>
              <a:t>mult</a:t>
            </a:r>
            <a:r>
              <a:rPr lang="en-IN" b="1" dirty="0" smtClean="0"/>
              <a:t>-op&gt;</a:t>
            </a:r>
          </a:p>
          <a:p>
            <a:pPr marL="0" indent="0">
              <a:buNone/>
            </a:pPr>
            <a:r>
              <a:rPr lang="en-IN" b="1" dirty="0" smtClean="0"/>
              <a:t>&lt;id, </a:t>
            </a:r>
            <a:r>
              <a:rPr lang="en-IN" b="1" dirty="0" err="1" smtClean="0"/>
              <a:t>ptr</a:t>
            </a:r>
            <a:r>
              <a:rPr lang="en-IN" b="1" dirty="0" smtClean="0"/>
              <a:t>(C)&gt;</a:t>
            </a:r>
          </a:p>
          <a:p>
            <a:pPr marL="0" indent="0">
              <a:buNone/>
            </a:pPr>
            <a:endParaRPr lang="en-IN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584806"/>
              </p:ext>
            </p:extLst>
          </p:nvPr>
        </p:nvGraphicFramePr>
        <p:xfrm>
          <a:off x="4849090" y="2809009"/>
          <a:ext cx="6292274" cy="2072640"/>
        </p:xfrm>
        <a:graphic>
          <a:graphicData uri="http://schemas.openxmlformats.org/drawingml/2006/table">
            <a:tbl>
              <a:tblPr/>
              <a:tblGrid>
                <a:gridCol w="3146137">
                  <a:extLst>
                    <a:ext uri="{9D8B030D-6E8A-4147-A177-3AD203B41FA5}">
                      <a16:colId xmlns:a16="http://schemas.microsoft.com/office/drawing/2014/main" val="1956510098"/>
                    </a:ext>
                  </a:extLst>
                </a:gridCol>
                <a:gridCol w="3146137">
                  <a:extLst>
                    <a:ext uri="{9D8B030D-6E8A-4147-A177-3AD203B41FA5}">
                      <a16:colId xmlns:a16="http://schemas.microsoft.com/office/drawing/2014/main" val="3380168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24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67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372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60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273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What Information is Stored in Symbol Table?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471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dirty="0" smtClean="0"/>
              <a:t>Depending on the compiler stage:</a:t>
            </a:r>
          </a:p>
          <a:p>
            <a:pPr marL="0" indent="0">
              <a:buNone/>
            </a:pPr>
            <a:r>
              <a:rPr lang="en-IN" sz="2500" b="1" dirty="0" smtClean="0"/>
              <a:t>During Lexical Analysis</a:t>
            </a:r>
          </a:p>
          <a:p>
            <a:r>
              <a:rPr lang="en-IN" sz="2500" dirty="0" smtClean="0"/>
              <a:t>Name (lexeme)</a:t>
            </a:r>
          </a:p>
          <a:p>
            <a:r>
              <a:rPr lang="en-IN" sz="2500" dirty="0" smtClean="0"/>
              <a:t>Token type</a:t>
            </a:r>
          </a:p>
          <a:p>
            <a:r>
              <a:rPr lang="en-IN" sz="2500" dirty="0" smtClean="0"/>
              <a:t>Pointer/index</a:t>
            </a:r>
          </a:p>
          <a:p>
            <a:pPr marL="0" indent="0">
              <a:buNone/>
            </a:pPr>
            <a:r>
              <a:rPr lang="en-IN" sz="2500" b="1" dirty="0" smtClean="0"/>
              <a:t>Later Compiler Phases</a:t>
            </a:r>
          </a:p>
          <a:p>
            <a:r>
              <a:rPr lang="en-IN" sz="2500" dirty="0" smtClean="0"/>
              <a:t>Data type</a:t>
            </a:r>
          </a:p>
          <a:p>
            <a:r>
              <a:rPr lang="en-IN" sz="2500" dirty="0" smtClean="0"/>
              <a:t>Scope</a:t>
            </a:r>
          </a:p>
          <a:p>
            <a:r>
              <a:rPr lang="en-IN" sz="2500" dirty="0" smtClean="0"/>
              <a:t>Memory address</a:t>
            </a:r>
          </a:p>
          <a:p>
            <a:r>
              <a:rPr lang="en-IN" sz="2500" dirty="0" smtClean="0"/>
              <a:t>Function parameters</a:t>
            </a:r>
          </a:p>
          <a:p>
            <a:r>
              <a:rPr lang="en-IN" sz="2500" dirty="0" smtClean="0"/>
              <a:t>Return type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13280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Data Structures Used for Symbol Table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471536"/>
          </a:xfrm>
        </p:spPr>
        <p:txBody>
          <a:bodyPr>
            <a:noAutofit/>
          </a:bodyPr>
          <a:lstStyle/>
          <a:p>
            <a:r>
              <a:rPr lang="en-US" dirty="0" smtClean="0"/>
              <a:t>Hash Table </a:t>
            </a:r>
          </a:p>
          <a:p>
            <a:r>
              <a:rPr lang="en-US" dirty="0" smtClean="0"/>
              <a:t>Linked List</a:t>
            </a:r>
          </a:p>
          <a:p>
            <a:r>
              <a:rPr lang="en-US" dirty="0" smtClean="0"/>
              <a:t>Tree (BST)</a:t>
            </a:r>
          </a:p>
          <a:p>
            <a:r>
              <a:rPr lang="en-US" dirty="0" smtClean="0"/>
              <a:t>Array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10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Why Hash Table is Used for Symbol Table?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139027"/>
          </a:xfrm>
        </p:spPr>
        <p:txBody>
          <a:bodyPr>
            <a:noAutofit/>
          </a:bodyPr>
          <a:lstStyle/>
          <a:p>
            <a:r>
              <a:rPr lang="en-IN" dirty="0" smtClean="0"/>
              <a:t>Fast lookup (O(1) average)</a:t>
            </a:r>
          </a:p>
          <a:p>
            <a:r>
              <a:rPr lang="en-IN" dirty="0" smtClean="0"/>
              <a:t>Efficient insertion</a:t>
            </a:r>
          </a:p>
          <a:p>
            <a:r>
              <a:rPr lang="en-IN" dirty="0" smtClean="0"/>
              <a:t>Avoids duplicate identifiers</a:t>
            </a:r>
            <a:endParaRPr lang="en-IN" dirty="0"/>
          </a:p>
          <a:p>
            <a:r>
              <a:rPr lang="en-IN" dirty="0" smtClean="0"/>
              <a:t>Best for large programs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93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Why Hash Table is Used for Symbol Table?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71" y="2468387"/>
            <a:ext cx="1969657" cy="3064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float b;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sum;</a:t>
            </a:r>
            <a:endParaRPr lang="en-IN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999" y="1563362"/>
            <a:ext cx="86175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Step 1: Hash Function</a:t>
            </a:r>
          </a:p>
          <a:p>
            <a:r>
              <a:rPr lang="en-US" sz="2400" dirty="0" smtClean="0"/>
              <a:t>hash(name) = (sum of ASCII values of characters) %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7999" y="2639399"/>
            <a:ext cx="861752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Step 2: Compute Hash Values</a:t>
            </a:r>
          </a:p>
          <a:p>
            <a:r>
              <a:rPr lang="en-US" sz="2000" b="1" dirty="0" smtClean="0"/>
              <a:t>Identifier: a</a:t>
            </a:r>
          </a:p>
          <a:p>
            <a:r>
              <a:rPr lang="en-US" sz="2000" dirty="0" smtClean="0"/>
              <a:t>ASCII(a) = 97</a:t>
            </a:r>
          </a:p>
          <a:p>
            <a:r>
              <a:rPr lang="en-US" sz="2000" dirty="0" smtClean="0"/>
              <a:t>97 % 10 = 7</a:t>
            </a:r>
          </a:p>
          <a:p>
            <a:r>
              <a:rPr lang="en-US" sz="2000" b="1" dirty="0" smtClean="0"/>
              <a:t>Identifier: b</a:t>
            </a:r>
          </a:p>
          <a:p>
            <a:r>
              <a:rPr lang="en-US" sz="2000" dirty="0" smtClean="0"/>
              <a:t>ASCII(a) = 98</a:t>
            </a:r>
          </a:p>
          <a:p>
            <a:r>
              <a:rPr lang="en-US" sz="2000" dirty="0" smtClean="0"/>
              <a:t>97 % 10 = 8</a:t>
            </a:r>
          </a:p>
          <a:p>
            <a:r>
              <a:rPr lang="en-US" sz="2000" b="1" dirty="0" smtClean="0"/>
              <a:t>Identifier: sum</a:t>
            </a:r>
          </a:p>
          <a:p>
            <a:r>
              <a:rPr lang="pt-BR" sz="2000" dirty="0" smtClean="0"/>
              <a:t>ASCII(s) = 115</a:t>
            </a:r>
          </a:p>
          <a:p>
            <a:r>
              <a:rPr lang="pt-BR" sz="2000" dirty="0" smtClean="0"/>
              <a:t>ASCII(u) = 117</a:t>
            </a:r>
          </a:p>
          <a:p>
            <a:r>
              <a:rPr lang="pt-BR" sz="2000" dirty="0" smtClean="0"/>
              <a:t>ASCII(m) = 109</a:t>
            </a:r>
          </a:p>
          <a:p>
            <a:r>
              <a:rPr lang="pt-BR" sz="2000" dirty="0" smtClean="0"/>
              <a:t>Total = 341</a:t>
            </a:r>
          </a:p>
          <a:p>
            <a:r>
              <a:rPr lang="pt-BR" sz="2000" dirty="0" smtClean="0"/>
              <a:t>341 % 10 = 1</a:t>
            </a:r>
          </a:p>
        </p:txBody>
      </p:sp>
    </p:spTree>
    <p:extLst>
      <p:ext uri="{BB962C8B-B14F-4D97-AF65-F5344CB8AC3E}">
        <p14:creationId xmlns:p14="http://schemas.microsoft.com/office/powerpoint/2010/main" val="181519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Why Hash Table is Used for Symbol Table?</a:t>
            </a:r>
            <a:endParaRPr lang="en-IN" sz="40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960894"/>
              </p:ext>
            </p:extLst>
          </p:nvPr>
        </p:nvGraphicFramePr>
        <p:xfrm>
          <a:off x="1715654" y="1278414"/>
          <a:ext cx="9210964" cy="5364480"/>
        </p:xfrm>
        <a:graphic>
          <a:graphicData uri="http://schemas.openxmlformats.org/drawingml/2006/table">
            <a:tbl>
              <a:tblPr/>
              <a:tblGrid>
                <a:gridCol w="2121717">
                  <a:extLst>
                    <a:ext uri="{9D8B030D-6E8A-4147-A177-3AD203B41FA5}">
                      <a16:colId xmlns:a16="http://schemas.microsoft.com/office/drawing/2014/main" val="4055639618"/>
                    </a:ext>
                  </a:extLst>
                </a:gridCol>
                <a:gridCol w="7089247">
                  <a:extLst>
                    <a:ext uri="{9D8B030D-6E8A-4147-A177-3AD203B41FA5}">
                      <a16:colId xmlns:a16="http://schemas.microsoft.com/office/drawing/2014/main" val="108221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 b="1"/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b="1" dirty="0"/>
                        <a:t>Symbol Table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277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9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sum → (type=int, scope=global)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968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1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49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93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 → (type=int, scope=global)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3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b → (type=float, scope=global)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78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63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859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Token Returned by Lexical Analyzer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139027"/>
          </a:xfrm>
        </p:spPr>
        <p:txBody>
          <a:bodyPr>
            <a:noAutofit/>
          </a:bodyPr>
          <a:lstStyle/>
          <a:p>
            <a:r>
              <a:rPr lang="en-IN" dirty="0" smtClean="0"/>
              <a:t>When the </a:t>
            </a:r>
            <a:r>
              <a:rPr lang="en-IN" dirty="0" err="1" smtClean="0"/>
              <a:t>lexer</a:t>
            </a:r>
            <a:r>
              <a:rPr lang="en-IN" dirty="0" smtClean="0"/>
              <a:t> sees a:</a:t>
            </a:r>
          </a:p>
          <a:p>
            <a:pPr marL="0" indent="0">
              <a:buNone/>
            </a:pPr>
            <a:r>
              <a:rPr lang="en-IN" dirty="0" smtClean="0"/>
              <a:t>&lt;id, pointer_to_index_7&gt;</a:t>
            </a:r>
          </a:p>
          <a:p>
            <a:r>
              <a:rPr lang="en-IN" dirty="0" smtClean="0"/>
              <a:t>When the </a:t>
            </a:r>
            <a:r>
              <a:rPr lang="en-IN" dirty="0" err="1" smtClean="0"/>
              <a:t>lexer</a:t>
            </a:r>
            <a:r>
              <a:rPr lang="en-IN" dirty="0" smtClean="0"/>
              <a:t> sees sum:</a:t>
            </a:r>
          </a:p>
          <a:p>
            <a:pPr marL="0" indent="0">
              <a:buNone/>
            </a:pPr>
            <a:r>
              <a:rPr lang="en-IN" dirty="0" smtClean="0"/>
              <a:t>&lt;id, pointer_to_index_1&gt;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Pointer = hash table index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33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Handling Collision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139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 ab;</a:t>
            </a:r>
          </a:p>
          <a:p>
            <a:pPr marL="0" indent="0">
              <a:buNone/>
            </a:pP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b="1" dirty="0" err="1" smtClean="0">
                <a:solidFill>
                  <a:schemeClr val="accent2">
                    <a:lumMod val="75000"/>
                  </a:schemeClr>
                </a:solidFill>
              </a:rPr>
              <a:t>ba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;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 smtClean="0"/>
              <a:t>hash(ab) = 195 % 10 = 5</a:t>
            </a:r>
          </a:p>
          <a:p>
            <a:pPr marL="0" indent="0">
              <a:buNone/>
            </a:pPr>
            <a:r>
              <a:rPr lang="en-IN" dirty="0" smtClean="0"/>
              <a:t>hash(</a:t>
            </a:r>
            <a:r>
              <a:rPr lang="en-IN" dirty="0" err="1" smtClean="0"/>
              <a:t>ba</a:t>
            </a:r>
            <a:r>
              <a:rPr lang="en-IN" dirty="0" smtClean="0"/>
              <a:t>) = 195 % 10 = 5</a:t>
            </a:r>
          </a:p>
          <a:p>
            <a:pPr marL="0" indent="0">
              <a:buNone/>
            </a:pPr>
            <a:r>
              <a:rPr lang="en-US" b="1" dirty="0" smtClean="0"/>
              <a:t>Collision Resolution: Chaining</a:t>
            </a:r>
          </a:p>
          <a:p>
            <a:r>
              <a:rPr lang="en-US" dirty="0" smtClean="0"/>
              <a:t>Each index holds a </a:t>
            </a:r>
            <a:r>
              <a:rPr lang="en-US" b="1" dirty="0" smtClean="0"/>
              <a:t>linked list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95056"/>
              </p:ext>
            </p:extLst>
          </p:nvPr>
        </p:nvGraphicFramePr>
        <p:xfrm>
          <a:off x="1106056" y="4734661"/>
          <a:ext cx="4491180" cy="1036320"/>
        </p:xfrm>
        <a:graphic>
          <a:graphicData uri="http://schemas.openxmlformats.org/drawingml/2006/table">
            <a:tbl>
              <a:tblPr/>
              <a:tblGrid>
                <a:gridCol w="1895762">
                  <a:extLst>
                    <a:ext uri="{9D8B030D-6E8A-4147-A177-3AD203B41FA5}">
                      <a16:colId xmlns:a16="http://schemas.microsoft.com/office/drawing/2014/main" val="3618568797"/>
                    </a:ext>
                  </a:extLst>
                </a:gridCol>
                <a:gridCol w="2595418">
                  <a:extLst>
                    <a:ext uri="{9D8B030D-6E8A-4147-A177-3AD203B41FA5}">
                      <a16:colId xmlns:a16="http://schemas.microsoft.com/office/drawing/2014/main" val="326409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 dirty="0"/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22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ab → </a:t>
                      </a:r>
                      <a:r>
                        <a:rPr lang="en-IN" sz="2800" dirty="0" err="1"/>
                        <a:t>ba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23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195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Interaction of Lexical Analyzer from Syntax Analyzer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7" y="1483446"/>
            <a:ext cx="10504055" cy="5139027"/>
          </a:xfrm>
        </p:spPr>
        <p:txBody>
          <a:bodyPr>
            <a:noAutofit/>
          </a:bodyPr>
          <a:lstStyle/>
          <a:p>
            <a:r>
              <a:rPr lang="en-IN" dirty="0" smtClean="0"/>
              <a:t>Source Code </a:t>
            </a:r>
            <a:r>
              <a:rPr lang="en-IN" b="1" dirty="0" err="1" smtClean="0"/>
              <a:t>int</a:t>
            </a:r>
            <a:r>
              <a:rPr lang="en-IN" b="1" dirty="0" smtClean="0"/>
              <a:t> a = 10;</a:t>
            </a:r>
          </a:p>
          <a:p>
            <a:pPr marL="0" indent="0">
              <a:buNone/>
            </a:pPr>
            <a:r>
              <a:rPr lang="en-IN" dirty="0" smtClean="0"/>
              <a:t>Step 1: Parser calls -&gt; </a:t>
            </a:r>
            <a:r>
              <a:rPr lang="en-IN" dirty="0" err="1" smtClean="0"/>
              <a:t>getNextToken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Step 2: </a:t>
            </a:r>
            <a:r>
              <a:rPr lang="en-IN" dirty="0" err="1" smtClean="0"/>
              <a:t>Lexer</a:t>
            </a:r>
            <a:r>
              <a:rPr lang="en-IN" dirty="0" smtClean="0"/>
              <a:t> returns -&gt; &lt;</a:t>
            </a:r>
            <a:r>
              <a:rPr lang="en-IN" dirty="0" err="1" smtClean="0"/>
              <a:t>int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Step 3: </a:t>
            </a:r>
            <a:r>
              <a:rPr lang="en-US" dirty="0" err="1" smtClean="0"/>
              <a:t>Lexer</a:t>
            </a:r>
            <a:r>
              <a:rPr lang="en-US" dirty="0" smtClean="0"/>
              <a:t> inserts a into the symbol table -&gt; &lt;id, </a:t>
            </a:r>
            <a:r>
              <a:rPr lang="en-US" dirty="0" err="1" smtClean="0"/>
              <a:t>ptr</a:t>
            </a:r>
            <a:r>
              <a:rPr lang="en-US" dirty="0" smtClean="0"/>
              <a:t>(a)&gt;</a:t>
            </a:r>
          </a:p>
          <a:p>
            <a:pPr marL="0" indent="0">
              <a:buNone/>
            </a:pPr>
            <a:r>
              <a:rPr lang="en-IN" dirty="0" smtClean="0"/>
              <a:t>Step 4: Parser checks grammar -&gt; datatype id = number ;</a:t>
            </a:r>
          </a:p>
          <a:p>
            <a:pPr marL="0" indent="0">
              <a:buNone/>
            </a:pPr>
            <a:r>
              <a:rPr lang="en-US" dirty="0" smtClean="0"/>
              <a:t>Step 5: Passes structure to semantic analyzer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35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/>
              <a:t>What is a Lexical Error?</a:t>
            </a:r>
          </a:p>
          <a:p>
            <a:pPr marL="0" indent="0" algn="just">
              <a:buNone/>
            </a:pPr>
            <a:r>
              <a:rPr lang="en-US" dirty="0" smtClean="0"/>
              <a:t>	A lexical error occurs during lexical analysis when the lexical analyzer (scanner) is unable to convert the input characters into valid tokens.</a:t>
            </a:r>
          </a:p>
          <a:p>
            <a:pPr marL="0" indent="0" algn="just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If a sequence of characters does not match any valid token pattern, it is a lexical 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0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n-IN" b="1" u="sng" dirty="0" smtClean="0"/>
              <a:t>Invalid Character Error</a:t>
            </a:r>
            <a:r>
              <a:rPr lang="en-US" b="1" u="sng" dirty="0" smtClean="0"/>
              <a:t>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Occurs when a character is </a:t>
            </a:r>
            <a:r>
              <a:rPr lang="en-US" b="1" dirty="0" smtClean="0"/>
              <a:t>not part of the language alphabet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 = 10;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 @ c;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pPr algn="just"/>
            <a:r>
              <a:rPr lang="en-US" dirty="0" smtClean="0"/>
              <a:t>@ is not a valid operator in C.</a:t>
            </a:r>
          </a:p>
          <a:p>
            <a:pPr algn="just"/>
            <a:r>
              <a:rPr lang="en-US" dirty="0" smtClean="0"/>
              <a:t> Lexical Error: Invalid character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0454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2. Invalid Identifier Name</a:t>
            </a:r>
            <a:endParaRPr lang="en-US" b="1" u="sng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Occurs when an identifier </a:t>
            </a:r>
            <a:r>
              <a:rPr lang="en-US" b="1" dirty="0" smtClean="0"/>
              <a:t>violates naming rules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1sum;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r>
              <a:rPr lang="en-US" dirty="0" smtClean="0"/>
              <a:t>Identifier cannot start with a digit.</a:t>
            </a:r>
          </a:p>
          <a:p>
            <a:r>
              <a:rPr lang="en-US" dirty="0" smtClean="0"/>
              <a:t>Lexical Error: </a:t>
            </a:r>
            <a:r>
              <a:rPr lang="en-US" b="1" dirty="0" smtClean="0"/>
              <a:t>Invalid identifier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3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3. Unterminated String Literal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Occurs when a string constant is </a:t>
            </a:r>
            <a:r>
              <a:rPr lang="en-US" b="1" dirty="0" smtClean="0"/>
              <a:t>not closed properly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printf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("Hello World);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r>
              <a:rPr lang="en-US" dirty="0" smtClean="0"/>
              <a:t>Missing closing “</a:t>
            </a:r>
          </a:p>
          <a:p>
            <a:r>
              <a:rPr lang="en-US" dirty="0" smtClean="0"/>
              <a:t>Lexical Error: Unterminated 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5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4. Malformed Number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Occurs when number format is incorrect.</a:t>
            </a:r>
          </a:p>
          <a:p>
            <a:pPr marL="0" indent="0" algn="just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float x = 12.3.4;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r>
              <a:rPr lang="en-IN" dirty="0" smtClean="0"/>
              <a:t>Multiple decimal points</a:t>
            </a:r>
          </a:p>
          <a:p>
            <a:r>
              <a:rPr lang="en-IN" dirty="0" smtClean="0"/>
              <a:t>Lexical Error: </a:t>
            </a:r>
            <a:r>
              <a:rPr lang="en-IN" b="1" dirty="0" smtClean="0"/>
              <a:t>Invalid numeric constant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9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5. Invalid Operator Combination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Occurs when symbols form an invalid operator.</a:t>
            </a:r>
          </a:p>
          <a:p>
            <a:pPr marL="0" indent="0" algn="just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if (a === b)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r>
              <a:rPr lang="en-US" dirty="0" smtClean="0"/>
              <a:t>=== is not a valid operator in C</a:t>
            </a:r>
          </a:p>
          <a:p>
            <a:r>
              <a:rPr lang="en-US" dirty="0" smtClean="0"/>
              <a:t>Lexical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58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Types of Lexical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51390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6. Comment Not Properly Closed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Occurs when comment syntax is incomplete.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/* this is a comment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 = 5;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Note: </a:t>
            </a:r>
          </a:p>
          <a:p>
            <a:r>
              <a:rPr lang="en-US" dirty="0" smtClean="0"/>
              <a:t>Missing */</a:t>
            </a:r>
          </a:p>
          <a:p>
            <a:r>
              <a:rPr lang="en-US" dirty="0" smtClean="0"/>
              <a:t>Lexical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41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 Recovery Techniques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n-IN" b="1" u="sng" dirty="0" smtClean="0"/>
              <a:t>Panic Mode Recovery</a:t>
            </a:r>
          </a:p>
          <a:p>
            <a:pPr marL="0" indent="0" algn="just">
              <a:buNone/>
            </a:pPr>
            <a:r>
              <a:rPr lang="en-US" dirty="0" smtClean="0"/>
              <a:t>Delete characters until valid token is found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 @ c;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After deleting @, recovered tokens:</a:t>
            </a:r>
            <a:endParaRPr lang="en-US" dirty="0"/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id,b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&gt; &lt;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id,c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&gt; &lt;;&gt;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79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 Recovery Techniques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2. Delete One Character</a:t>
            </a:r>
          </a:p>
          <a:p>
            <a:pPr marL="0" indent="0" algn="just">
              <a:buNone/>
            </a:pPr>
            <a:r>
              <a:rPr lang="en-IN" dirty="0" smtClean="0"/>
              <a:t>Removes one invalid character.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inta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= 5;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IN" dirty="0" smtClean="0"/>
              <a:t>Recovered as: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a = 5;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85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 Recovery Techniques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/>
              <a:t>3</a:t>
            </a:r>
            <a:r>
              <a:rPr lang="en-IN" b="1" u="sng" dirty="0" smtClean="0"/>
              <a:t>. Insert Missing Character</a:t>
            </a:r>
          </a:p>
          <a:p>
            <a:pPr marL="0" indent="0" algn="just">
              <a:buNone/>
            </a:pPr>
            <a:r>
              <a:rPr lang="en-IN" dirty="0" smtClean="0"/>
              <a:t>Adds a missing character.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if (x &gt; 10 {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IN" dirty="0" smtClean="0"/>
              <a:t>Recovered as: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if (x &gt; 10) {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45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 Recovery Techniques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4. Replace a Character</a:t>
            </a:r>
          </a:p>
          <a:p>
            <a:pPr marL="0" indent="0" algn="just">
              <a:buNone/>
            </a:pPr>
            <a:r>
              <a:rPr lang="en-US" dirty="0" smtClean="0"/>
              <a:t>Replaces invalid characters with correct ones.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flot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x = 5.0;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IN" dirty="0" smtClean="0"/>
              <a:t>Recovered as: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float x = 5.0;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77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Lexical Error Recovery Techniques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u="sng" dirty="0" smtClean="0"/>
              <a:t>5. Transpose Two Characters</a:t>
            </a:r>
          </a:p>
          <a:p>
            <a:pPr marL="0" indent="0" algn="just">
              <a:buNone/>
            </a:pPr>
            <a:r>
              <a:rPr lang="en-IN" dirty="0" smtClean="0"/>
              <a:t>Swaps adjacent characters.</a:t>
            </a:r>
          </a:p>
          <a:p>
            <a:pPr marL="0" indent="0" algn="just">
              <a:buNone/>
            </a:pP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pritn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("Hello");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IN" dirty="0" smtClean="0"/>
              <a:t>Recovered as: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print("Hello");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2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How Lexical Analyzer Reports Errors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Reports line number</a:t>
            </a:r>
          </a:p>
          <a:p>
            <a:pPr algn="just"/>
            <a:r>
              <a:rPr lang="en-US" dirty="0" smtClean="0"/>
              <a:t>Reports invalid lexeme</a:t>
            </a:r>
          </a:p>
          <a:p>
            <a:pPr algn="just"/>
            <a:r>
              <a:rPr lang="en-US" dirty="0" smtClean="0"/>
              <a:t>Continue scanning if possible</a:t>
            </a:r>
            <a:endParaRPr lang="en-US" dirty="0"/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Lexical Error at line 3: Invalid character '@'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7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Why Lexical Errors Are Important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18" y="1483446"/>
            <a:ext cx="10042238" cy="4788045"/>
          </a:xfrm>
        </p:spPr>
        <p:txBody>
          <a:bodyPr>
            <a:noAutofit/>
          </a:bodyPr>
          <a:lstStyle/>
          <a:p>
            <a:r>
              <a:rPr lang="en-IN" dirty="0" smtClean="0"/>
              <a:t>Prevents garbage input to the parser</a:t>
            </a:r>
            <a:endParaRPr lang="en-IN" dirty="0"/>
          </a:p>
          <a:p>
            <a:r>
              <a:rPr lang="en-IN" dirty="0" smtClean="0"/>
              <a:t>Improves error localization</a:t>
            </a:r>
            <a:endParaRPr lang="en-IN" dirty="0"/>
          </a:p>
          <a:p>
            <a:r>
              <a:rPr lang="en-IN" dirty="0" smtClean="0"/>
              <a:t>Enables graceful compilation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05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5788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Prefix – Why Needed?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455" y="1385455"/>
            <a:ext cx="11526981" cy="570807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smtClean="0"/>
              <a:t>	A </a:t>
            </a:r>
            <a:r>
              <a:rPr lang="en-US" b="1" dirty="0" smtClean="0"/>
              <a:t>prefix</a:t>
            </a:r>
            <a:r>
              <a:rPr lang="en-US" dirty="0" smtClean="0"/>
              <a:t> is a string obtained by removing zero or more characters from the </a:t>
            </a:r>
            <a:r>
              <a:rPr lang="en-US" b="1" dirty="0" smtClean="0"/>
              <a:t>end</a:t>
            </a:r>
            <a:r>
              <a:rPr lang="en-US" dirty="0" smtClean="0"/>
              <a:t> of a string.</a:t>
            </a:r>
          </a:p>
          <a:p>
            <a:pPr marL="0" indent="0" algn="just">
              <a:buNone/>
            </a:pPr>
            <a:r>
              <a:rPr lang="en-US" b="1" u="sng" dirty="0" smtClean="0"/>
              <a:t>Why Prefix Is Important in Lexical Analysis</a:t>
            </a:r>
          </a:p>
          <a:p>
            <a:pPr marL="0" indent="0" algn="just">
              <a:buNone/>
            </a:pPr>
            <a:r>
              <a:rPr lang="en-US" b="1" dirty="0" smtClean="0"/>
              <a:t>Longest Match Rule</a:t>
            </a:r>
          </a:p>
          <a:p>
            <a:pPr algn="just"/>
            <a:r>
              <a:rPr lang="en-US" dirty="0" smtClean="0"/>
              <a:t>The lexical analyzer follows the </a:t>
            </a:r>
            <a:r>
              <a:rPr lang="en-US" b="1" dirty="0" smtClean="0"/>
              <a:t>longest valid prefix</a:t>
            </a:r>
            <a:r>
              <a:rPr lang="en-US" dirty="0" smtClean="0"/>
              <a:t> rule.</a:t>
            </a:r>
          </a:p>
          <a:p>
            <a:pPr marL="0" indent="0" algn="just">
              <a:buNone/>
            </a:pPr>
            <a:r>
              <a:rPr lang="en-US" dirty="0" smtClean="0"/>
              <a:t>Example: </a:t>
            </a:r>
            <a:r>
              <a:rPr lang="en-US" b="1" dirty="0" smtClean="0"/>
              <a:t>&gt;=</a:t>
            </a:r>
          </a:p>
          <a:p>
            <a:pPr marL="0" indent="0" algn="just">
              <a:buNone/>
            </a:pPr>
            <a:r>
              <a:rPr lang="en-IN" dirty="0" smtClean="0"/>
              <a:t>&gt;</a:t>
            </a:r>
          </a:p>
          <a:p>
            <a:pPr marL="0" indent="0" algn="just">
              <a:buNone/>
            </a:pPr>
            <a:r>
              <a:rPr lang="en-IN" dirty="0" smtClean="0"/>
              <a:t>&gt;=</a:t>
            </a:r>
          </a:p>
          <a:p>
            <a:pPr algn="just"/>
            <a:r>
              <a:rPr lang="en-US" dirty="0" smtClean="0"/>
              <a:t>is a valid prefix</a:t>
            </a:r>
          </a:p>
          <a:p>
            <a:pPr algn="just"/>
            <a:r>
              <a:rPr lang="en-US" dirty="0" smtClean="0"/>
              <a:t>&gt;= is a longer valid prefix</a:t>
            </a:r>
          </a:p>
          <a:p>
            <a:pPr marL="0" indent="0" algn="just">
              <a:buNone/>
            </a:pPr>
            <a:r>
              <a:rPr lang="en-IN" b="1" dirty="0" err="1" smtClean="0"/>
              <a:t>Lexer</a:t>
            </a:r>
            <a:r>
              <a:rPr lang="en-IN" b="1" dirty="0" smtClean="0"/>
              <a:t> chooses &gt;= (longest prefix)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858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9236"/>
            <a:ext cx="12191999" cy="92277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Suffix – Why Needed?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820664"/>
            <a:ext cx="11526981" cy="59389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 smtClean="0"/>
              <a:t>	A </a:t>
            </a:r>
            <a:r>
              <a:rPr lang="en-US" sz="2200" b="1" dirty="0" smtClean="0"/>
              <a:t>suffix</a:t>
            </a:r>
            <a:r>
              <a:rPr lang="en-US" sz="2200" dirty="0" smtClean="0"/>
              <a:t> is a string obtained by removing zero or more characters from the </a:t>
            </a:r>
            <a:r>
              <a:rPr lang="en-US" sz="2200" b="1" dirty="0" smtClean="0"/>
              <a:t>beginning</a:t>
            </a:r>
            <a:r>
              <a:rPr lang="en-US" sz="2200" dirty="0" smtClean="0"/>
              <a:t> of a string.</a:t>
            </a:r>
          </a:p>
          <a:p>
            <a:pPr marL="0" indent="0">
              <a:buNone/>
            </a:pPr>
            <a:r>
              <a:rPr lang="en-US" sz="2200" b="1" u="sng" dirty="0" smtClean="0"/>
              <a:t>Why Suffix Is Important in Lexical Analysis</a:t>
            </a:r>
          </a:p>
          <a:p>
            <a:pPr marL="0" indent="0">
              <a:buNone/>
            </a:pPr>
            <a:r>
              <a:rPr lang="en-US" sz="2200" dirty="0" smtClean="0"/>
              <a:t>Suffixes are mainly useful for:</a:t>
            </a:r>
          </a:p>
          <a:p>
            <a:r>
              <a:rPr lang="en-US" sz="2200" b="1" dirty="0" smtClean="0"/>
              <a:t>Error recovery</a:t>
            </a:r>
            <a:endParaRPr lang="en-US" sz="2200" dirty="0" smtClean="0"/>
          </a:p>
          <a:p>
            <a:r>
              <a:rPr lang="en-US" sz="2200" b="1" dirty="0" smtClean="0"/>
              <a:t>Token retraction</a:t>
            </a:r>
            <a:endParaRPr lang="en-US" sz="2200" dirty="0" smtClean="0"/>
          </a:p>
          <a:p>
            <a:r>
              <a:rPr lang="en-US" sz="2200" b="1" dirty="0" smtClean="0"/>
              <a:t>Context handling</a:t>
            </a:r>
            <a:endParaRPr lang="en-US" sz="2200" dirty="0" smtClean="0"/>
          </a:p>
          <a:p>
            <a:pPr marL="0" indent="0" algn="just">
              <a:buNone/>
            </a:pPr>
            <a:r>
              <a:rPr lang="en-US" sz="2200" dirty="0" smtClean="0"/>
              <a:t>Example: x &lt; y</a:t>
            </a:r>
          </a:p>
          <a:p>
            <a:pPr marL="0" indent="0" algn="just">
              <a:buNone/>
            </a:pPr>
            <a:r>
              <a:rPr lang="en-IN" sz="2200" dirty="0" smtClean="0"/>
              <a:t>&lt;</a:t>
            </a:r>
          </a:p>
          <a:p>
            <a:pPr marL="0" indent="0" algn="just">
              <a:buNone/>
            </a:pPr>
            <a:r>
              <a:rPr lang="en-IN" sz="2200" dirty="0" smtClean="0"/>
              <a:t>&lt;␣</a:t>
            </a:r>
          </a:p>
          <a:p>
            <a:pPr algn="just"/>
            <a:r>
              <a:rPr lang="en-US" sz="2200" dirty="0" smtClean="0"/>
              <a:t>&lt;␣ is not a valid operator</a:t>
            </a:r>
          </a:p>
          <a:p>
            <a:pPr algn="just"/>
            <a:r>
              <a:rPr lang="en-US" sz="2200" dirty="0" err="1" smtClean="0"/>
              <a:t>Lexer</a:t>
            </a:r>
            <a:r>
              <a:rPr lang="en-US" sz="2200" dirty="0" smtClean="0"/>
              <a:t> removes suffix (space)</a:t>
            </a:r>
          </a:p>
          <a:p>
            <a:pPr algn="just"/>
            <a:r>
              <a:rPr lang="en-US" sz="2200" dirty="0" smtClean="0"/>
              <a:t>Accepts &lt; as token</a:t>
            </a:r>
          </a:p>
          <a:p>
            <a:pPr marL="0" indent="0" algn="just">
              <a:buNone/>
            </a:pPr>
            <a:r>
              <a:rPr lang="en-US" sz="2200" b="1" dirty="0" smtClean="0"/>
              <a:t>This process uses suffix logic.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97508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1343</Words>
  <Application>Microsoft Office PowerPoint</Application>
  <PresentationFormat>Widescreen</PresentationFormat>
  <Paragraphs>426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Key Terminologies of  Design of Language Processor</vt:lpstr>
      <vt:lpstr>Token vs Pattern vs Lexeme</vt:lpstr>
      <vt:lpstr>Example 1: Simple Statement</vt:lpstr>
      <vt:lpstr>Example 2: Identifier Lexeme</vt:lpstr>
      <vt:lpstr>Example 3: Same Token, Different Lexemes</vt:lpstr>
      <vt:lpstr>Example 4: Keyword Lexeme</vt:lpstr>
      <vt:lpstr>Summary</vt:lpstr>
      <vt:lpstr>What is a Symbol Table?</vt:lpstr>
      <vt:lpstr>Why is a Symbol Table Needed in Lexical Analysis?</vt:lpstr>
      <vt:lpstr>Simple Example Program</vt:lpstr>
      <vt:lpstr>Simple Example Program</vt:lpstr>
      <vt:lpstr>Simple Example Program</vt:lpstr>
      <vt:lpstr>How Lexical Analyzer Uses Symbol Table (Step-by-Step)</vt:lpstr>
      <vt:lpstr>Example</vt:lpstr>
      <vt:lpstr>What Information is Stored in Symbol Table?</vt:lpstr>
      <vt:lpstr>Data Structures Used for Symbol Table</vt:lpstr>
      <vt:lpstr>Why Hash Table is Used for Symbol Table?</vt:lpstr>
      <vt:lpstr>Why Hash Table is Used for Symbol Table?</vt:lpstr>
      <vt:lpstr>Why Hash Table is Used for Symbol Table?</vt:lpstr>
      <vt:lpstr>Token Returned by Lexical Analyzer</vt:lpstr>
      <vt:lpstr>Handling Collision</vt:lpstr>
      <vt:lpstr>Interaction of Lexical Analyzer from Syntax Analyzer</vt:lpstr>
      <vt:lpstr>Lexical Error</vt:lpstr>
      <vt:lpstr>Types of Lexical Errors</vt:lpstr>
      <vt:lpstr>Types of Lexical Errors</vt:lpstr>
      <vt:lpstr>Types of Lexical Errors</vt:lpstr>
      <vt:lpstr>Types of Lexical Errors</vt:lpstr>
      <vt:lpstr>Types of Lexical Errors</vt:lpstr>
      <vt:lpstr>Types of Lexical Errors</vt:lpstr>
      <vt:lpstr>Lexical Error Recovery Techniques</vt:lpstr>
      <vt:lpstr>Lexical Error Recovery Techniques</vt:lpstr>
      <vt:lpstr>Lexical Error Recovery Techniques</vt:lpstr>
      <vt:lpstr>Lexical Error Recovery Techniques</vt:lpstr>
      <vt:lpstr>Lexical Error Recovery Techniques</vt:lpstr>
      <vt:lpstr>How Lexical Analyzer Reports Errors</vt:lpstr>
      <vt:lpstr>Why Lexical Errors Are Important</vt:lpstr>
      <vt:lpstr>Prefix – Why Needed?</vt:lpstr>
      <vt:lpstr>Suffix – Why Needed?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315</cp:revision>
  <dcterms:created xsi:type="dcterms:W3CDTF">2025-12-23T09:19:07Z</dcterms:created>
  <dcterms:modified xsi:type="dcterms:W3CDTF">2026-01-22T09:25:17Z</dcterms:modified>
</cp:coreProperties>
</file>