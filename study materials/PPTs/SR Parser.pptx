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57" r:id="rId3"/>
    <p:sldId id="32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99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1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9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2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3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8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88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3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92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38E54-C698-4407-9E58-21AE95B7752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Shift-Reduce Parsing</a:t>
            </a:r>
            <a:endParaRPr lang="en-IN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262910" y="4073092"/>
            <a:ext cx="9144000" cy="1655762"/>
          </a:xfrm>
        </p:spPr>
        <p:txBody>
          <a:bodyPr/>
          <a:lstStyle/>
          <a:p>
            <a:pPr algn="r"/>
            <a:r>
              <a:rPr lang="en-US" dirty="0" smtClean="0"/>
              <a:t>Prepared by: </a:t>
            </a:r>
            <a:r>
              <a:rPr lang="en-US" dirty="0" err="1" smtClean="0"/>
              <a:t>Srushti</a:t>
            </a:r>
            <a:r>
              <a:rPr lang="en-US" dirty="0" smtClean="0"/>
              <a:t> </a:t>
            </a:r>
            <a:r>
              <a:rPr lang="en-US" dirty="0" err="1" smtClean="0"/>
              <a:t>Gajjar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05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Shift-Reduce Parsing?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bottom-up parsing technique</a:t>
            </a:r>
            <a:r>
              <a:rPr lang="en-US" dirty="0"/>
              <a:t> used in syntax analysis.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Builds the parse tree by working </a:t>
            </a:r>
            <a:r>
              <a:rPr lang="en-US" b="1" dirty="0"/>
              <a:t>from input tokens up to start symbol</a:t>
            </a:r>
            <a:r>
              <a:rPr lang="en-US" dirty="0"/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Commonly used for efficient parsing in compilers. </a:t>
            </a:r>
          </a:p>
        </p:txBody>
      </p:sp>
    </p:spTree>
    <p:extLst>
      <p:ext uri="{BB962C8B-B14F-4D97-AF65-F5344CB8AC3E}">
        <p14:creationId xmlns:p14="http://schemas.microsoft.com/office/powerpoint/2010/main" val="220929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IN" b="1" dirty="0"/>
              <a:t>Bottom-up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052944"/>
            <a:ext cx="11554691" cy="556029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600" dirty="0" smtClean="0"/>
              <a:t>	Bottom-up </a:t>
            </a:r>
            <a:r>
              <a:rPr lang="en-US" sz="2600" dirty="0"/>
              <a:t>parsing is a type of syntax analysis method where the parser starts from the input symbols (tokens) and attempts to reduce them to the start symbol of the grammar (usually denoted as S). </a:t>
            </a:r>
            <a:endParaRPr lang="en-US" sz="2600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600" dirty="0"/>
              <a:t>	</a:t>
            </a:r>
            <a:r>
              <a:rPr lang="en-US" sz="2600" dirty="0" smtClean="0"/>
              <a:t>The </a:t>
            </a:r>
            <a:r>
              <a:rPr lang="en-US" sz="2600" dirty="0"/>
              <a:t>process involves applying production rules in reverse, starting from the leaves of the parse tree and working upward toward the root</a:t>
            </a:r>
            <a:r>
              <a:rPr lang="en-US" sz="2600" dirty="0" smtClean="0"/>
              <a:t>.</a:t>
            </a:r>
            <a:endParaRPr lang="en-US" sz="2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600" dirty="0"/>
              <a:t>We need bottom-up parsers because</a:t>
            </a:r>
            <a:r>
              <a:rPr lang="en-US" sz="2600" dirty="0" smtClean="0"/>
              <a:t>:</a:t>
            </a:r>
            <a:endParaRPr lang="en-US" sz="2600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dirty="0"/>
              <a:t>Ensures a clear and efficient construction of the parse tree.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dirty="0"/>
              <a:t>It is effective for detecting syntactic errors early in the process.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dirty="0"/>
              <a:t>Well-suited for handling complex grammars, including context-free grammars.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dirty="0"/>
              <a:t>Often uses less memory and can be more efficient for certain types of languages.</a:t>
            </a:r>
          </a:p>
        </p:txBody>
      </p:sp>
    </p:spTree>
    <p:extLst>
      <p:ext uri="{BB962C8B-B14F-4D97-AF65-F5344CB8AC3E}">
        <p14:creationId xmlns:p14="http://schemas.microsoft.com/office/powerpoint/2010/main" val="316429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Components of Shift-Reduce Parser: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Input Buffer</a:t>
            </a:r>
            <a:r>
              <a:rPr lang="en-US" dirty="0"/>
              <a:t> – holds tokens to be parsed.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Stack</a:t>
            </a:r>
            <a:r>
              <a:rPr lang="en-US" dirty="0"/>
              <a:t> – keeps symbols being processed.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Parsing Table</a:t>
            </a:r>
            <a:r>
              <a:rPr lang="en-US" dirty="0"/>
              <a:t> – guides action decisions (shift/reduce).</a:t>
            </a:r>
          </a:p>
        </p:txBody>
      </p:sp>
    </p:spTree>
    <p:extLst>
      <p:ext uri="{BB962C8B-B14F-4D97-AF65-F5344CB8AC3E}">
        <p14:creationId xmlns:p14="http://schemas.microsoft.com/office/powerpoint/2010/main" val="223722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It </a:t>
            </a:r>
            <a:r>
              <a:rPr lang="en-IN" b="1" dirty="0" smtClean="0"/>
              <a:t>Works?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 with entire input unprocessed and </a:t>
            </a:r>
            <a:r>
              <a:rPr lang="en-US" dirty="0" smtClean="0"/>
              <a:t>the stack </a:t>
            </a:r>
            <a:r>
              <a:rPr lang="en-US" dirty="0"/>
              <a:t>empty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At </a:t>
            </a:r>
            <a:r>
              <a:rPr lang="en-US" dirty="0"/>
              <a:t>each step, the parser chooses one action</a:t>
            </a:r>
            <a:r>
              <a:rPr lang="en-US" dirty="0" smtClean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Shift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Reduce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Accept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44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 Parser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Shift</a:t>
            </a:r>
            <a:r>
              <a:rPr lang="en-IN" dirty="0"/>
              <a:t> – Move next input symbol onto stack.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Reduce</a:t>
            </a:r>
            <a:r>
              <a:rPr lang="en-IN" dirty="0" smtClean="0"/>
              <a:t> </a:t>
            </a:r>
            <a:r>
              <a:rPr lang="en-IN" dirty="0"/>
              <a:t>– Replace a sequence on stack with a </a:t>
            </a:r>
            <a:r>
              <a:rPr lang="en-IN" dirty="0" smtClean="0"/>
              <a:t>non-terminal.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Accept</a:t>
            </a:r>
            <a:r>
              <a:rPr lang="en-IN" dirty="0" smtClean="0"/>
              <a:t> </a:t>
            </a:r>
            <a:r>
              <a:rPr lang="en-IN" dirty="0"/>
              <a:t>– Parsing successful when start symbol remains.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Error</a:t>
            </a:r>
            <a:r>
              <a:rPr lang="en-IN" dirty="0" smtClean="0"/>
              <a:t> </a:t>
            </a:r>
            <a:r>
              <a:rPr lang="en-IN" dirty="0"/>
              <a:t>– Unrecognized sequence leads to syntax 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05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Shift Reduce Parser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Shift-Reduce Parser is a bottom-up parsing </a:t>
            </a:r>
            <a:r>
              <a:rPr lang="en-US" dirty="0" smtClean="0"/>
              <a:t>technique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Used </a:t>
            </a:r>
            <a:r>
              <a:rPr lang="en-US" dirty="0"/>
              <a:t>in syntax analysis of a </a:t>
            </a:r>
            <a:r>
              <a:rPr lang="en-US" dirty="0" smtClean="0"/>
              <a:t>compiler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Builds </a:t>
            </a:r>
            <a:r>
              <a:rPr lang="en-US" dirty="0"/>
              <a:t>parse tree from leaves to </a:t>
            </a:r>
            <a:r>
              <a:rPr lang="en-US" dirty="0" smtClean="0"/>
              <a:t>root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Uses </a:t>
            </a:r>
            <a:r>
              <a:rPr lang="en-US" dirty="0"/>
              <a:t>stack + input buffer + DFA</a:t>
            </a:r>
          </a:p>
        </p:txBody>
      </p:sp>
    </p:spTree>
    <p:extLst>
      <p:ext uri="{BB962C8B-B14F-4D97-AF65-F5344CB8AC3E}">
        <p14:creationId xmlns:p14="http://schemas.microsoft.com/office/powerpoint/2010/main" val="420072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DFA in Shift Reduce Parsing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Shift-reduce parsers use a Deterministic Finite Automaton (DFA</a:t>
            </a:r>
            <a:r>
              <a:rPr lang="en-US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DFA </a:t>
            </a:r>
            <a:r>
              <a:rPr lang="en-US" dirty="0"/>
              <a:t>helps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Track </a:t>
            </a:r>
            <a:r>
              <a:rPr lang="en-US" dirty="0"/>
              <a:t>symbols present on the </a:t>
            </a:r>
            <a:r>
              <a:rPr lang="en-US" dirty="0" smtClean="0"/>
              <a:t>stack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Decide </a:t>
            </a:r>
            <a:r>
              <a:rPr lang="en-US" dirty="0"/>
              <a:t>when to shift or when to </a:t>
            </a:r>
            <a:r>
              <a:rPr lang="en-US" dirty="0" smtClean="0"/>
              <a:t>reduce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Decisions </a:t>
            </a:r>
            <a:r>
              <a:rPr lang="en-US" dirty="0"/>
              <a:t>are based on predefined </a:t>
            </a:r>
            <a:r>
              <a:rPr lang="en-US" dirty="0" smtClean="0"/>
              <a:t>rules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DFA </a:t>
            </a:r>
            <a:r>
              <a:rPr lang="en-US" dirty="0"/>
              <a:t>does not analyze structure </a:t>
            </a:r>
            <a:r>
              <a:rPr lang="en-US" dirty="0" smtClean="0"/>
              <a:t>directly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</a:t>
            </a:r>
            <a:r>
              <a:rPr lang="en-US" dirty="0"/>
              <a:t>guides reductions based on stack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599589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Division of Input String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input string is divided into two parts:</a:t>
            </a:r>
          </a:p>
          <a:p>
            <a:pPr marL="0" indent="0">
              <a:buNone/>
            </a:pPr>
            <a:r>
              <a:rPr lang="en-US" b="1" dirty="0"/>
              <a:t>1. Undigested Part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Contains remaining input tokens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Tokens </a:t>
            </a:r>
            <a:r>
              <a:rPr lang="en-US" b="1" dirty="0"/>
              <a:t>not yet processed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Stored in the </a:t>
            </a:r>
            <a:r>
              <a:rPr lang="en-US" b="1" dirty="0"/>
              <a:t>input </a:t>
            </a:r>
            <a:r>
              <a:rPr lang="en-US" b="1" dirty="0" smtClean="0"/>
              <a:t>buffer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Semi-Digested Part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Stored on the </a:t>
            </a:r>
            <a:r>
              <a:rPr lang="en-US" b="1" dirty="0"/>
              <a:t>stack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Contains symbols already processed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Used for matching production </a:t>
            </a:r>
            <a:r>
              <a:rPr lang="en-US" dirty="0" smtClean="0"/>
              <a:t>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5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Configuration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Entire input string is </a:t>
            </a:r>
            <a:r>
              <a:rPr lang="en-US" dirty="0" smtClean="0"/>
              <a:t>undigested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is </a:t>
            </a:r>
            <a:r>
              <a:rPr lang="en-US" dirty="0" smtClean="0"/>
              <a:t>empty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Parser </a:t>
            </a:r>
            <a:r>
              <a:rPr lang="en-US" dirty="0"/>
              <a:t>starts processing from left to </a:t>
            </a:r>
            <a:r>
              <a:rPr lang="en-US" dirty="0" smtClean="0"/>
              <a:t>right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Goal</a:t>
            </a:r>
            <a:r>
              <a:rPr lang="en-US" dirty="0"/>
              <a:t>: Reduce stack content to start symbol</a:t>
            </a:r>
          </a:p>
        </p:txBody>
      </p:sp>
    </p:spTree>
    <p:extLst>
      <p:ext uri="{BB962C8B-B14F-4D97-AF65-F5344CB8AC3E}">
        <p14:creationId xmlns:p14="http://schemas.microsoft.com/office/powerpoint/2010/main" val="77062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Shift Operation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Performed when no reduction is </a:t>
            </a:r>
            <a:r>
              <a:rPr lang="en-US" dirty="0" smtClean="0"/>
              <a:t>possible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Parser: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Takes the next </a:t>
            </a:r>
            <a:r>
              <a:rPr lang="en-US" dirty="0"/>
              <a:t>token from </a:t>
            </a:r>
            <a:r>
              <a:rPr lang="en-US" dirty="0" smtClean="0"/>
              <a:t>the input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Pushes </a:t>
            </a:r>
            <a:r>
              <a:rPr lang="en-US" dirty="0"/>
              <a:t>it onto the </a:t>
            </a:r>
            <a:r>
              <a:rPr lang="en-US" dirty="0" smtClean="0"/>
              <a:t>stack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Input </a:t>
            </a:r>
            <a:r>
              <a:rPr lang="en-US" dirty="0"/>
              <a:t>pointer moves </a:t>
            </a:r>
            <a:r>
              <a:rPr lang="en-US" dirty="0" smtClean="0"/>
              <a:t>forward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size </a:t>
            </a:r>
            <a:r>
              <a:rPr lang="en-US" dirty="0" smtClean="0"/>
              <a:t>increases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Continues </a:t>
            </a:r>
            <a:r>
              <a:rPr lang="en-US" dirty="0"/>
              <a:t>until a valid reduction is found</a:t>
            </a:r>
          </a:p>
        </p:txBody>
      </p:sp>
    </p:spTree>
    <p:extLst>
      <p:ext uri="{BB962C8B-B14F-4D97-AF65-F5344CB8AC3E}">
        <p14:creationId xmlns:p14="http://schemas.microsoft.com/office/powerpoint/2010/main" val="426259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Reduce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Performed when stack symbols match </a:t>
            </a:r>
            <a:r>
              <a:rPr lang="en-US" dirty="0" smtClean="0"/>
              <a:t>the RHS </a:t>
            </a:r>
            <a:r>
              <a:rPr lang="en-US" dirty="0"/>
              <a:t>of a </a:t>
            </a:r>
            <a:r>
              <a:rPr lang="en-US" dirty="0" smtClean="0"/>
              <a:t>production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Parser: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Removes </a:t>
            </a:r>
            <a:r>
              <a:rPr lang="en-US" dirty="0"/>
              <a:t>RHS symbols from </a:t>
            </a:r>
            <a:r>
              <a:rPr lang="en-US" dirty="0" smtClean="0"/>
              <a:t>stack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Replaces </a:t>
            </a:r>
            <a:r>
              <a:rPr lang="en-US" dirty="0"/>
              <a:t>them with LHS </a:t>
            </a:r>
            <a:r>
              <a:rPr lang="en-US" dirty="0" smtClean="0"/>
              <a:t>non-terminal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Example: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Production</a:t>
            </a:r>
            <a:r>
              <a:rPr lang="en-US" dirty="0"/>
              <a:t>: T → </a:t>
            </a:r>
            <a:r>
              <a:rPr lang="en-US" dirty="0" smtClean="0"/>
              <a:t>id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change: id → </a:t>
            </a:r>
            <a:r>
              <a:rPr lang="en-US" dirty="0" smtClean="0"/>
              <a:t>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This </a:t>
            </a:r>
            <a:r>
              <a:rPr lang="en-US" dirty="0"/>
              <a:t>process is called </a:t>
            </a:r>
            <a:r>
              <a:rPr lang="en-US" dirty="0" smtClean="0"/>
              <a:t>reduction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Reduction </a:t>
            </a:r>
            <a:r>
              <a:rPr lang="en-US" dirty="0"/>
              <a:t>is the reverse of derivation</a:t>
            </a:r>
          </a:p>
        </p:txBody>
      </p:sp>
    </p:spTree>
    <p:extLst>
      <p:ext uri="{BB962C8B-B14F-4D97-AF65-F5344CB8AC3E}">
        <p14:creationId xmlns:p14="http://schemas.microsoft.com/office/powerpoint/2010/main" val="2712140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Handle in Shift Reduce Parsing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 </a:t>
            </a:r>
            <a:r>
              <a:rPr lang="en-US" dirty="0"/>
              <a:t>handle is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A </a:t>
            </a:r>
            <a:r>
              <a:rPr lang="en-US" dirty="0"/>
              <a:t>substring that matches </a:t>
            </a:r>
            <a:r>
              <a:rPr lang="en-US" dirty="0" smtClean="0"/>
              <a:t>the RHS </a:t>
            </a:r>
            <a:r>
              <a:rPr lang="en-US" dirty="0"/>
              <a:t>of a </a:t>
            </a:r>
            <a:r>
              <a:rPr lang="en-US" dirty="0" smtClean="0"/>
              <a:t>production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Correct </a:t>
            </a:r>
            <a:r>
              <a:rPr lang="en-US" dirty="0"/>
              <a:t>handle identification is </a:t>
            </a:r>
            <a:r>
              <a:rPr lang="en-US" dirty="0" smtClean="0"/>
              <a:t>crucial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Example: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In </a:t>
            </a:r>
            <a:r>
              <a:rPr lang="en-US" dirty="0"/>
              <a:t>T → id, the handle is </a:t>
            </a:r>
            <a:r>
              <a:rPr lang="en-US" dirty="0" smtClean="0"/>
              <a:t>id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Shift-reduce </a:t>
            </a:r>
            <a:r>
              <a:rPr lang="en-US" dirty="0"/>
              <a:t>parser repeatedly finds and reduces handles</a:t>
            </a:r>
          </a:p>
        </p:txBody>
      </p:sp>
    </p:spTree>
    <p:extLst>
      <p:ext uri="{BB962C8B-B14F-4D97-AF65-F5344CB8AC3E}">
        <p14:creationId xmlns:p14="http://schemas.microsoft.com/office/powerpoint/2010/main" val="355250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Successful Parsing Condition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Shift and reduce actions continue until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Input </a:t>
            </a:r>
            <a:r>
              <a:rPr lang="en-US" dirty="0"/>
              <a:t>buffer becomes </a:t>
            </a:r>
            <a:r>
              <a:rPr lang="en-US" dirty="0" smtClean="0"/>
              <a:t>empty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contains only the start </a:t>
            </a:r>
            <a:r>
              <a:rPr lang="en-US" dirty="0" smtClean="0"/>
              <a:t>symbol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Indicates </a:t>
            </a:r>
            <a:r>
              <a:rPr lang="en-US" dirty="0"/>
              <a:t>successful parsing</a:t>
            </a:r>
          </a:p>
        </p:txBody>
      </p:sp>
    </p:spTree>
    <p:extLst>
      <p:ext uri="{BB962C8B-B14F-4D97-AF65-F5344CB8AC3E}">
        <p14:creationId xmlns:p14="http://schemas.microsoft.com/office/powerpoint/2010/main" val="3984799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Action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Error occurs when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Neither </a:t>
            </a:r>
            <a:r>
              <a:rPr lang="en-US" dirty="0"/>
              <a:t>shift nor reduce is </a:t>
            </a:r>
            <a:r>
              <a:rPr lang="en-US" dirty="0" smtClean="0"/>
              <a:t>possible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Reasons: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symbols don’t match any production </a:t>
            </a:r>
            <a:r>
              <a:rPr lang="en-US" dirty="0" smtClean="0"/>
              <a:t>rule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Shifting </a:t>
            </a:r>
            <a:r>
              <a:rPr lang="en-US" dirty="0"/>
              <a:t>leads to an invalid </a:t>
            </a:r>
            <a:r>
              <a:rPr lang="en-US" dirty="0" smtClean="0"/>
              <a:t>configuration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Example: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Stack </a:t>
            </a:r>
            <a:r>
              <a:rPr lang="en-US" dirty="0"/>
              <a:t>contains E </a:t>
            </a:r>
            <a:r>
              <a:rPr lang="en-US" dirty="0" smtClean="0"/>
              <a:t>+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Next </a:t>
            </a:r>
            <a:r>
              <a:rPr lang="en-US" dirty="0"/>
              <a:t>input token is 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No </a:t>
            </a:r>
            <a:r>
              <a:rPr lang="en-US" dirty="0"/>
              <a:t>valid shift or reduction </a:t>
            </a:r>
            <a:r>
              <a:rPr lang="en-US" dirty="0" smtClean="0"/>
              <a:t>possible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Parser reports a </a:t>
            </a:r>
            <a:r>
              <a:rPr lang="en-US" dirty="0"/>
              <a:t>syntax error</a:t>
            </a:r>
          </a:p>
        </p:txBody>
      </p:sp>
    </p:spTree>
    <p:extLst>
      <p:ext uri="{BB962C8B-B14F-4D97-AF65-F5344CB8AC3E}">
        <p14:creationId xmlns:p14="http://schemas.microsoft.com/office/powerpoint/2010/main" val="1145616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Shift Reduce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Grammar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/>
              <a:t>E → E + E</a:t>
            </a:r>
          </a:p>
          <a:p>
            <a:r>
              <a:rPr lang="en-IN" dirty="0"/>
              <a:t>E → E * E</a:t>
            </a:r>
          </a:p>
          <a:p>
            <a:r>
              <a:rPr lang="en-IN" dirty="0"/>
              <a:t>E → ( E )</a:t>
            </a:r>
          </a:p>
          <a:p>
            <a:r>
              <a:rPr lang="en-IN" dirty="0"/>
              <a:t>E → </a:t>
            </a:r>
            <a:r>
              <a:rPr lang="en-IN" dirty="0" smtClean="0"/>
              <a:t>id</a:t>
            </a:r>
            <a:endParaRPr lang="en-IN" dirty="0"/>
          </a:p>
          <a:p>
            <a:pPr marL="0" indent="0">
              <a:buNone/>
            </a:pPr>
            <a:r>
              <a:rPr lang="en-US" b="1" dirty="0" smtClean="0"/>
              <a:t>Input String:</a:t>
            </a:r>
          </a:p>
          <a:p>
            <a:pPr marL="0" indent="0">
              <a:buNone/>
            </a:pPr>
            <a:r>
              <a:rPr lang="en-US" b="1" dirty="0"/>
              <a:t>id * ( id + id )</a:t>
            </a:r>
          </a:p>
          <a:p>
            <a:pPr marL="0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98613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07650"/>
              </p:ext>
            </p:extLst>
          </p:nvPr>
        </p:nvGraphicFramePr>
        <p:xfrm>
          <a:off x="1279422" y="495283"/>
          <a:ext cx="9139196" cy="5659830"/>
        </p:xfrm>
        <a:graphic>
          <a:graphicData uri="http://schemas.openxmlformats.org/drawingml/2006/table">
            <a:tbl>
              <a:tblPr/>
              <a:tblGrid>
                <a:gridCol w="1806462">
                  <a:extLst>
                    <a:ext uri="{9D8B030D-6E8A-4147-A177-3AD203B41FA5}">
                      <a16:colId xmlns:a16="http://schemas.microsoft.com/office/drawing/2014/main" val="1073467159"/>
                    </a:ext>
                  </a:extLst>
                </a:gridCol>
                <a:gridCol w="2763136">
                  <a:extLst>
                    <a:ext uri="{9D8B030D-6E8A-4147-A177-3AD203B41FA5}">
                      <a16:colId xmlns:a16="http://schemas.microsoft.com/office/drawing/2014/main" val="763199711"/>
                    </a:ext>
                  </a:extLst>
                </a:gridCol>
                <a:gridCol w="2284799">
                  <a:extLst>
                    <a:ext uri="{9D8B030D-6E8A-4147-A177-3AD203B41FA5}">
                      <a16:colId xmlns:a16="http://schemas.microsoft.com/office/drawing/2014/main" val="1596913412"/>
                    </a:ext>
                  </a:extLst>
                </a:gridCol>
                <a:gridCol w="2284799">
                  <a:extLst>
                    <a:ext uri="{9D8B030D-6E8A-4147-A177-3AD203B41FA5}">
                      <a16:colId xmlns:a16="http://schemas.microsoft.com/office/drawing/2014/main" val="311229808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Step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/>
                        <a:t>Stack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/>
                        <a:t>Input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/>
                        <a:t>Action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19481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id * ( id 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28900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$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* ( id 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9905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* ( id 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7575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( id 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27552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id 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5207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79884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+ 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21424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 +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id 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9042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 +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id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08312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 +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E +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89552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) 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Shift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33387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( E 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( E )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10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 *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Reduce E → E *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43093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/>
                        <a:t>$ 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$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Accept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68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689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Shift Reduce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Given Grammar</a:t>
            </a:r>
          </a:p>
          <a:p>
            <a:r>
              <a:rPr lang="en-IN" dirty="0"/>
              <a:t>E → 2E2</a:t>
            </a:r>
          </a:p>
          <a:p>
            <a:r>
              <a:rPr lang="en-IN" dirty="0"/>
              <a:t>E → 3E3</a:t>
            </a:r>
          </a:p>
          <a:p>
            <a:r>
              <a:rPr lang="en-IN" dirty="0"/>
              <a:t>E → </a:t>
            </a:r>
            <a:r>
              <a:rPr lang="en-IN" dirty="0" smtClean="0"/>
              <a:t>4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Input </a:t>
            </a:r>
            <a:r>
              <a:rPr lang="en-IN" b="1" dirty="0" smtClean="0"/>
              <a:t>String</a:t>
            </a:r>
          </a:p>
          <a:p>
            <a:pPr marL="0" indent="0">
              <a:buNone/>
            </a:pPr>
            <a:r>
              <a:rPr lang="en-IN" dirty="0" smtClean="0"/>
              <a:t>32423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44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23682"/>
              </p:ext>
            </p:extLst>
          </p:nvPr>
        </p:nvGraphicFramePr>
        <p:xfrm>
          <a:off x="773546" y="1258094"/>
          <a:ext cx="10515600" cy="3962400"/>
        </p:xfrm>
        <a:graphic>
          <a:graphicData uri="http://schemas.openxmlformats.org/drawingml/2006/table">
            <a:tbl>
              <a:tblPr/>
              <a:tblGrid>
                <a:gridCol w="1415472">
                  <a:extLst>
                    <a:ext uri="{9D8B030D-6E8A-4147-A177-3AD203B41FA5}">
                      <a16:colId xmlns:a16="http://schemas.microsoft.com/office/drawing/2014/main" val="38124340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65299285"/>
                    </a:ext>
                  </a:extLst>
                </a:gridCol>
                <a:gridCol w="2410691">
                  <a:extLst>
                    <a:ext uri="{9D8B030D-6E8A-4147-A177-3AD203B41FA5}">
                      <a16:colId xmlns:a16="http://schemas.microsoft.com/office/drawing/2014/main" val="3765759247"/>
                    </a:ext>
                  </a:extLst>
                </a:gridCol>
                <a:gridCol w="5063837">
                  <a:extLst>
                    <a:ext uri="{9D8B030D-6E8A-4147-A177-3AD203B41FA5}">
                      <a16:colId xmlns:a16="http://schemas.microsoft.com/office/drawing/2014/main" val="928124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Stack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Input Buffer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Parsing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32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32423$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447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$3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2423$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05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423$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3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Reduce E →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01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$32E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$32E2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Reduce E → 2E2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32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3$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471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$3E3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Reduce E → 3E3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11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Accept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983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59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Shift Reduce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Given Grammar</a:t>
            </a:r>
          </a:p>
          <a:p>
            <a:r>
              <a:rPr lang="en-US" b="1" dirty="0"/>
              <a:t>S → ( L )</a:t>
            </a:r>
            <a:endParaRPr lang="en-US" dirty="0"/>
          </a:p>
          <a:p>
            <a:r>
              <a:rPr lang="en-US" b="1" dirty="0"/>
              <a:t>S → a</a:t>
            </a:r>
            <a:endParaRPr lang="en-US" dirty="0"/>
          </a:p>
          <a:p>
            <a:r>
              <a:rPr lang="en-US" b="1" dirty="0"/>
              <a:t>L → L , S</a:t>
            </a:r>
            <a:endParaRPr lang="en-US" dirty="0"/>
          </a:p>
          <a:p>
            <a:r>
              <a:rPr lang="en-US" b="1" dirty="0"/>
              <a:t>L → </a:t>
            </a:r>
            <a:r>
              <a:rPr lang="en-US" b="1" dirty="0" smtClean="0"/>
              <a:t>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Input </a:t>
            </a:r>
            <a:r>
              <a:rPr lang="en-US" b="1" dirty="0" smtClean="0"/>
              <a:t>String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a,(</a:t>
            </a:r>
            <a:r>
              <a:rPr lang="en-US" dirty="0" err="1"/>
              <a:t>a,a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27061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268613"/>
              </p:ext>
            </p:extLst>
          </p:nvPr>
        </p:nvGraphicFramePr>
        <p:xfrm>
          <a:off x="1468583" y="478647"/>
          <a:ext cx="9060872" cy="5964640"/>
        </p:xfrm>
        <a:graphic>
          <a:graphicData uri="http://schemas.openxmlformats.org/drawingml/2006/table">
            <a:tbl>
              <a:tblPr/>
              <a:tblGrid>
                <a:gridCol w="2265218">
                  <a:extLst>
                    <a:ext uri="{9D8B030D-6E8A-4147-A177-3AD203B41FA5}">
                      <a16:colId xmlns:a16="http://schemas.microsoft.com/office/drawing/2014/main" val="809666561"/>
                    </a:ext>
                  </a:extLst>
                </a:gridCol>
                <a:gridCol w="2265218">
                  <a:extLst>
                    <a:ext uri="{9D8B030D-6E8A-4147-A177-3AD203B41FA5}">
                      <a16:colId xmlns:a16="http://schemas.microsoft.com/office/drawing/2014/main" val="619844094"/>
                    </a:ext>
                  </a:extLst>
                </a:gridCol>
                <a:gridCol w="2265218">
                  <a:extLst>
                    <a:ext uri="{9D8B030D-6E8A-4147-A177-3AD203B41FA5}">
                      <a16:colId xmlns:a16="http://schemas.microsoft.com/office/drawing/2014/main" val="2756434206"/>
                    </a:ext>
                  </a:extLst>
                </a:gridCol>
                <a:gridCol w="2265218">
                  <a:extLst>
                    <a:ext uri="{9D8B030D-6E8A-4147-A177-3AD203B41FA5}">
                      <a16:colId xmlns:a16="http://schemas.microsoft.com/office/drawing/2014/main" val="54870401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r>
                        <a:rPr lang="en-IN" sz="1600" b="1"/>
                        <a:t>Step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Stack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Input Buffer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Parsing Action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81673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(a,(a,a))$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1979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a,(a,a))$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41646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S → 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02288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L → 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41732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65183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(a,a))$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06978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0131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S → 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50195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L → 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53605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 dirty="0"/>
                        <a:t>10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$(L,(L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,a))$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81842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11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$(L,(L,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56828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12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$(L,(L,a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S → a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61726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13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$(L,(L,S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L → L,S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26195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14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84038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$(L,(L)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S → (L)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5097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16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$(L,S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L → L,S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61909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17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)$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Shift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02799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18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$(L)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Reduce S → (L)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93579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en-IN" sz="1600"/>
                        <a:t>19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Accept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147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8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Shift/Reduce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Definition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Occurs </a:t>
            </a:r>
            <a:r>
              <a:rPr lang="en-US" sz="2400" dirty="0"/>
              <a:t>when parser cannot decide</a:t>
            </a:r>
            <a:r>
              <a:rPr lang="en-US" sz="2400" dirty="0" smtClean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 smtClean="0"/>
              <a:t>Shift </a:t>
            </a:r>
            <a:r>
              <a:rPr lang="en-US" sz="2000" dirty="0"/>
              <a:t>the next input </a:t>
            </a:r>
            <a:r>
              <a:rPr lang="en-US" sz="2000" dirty="0" smtClean="0"/>
              <a:t>symbol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 smtClean="0"/>
              <a:t>OR </a:t>
            </a:r>
            <a:r>
              <a:rPr lang="en-US" sz="2000" dirty="0"/>
              <a:t>reduce the </a:t>
            </a:r>
            <a:r>
              <a:rPr lang="en-US" sz="2000" dirty="0" smtClean="0"/>
              <a:t>stack</a:t>
            </a:r>
          </a:p>
          <a:p>
            <a:pPr marL="0" indent="0">
              <a:buNone/>
            </a:pPr>
            <a:r>
              <a:rPr lang="en-US" sz="2400" b="1" dirty="0" smtClean="0"/>
              <a:t>Reason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Grammar ambiguity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Left recursion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Improper </a:t>
            </a:r>
            <a:r>
              <a:rPr lang="en-US" sz="2400" dirty="0"/>
              <a:t>operator </a:t>
            </a:r>
            <a:r>
              <a:rPr lang="en-US" sz="2400" dirty="0" smtClean="0"/>
              <a:t>precedence</a:t>
            </a:r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dirty="0" smtClean="0"/>
              <a:t> </a:t>
            </a:r>
            <a:r>
              <a:rPr lang="en-US" sz="2400" b="1" dirty="0" smtClean="0"/>
              <a:t>Situation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If the stack </a:t>
            </a:r>
            <a:r>
              <a:rPr lang="en-US" sz="2400" dirty="0"/>
              <a:t>contains</a:t>
            </a:r>
            <a:r>
              <a:rPr lang="en-US" sz="2400" dirty="0" smtClean="0"/>
              <a:t>: </a:t>
            </a:r>
            <a:r>
              <a:rPr lang="en-US" sz="2400" b="1" dirty="0" smtClean="0"/>
              <a:t>A b</a:t>
            </a:r>
            <a:r>
              <a:rPr lang="en-US" sz="2400" dirty="0" smtClean="0"/>
              <a:t> and the input </a:t>
            </a:r>
            <a:r>
              <a:rPr lang="en-US" sz="2400" dirty="0"/>
              <a:t>symbol is </a:t>
            </a:r>
            <a:r>
              <a:rPr lang="en-US" sz="2400" dirty="0" smtClean="0"/>
              <a:t>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Should </a:t>
            </a:r>
            <a:r>
              <a:rPr lang="en-US" sz="2400" dirty="0"/>
              <a:t>parser shift </a:t>
            </a:r>
            <a:r>
              <a:rPr lang="en-US" sz="2400" dirty="0" smtClean="0"/>
              <a:t>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Or </a:t>
            </a:r>
            <a:r>
              <a:rPr lang="en-US" sz="2400" dirty="0"/>
              <a:t>reduce </a:t>
            </a:r>
            <a:r>
              <a:rPr lang="en-US" sz="2400" dirty="0" err="1"/>
              <a:t>Abc</a:t>
            </a:r>
            <a:r>
              <a:rPr lang="en-US" sz="2400" dirty="0"/>
              <a:t> → A</a:t>
            </a:r>
            <a:r>
              <a:rPr lang="en-US" sz="2400" dirty="0" smtClean="0"/>
              <a:t>?</a:t>
            </a:r>
          </a:p>
          <a:p>
            <a:pPr marL="0" indent="0">
              <a:buNone/>
            </a:pPr>
            <a:r>
              <a:rPr lang="en-US" sz="2400" dirty="0" smtClean="0"/>
              <a:t>This </a:t>
            </a:r>
            <a:r>
              <a:rPr lang="en-US" sz="2400" dirty="0"/>
              <a:t>causes Shift/Reduce Conflict</a:t>
            </a:r>
          </a:p>
        </p:txBody>
      </p:sp>
    </p:spTree>
    <p:extLst>
      <p:ext uri="{BB962C8B-B14F-4D97-AF65-F5344CB8AC3E}">
        <p14:creationId xmlns:p14="http://schemas.microsoft.com/office/powerpoint/2010/main" val="158885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Reduce/Reduce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Definition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Occurs when </a:t>
            </a:r>
            <a:r>
              <a:rPr lang="en-US" sz="2400" dirty="0" smtClean="0"/>
              <a:t>the parser </a:t>
            </a:r>
            <a:r>
              <a:rPr lang="en-US" sz="2400" dirty="0"/>
              <a:t>has </a:t>
            </a:r>
            <a:r>
              <a:rPr lang="en-US" sz="2400" b="1" dirty="0"/>
              <a:t>more than one possible </a:t>
            </a:r>
            <a:r>
              <a:rPr lang="en-US" sz="2400" b="1" dirty="0" smtClean="0"/>
              <a:t>reduction</a:t>
            </a:r>
          </a:p>
          <a:p>
            <a:pPr marL="0" indent="0">
              <a:buNone/>
            </a:pPr>
            <a:r>
              <a:rPr lang="en-US" sz="2400" b="1" dirty="0" smtClean="0"/>
              <a:t>Reason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Multiple productions match the same stack </a:t>
            </a:r>
            <a:r>
              <a:rPr lang="en-US" sz="2400" dirty="0" smtClean="0"/>
              <a:t>content</a:t>
            </a:r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dirty="0" smtClean="0"/>
              <a:t> </a:t>
            </a:r>
            <a:r>
              <a:rPr lang="en-US" sz="2400" b="1" dirty="0" smtClean="0"/>
              <a:t>Situation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If stack </a:t>
            </a:r>
            <a:r>
              <a:rPr lang="en-US" sz="2400" dirty="0" err="1" smtClean="0"/>
              <a:t>contains:abc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and </a:t>
            </a:r>
            <a:r>
              <a:rPr lang="en-US" sz="2400" dirty="0"/>
              <a:t>grammar allows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A </a:t>
            </a:r>
            <a:r>
              <a:rPr lang="en-US" sz="2400" dirty="0"/>
              <a:t>→ </a:t>
            </a:r>
            <a:r>
              <a:rPr lang="en-US" sz="2400" dirty="0" err="1" smtClean="0"/>
              <a:t>abc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B </a:t>
            </a:r>
            <a:r>
              <a:rPr lang="en-US" sz="2400" dirty="0"/>
              <a:t>→ </a:t>
            </a:r>
            <a:r>
              <a:rPr lang="en-US" sz="2400" dirty="0" err="1" smtClean="0"/>
              <a:t>abc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This </a:t>
            </a:r>
            <a:r>
              <a:rPr lang="en-US" sz="2400" dirty="0"/>
              <a:t>causes Shift/Reduce </a:t>
            </a:r>
            <a:r>
              <a:rPr lang="en-US" sz="2400" dirty="0" smtClean="0"/>
              <a:t>Conflict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Parser cannot decide </a:t>
            </a:r>
            <a:r>
              <a:rPr lang="en-US" sz="2400" b="1" dirty="0"/>
              <a:t>which reduction to apply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This </a:t>
            </a:r>
            <a:r>
              <a:rPr lang="en-US" sz="2400" dirty="0"/>
              <a:t>causes </a:t>
            </a:r>
            <a:r>
              <a:rPr lang="en-US" sz="2400" b="1" dirty="0"/>
              <a:t>Reduce/Reduce Conflict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41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Conflicts Occur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Ambiguous </a:t>
            </a:r>
            <a:r>
              <a:rPr lang="en-US" sz="2400" dirty="0" smtClean="0"/>
              <a:t>grammar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Left </a:t>
            </a:r>
            <a:r>
              <a:rPr lang="en-US" sz="2400" dirty="0"/>
              <a:t>recursive </a:t>
            </a:r>
            <a:r>
              <a:rPr lang="en-US" sz="2400" dirty="0" smtClean="0"/>
              <a:t>productions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Overlapping </a:t>
            </a:r>
            <a:r>
              <a:rPr lang="en-US" sz="2400" dirty="0"/>
              <a:t>RHS </a:t>
            </a:r>
            <a:r>
              <a:rPr lang="en-US" sz="2400" dirty="0" smtClean="0"/>
              <a:t>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Poor </a:t>
            </a:r>
            <a:r>
              <a:rPr lang="en-US" sz="2400" dirty="0"/>
              <a:t>grammar design</a:t>
            </a:r>
          </a:p>
        </p:txBody>
      </p:sp>
    </p:spTree>
    <p:extLst>
      <p:ext uri="{BB962C8B-B14F-4D97-AF65-F5344CB8AC3E}">
        <p14:creationId xmlns:p14="http://schemas.microsoft.com/office/powerpoint/2010/main" val="43015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Conflicts Are Resolved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Grammar rewriting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Removing ambiguity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Using </a:t>
            </a:r>
            <a:r>
              <a:rPr lang="en-IN" sz="2400" b="1" dirty="0"/>
              <a:t>operator precedence &amp; associativity</a:t>
            </a:r>
            <a:endParaRPr lang="en-IN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Using </a:t>
            </a:r>
            <a:r>
              <a:rPr lang="en-IN" sz="2400" b="1" dirty="0"/>
              <a:t>LR, SLR, LALR, CLR parsers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1693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Shift Reduce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Grammar </a:t>
            </a:r>
            <a:r>
              <a:rPr lang="en-US" b="1" dirty="0" smtClean="0"/>
              <a:t>Rules</a:t>
            </a:r>
          </a:p>
          <a:p>
            <a:r>
              <a:rPr lang="en-US" b="1" dirty="0" smtClean="0"/>
              <a:t>S </a:t>
            </a:r>
            <a:r>
              <a:rPr lang="en-US" b="1" dirty="0"/>
              <a:t>→ a </a:t>
            </a:r>
            <a:r>
              <a:rPr lang="en-US" b="1" dirty="0" err="1"/>
              <a:t>A</a:t>
            </a:r>
            <a:r>
              <a:rPr lang="en-US" b="1" dirty="0"/>
              <a:t> B </a:t>
            </a:r>
            <a:r>
              <a:rPr lang="en-US" b="1" dirty="0" smtClean="0"/>
              <a:t>e</a:t>
            </a:r>
          </a:p>
          <a:p>
            <a:r>
              <a:rPr lang="en-US" b="1" dirty="0" smtClean="0"/>
              <a:t>A </a:t>
            </a:r>
            <a:r>
              <a:rPr lang="en-US" b="1" dirty="0"/>
              <a:t>→ A b c | </a:t>
            </a:r>
            <a:r>
              <a:rPr lang="en-US" b="1" dirty="0" smtClean="0"/>
              <a:t>b</a:t>
            </a:r>
          </a:p>
          <a:p>
            <a:r>
              <a:rPr lang="en-US" b="1" dirty="0" smtClean="0"/>
              <a:t>B </a:t>
            </a:r>
            <a:r>
              <a:rPr lang="en-US" b="1" dirty="0"/>
              <a:t>→ </a:t>
            </a:r>
            <a:r>
              <a:rPr lang="en-US" b="1" dirty="0" smtClean="0"/>
              <a:t>d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Input </a:t>
            </a:r>
            <a:r>
              <a:rPr lang="en-US" b="1" dirty="0" smtClean="0"/>
              <a:t>String</a:t>
            </a:r>
          </a:p>
          <a:p>
            <a:r>
              <a:rPr lang="en-US" dirty="0" err="1" smtClean="0"/>
              <a:t>abbcde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05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19514"/>
              </p:ext>
            </p:extLst>
          </p:nvPr>
        </p:nvGraphicFramePr>
        <p:xfrm>
          <a:off x="837278" y="1294225"/>
          <a:ext cx="10425080" cy="2738472"/>
        </p:xfrm>
        <a:graphic>
          <a:graphicData uri="http://schemas.openxmlformats.org/drawingml/2006/table">
            <a:tbl>
              <a:tblPr/>
              <a:tblGrid>
                <a:gridCol w="1527231">
                  <a:extLst>
                    <a:ext uri="{9D8B030D-6E8A-4147-A177-3AD203B41FA5}">
                      <a16:colId xmlns:a16="http://schemas.microsoft.com/office/drawing/2014/main" val="194075409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4022135461"/>
                    </a:ext>
                  </a:extLst>
                </a:gridCol>
                <a:gridCol w="2770909">
                  <a:extLst>
                    <a:ext uri="{9D8B030D-6E8A-4147-A177-3AD203B41FA5}">
                      <a16:colId xmlns:a16="http://schemas.microsoft.com/office/drawing/2014/main" val="915896780"/>
                    </a:ext>
                  </a:extLst>
                </a:gridCol>
                <a:gridCol w="3633122">
                  <a:extLst>
                    <a:ext uri="{9D8B030D-6E8A-4147-A177-3AD203B41FA5}">
                      <a16:colId xmlns:a16="http://schemas.microsoft.com/office/drawing/2014/main" val="172707506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n-IN" sz="2400" b="1"/>
                        <a:t>Step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Stack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Input Buffer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Parsing Action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18757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58685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7760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Reduce A → 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16832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896374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$</a:t>
                      </a:r>
                      <a:r>
                        <a:rPr lang="en-IN" sz="2400" dirty="0" err="1"/>
                        <a:t>aAb</a:t>
                      </a:r>
                      <a:endParaRPr lang="en-IN" sz="24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Shift</a:t>
                      </a:r>
                      <a:r>
                        <a:rPr lang="en-IN" sz="2400" baseline="0" dirty="0" smtClean="0"/>
                        <a:t> – </a:t>
                      </a:r>
                      <a:r>
                        <a:rPr lang="en-IN" sz="2400" dirty="0" smtClean="0"/>
                        <a:t>Reduce Conflict</a:t>
                      </a:r>
                      <a:endParaRPr lang="en-IN" sz="24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26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49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Shift Reduce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516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Grammar </a:t>
            </a:r>
            <a:r>
              <a:rPr lang="en-US" b="1" dirty="0" smtClean="0"/>
              <a:t>Rules</a:t>
            </a:r>
          </a:p>
          <a:p>
            <a:r>
              <a:rPr lang="en-US" b="1" dirty="0" smtClean="0"/>
              <a:t>S </a:t>
            </a:r>
            <a:r>
              <a:rPr lang="en-US" b="1" dirty="0"/>
              <a:t>→ a </a:t>
            </a:r>
            <a:r>
              <a:rPr lang="en-US" b="1" dirty="0" err="1"/>
              <a:t>A</a:t>
            </a:r>
            <a:r>
              <a:rPr lang="en-US" b="1" dirty="0"/>
              <a:t> B </a:t>
            </a:r>
            <a:r>
              <a:rPr lang="en-US" b="1" dirty="0" smtClean="0"/>
              <a:t>e | b</a:t>
            </a:r>
          </a:p>
          <a:p>
            <a:r>
              <a:rPr lang="en-US" b="1" dirty="0" smtClean="0"/>
              <a:t>A </a:t>
            </a:r>
            <a:r>
              <a:rPr lang="en-US" b="1" dirty="0"/>
              <a:t>→ A b c | </a:t>
            </a:r>
            <a:r>
              <a:rPr lang="en-US" b="1" dirty="0" smtClean="0"/>
              <a:t>b</a:t>
            </a:r>
          </a:p>
          <a:p>
            <a:r>
              <a:rPr lang="en-US" b="1" dirty="0" smtClean="0"/>
              <a:t>B </a:t>
            </a:r>
            <a:r>
              <a:rPr lang="en-US" b="1" dirty="0"/>
              <a:t>→ </a:t>
            </a:r>
            <a:r>
              <a:rPr lang="en-US" b="1" dirty="0" smtClean="0"/>
              <a:t>d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Input </a:t>
            </a:r>
            <a:r>
              <a:rPr lang="en-US" b="1" dirty="0" smtClean="0"/>
              <a:t>String</a:t>
            </a:r>
          </a:p>
          <a:p>
            <a:r>
              <a:rPr lang="en-US" dirty="0" err="1" smtClean="0"/>
              <a:t>abbcde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92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93910"/>
              </p:ext>
            </p:extLst>
          </p:nvPr>
        </p:nvGraphicFramePr>
        <p:xfrm>
          <a:off x="837278" y="1294225"/>
          <a:ext cx="10425080" cy="1825648"/>
        </p:xfrm>
        <a:graphic>
          <a:graphicData uri="http://schemas.openxmlformats.org/drawingml/2006/table">
            <a:tbl>
              <a:tblPr/>
              <a:tblGrid>
                <a:gridCol w="1527231">
                  <a:extLst>
                    <a:ext uri="{9D8B030D-6E8A-4147-A177-3AD203B41FA5}">
                      <a16:colId xmlns:a16="http://schemas.microsoft.com/office/drawing/2014/main" val="194075409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4022135461"/>
                    </a:ext>
                  </a:extLst>
                </a:gridCol>
                <a:gridCol w="2770909">
                  <a:extLst>
                    <a:ext uri="{9D8B030D-6E8A-4147-A177-3AD203B41FA5}">
                      <a16:colId xmlns:a16="http://schemas.microsoft.com/office/drawing/2014/main" val="915896780"/>
                    </a:ext>
                  </a:extLst>
                </a:gridCol>
                <a:gridCol w="3633122">
                  <a:extLst>
                    <a:ext uri="{9D8B030D-6E8A-4147-A177-3AD203B41FA5}">
                      <a16:colId xmlns:a16="http://schemas.microsoft.com/office/drawing/2014/main" val="172707506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n-IN" sz="2400" b="1"/>
                        <a:t>Step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Stack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Input Buffer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Parsing Action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18757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58685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7760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Reduce</a:t>
                      </a:r>
                      <a:r>
                        <a:rPr lang="en-IN" sz="2400" baseline="0" dirty="0" smtClean="0"/>
                        <a:t> – </a:t>
                      </a:r>
                      <a:r>
                        <a:rPr lang="en-IN" sz="2400" dirty="0" smtClean="0"/>
                        <a:t>Reduce Conflict</a:t>
                      </a:r>
                      <a:endParaRPr lang="en-IN" sz="24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16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70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71451"/>
              </p:ext>
            </p:extLst>
          </p:nvPr>
        </p:nvGraphicFramePr>
        <p:xfrm>
          <a:off x="772624" y="813935"/>
          <a:ext cx="10425080" cy="5476944"/>
        </p:xfrm>
        <a:graphic>
          <a:graphicData uri="http://schemas.openxmlformats.org/drawingml/2006/table">
            <a:tbl>
              <a:tblPr/>
              <a:tblGrid>
                <a:gridCol w="2606270">
                  <a:extLst>
                    <a:ext uri="{9D8B030D-6E8A-4147-A177-3AD203B41FA5}">
                      <a16:colId xmlns:a16="http://schemas.microsoft.com/office/drawing/2014/main" val="338150311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662567972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4105611042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2139878249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n-IN" sz="2400" b="1"/>
                        <a:t>Step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Stack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Input Buffer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Parsing Action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7878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5878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46195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Reduce A → 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5638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99569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604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$aAbc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Reduce A → Abc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89557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28169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Reduce B → 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03126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$aAB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Shift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0349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$aABe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Reduce S → aABe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0651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IN" sz="2400"/>
                        <a:t>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$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Accept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1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1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1337</Words>
  <Application>Microsoft Office PowerPoint</Application>
  <PresentationFormat>Widescreen</PresentationFormat>
  <Paragraphs>444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Shift-Reduce Parsing</vt:lpstr>
      <vt:lpstr>What Is Shift-Reduce Parsing?</vt:lpstr>
      <vt:lpstr>Bottom-up Parsers</vt:lpstr>
      <vt:lpstr>Key Components</vt:lpstr>
      <vt:lpstr>How It Works?</vt:lpstr>
      <vt:lpstr>Main Parser Actions</vt:lpstr>
      <vt:lpstr>Working of Shift Reduce Parser</vt:lpstr>
      <vt:lpstr>Role of DFA in Shift Reduce Parsing</vt:lpstr>
      <vt:lpstr>Division of Input String</vt:lpstr>
      <vt:lpstr>Initial Configuration</vt:lpstr>
      <vt:lpstr>Shift Operation</vt:lpstr>
      <vt:lpstr>Reduce Operation</vt:lpstr>
      <vt:lpstr>Handle in Shift Reduce Parsing</vt:lpstr>
      <vt:lpstr>Successful Parsing Condition</vt:lpstr>
      <vt:lpstr>Error Action</vt:lpstr>
      <vt:lpstr>Example: Shift Reduce Parsing</vt:lpstr>
      <vt:lpstr>PowerPoint Presentation</vt:lpstr>
      <vt:lpstr>Example: Shift Reduce Parsing</vt:lpstr>
      <vt:lpstr>PowerPoint Presentation</vt:lpstr>
      <vt:lpstr>Example: Shift Reduce Parsing</vt:lpstr>
      <vt:lpstr>PowerPoint Presentation</vt:lpstr>
      <vt:lpstr>Shift/Reduce Conflict</vt:lpstr>
      <vt:lpstr>Reduce/Reduce Conflict</vt:lpstr>
      <vt:lpstr>Why Conflicts Occur</vt:lpstr>
      <vt:lpstr>How Conflicts Are Resolved</vt:lpstr>
      <vt:lpstr>Example: Shift Reduce Parsing</vt:lpstr>
      <vt:lpstr>PowerPoint Presentation</vt:lpstr>
      <vt:lpstr>Example: Shift Reduce Parsing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524</cp:revision>
  <dcterms:created xsi:type="dcterms:W3CDTF">2025-12-23T09:19:07Z</dcterms:created>
  <dcterms:modified xsi:type="dcterms:W3CDTF">2026-02-04T09:13:11Z</dcterms:modified>
</cp:coreProperties>
</file>